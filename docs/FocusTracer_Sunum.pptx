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261" r:id="rId8"/>
    <p:sldId id="262" r:id="rId9"/>
    <p:sldId id="265" r:id="rId10"/>
    <p:sldId id="266" r:id="rId11"/>
    <p:sldId id="263" r:id="rId12"/>
    <p:sldId id="264" r:id="rId13"/>
    <p:sldId id="267" r:id="rId14"/>
    <p:sldId id="268" r:id="rId15"/>
    <p:sldId id="270" r:id="rId16"/>
    <p:sldId id="303" r:id="rId17"/>
    <p:sldId id="304" r:id="rId18"/>
    <p:sldId id="272" r:id="rId19"/>
    <p:sldId id="273" r:id="rId20"/>
    <p:sldId id="274" r:id="rId21"/>
    <p:sldId id="297" r:id="rId22"/>
    <p:sldId id="298" r:id="rId23"/>
    <p:sldId id="299" r:id="rId24"/>
    <p:sldId id="300" r:id="rId25"/>
    <p:sldId id="275" r:id="rId26"/>
    <p:sldId id="276" r:id="rId27"/>
    <p:sldId id="278" r:id="rId28"/>
    <p:sldId id="305" r:id="rId29"/>
    <p:sldId id="279" r:id="rId30"/>
    <p:sldId id="306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F50"/>
    <a:srgbClr val="8F8E7F"/>
    <a:srgbClr val="E6FBF5"/>
    <a:srgbClr val="E7FA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833" y="55163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AI4SWENG · </a:t>
            </a:r>
            <a:r>
              <a:rPr lang="tr-TR" altLang="en-US" sz="1200" b="1" kern="0" spc="300" dirty="0">
                <a:solidFill>
                  <a:srgbClr val="2DD4B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YAZILIM</a:t>
            </a:r>
            <a:r>
              <a:rPr lang="en-US" sz="1200" b="1" kern="0" spc="300" dirty="0">
                <a:solidFill>
                  <a:srgbClr val="2DD4B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 SUNUMU</a:t>
            </a:r>
            <a:endParaRPr lang="en-US" sz="1200" b="1" kern="0" spc="300" dirty="0">
              <a:solidFill>
                <a:srgbClr val="2DD4B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7240" y="972185"/>
            <a:ext cx="5017135" cy="1051560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 marL="0" indent="0" algn="dist">
              <a:buNone/>
            </a:pPr>
            <a:r>
              <a:rPr lang="en-US" sz="6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FocusTracer</a:t>
            </a:r>
            <a:endParaRPr lang="en-US" sz="6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1915160"/>
            <a:ext cx="5394960" cy="777240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 marL="0" indent="0" algn="l">
              <a:buNone/>
            </a:pPr>
            <a:r>
              <a:rPr lang="tr-TR" altLang="en-US" sz="2000" dirty="0">
                <a:solidFill>
                  <a:schemeClr val="tx1"/>
                </a:solidFill>
                <a:effectLst/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CLI Tabanlı Trace programı</a:t>
            </a:r>
            <a:endParaRPr lang="tr-TR" altLang="en-US" sz="2000" dirty="0">
              <a:solidFill>
                <a:schemeClr val="tx1"/>
              </a:solidFill>
              <a:effectLst/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3194685"/>
            <a:ext cx="4972050" cy="1240155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 marL="0" indent="0" algn="just">
              <a:lnSpc>
                <a:spcPts val="1900"/>
              </a:lnSpc>
              <a:buNone/>
            </a:pPr>
            <a:r>
              <a:rPr lang="en-US" sz="1300" dirty="0">
                <a:solidFill>
                  <a:schemeClr val="tx1"/>
                </a:solidFill>
                <a:effectLst/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Python programlarını</a:t>
            </a:r>
            <a:r>
              <a:rPr lang="tr-TR" altLang="en-US" sz="1300" dirty="0">
                <a:solidFill>
                  <a:schemeClr val="tx1"/>
                </a:solidFill>
                <a:effectLst/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n runtime’da trace loglarını almak ve bunları önceden belirlenmiş XML şema yapısında kaydetmek için oluşturulmuş CLI tabanlı program. T</a:t>
            </a:r>
            <a:r>
              <a:rPr lang="en-US" sz="1300" dirty="0">
                <a:solidFill>
                  <a:schemeClr val="tx1"/>
                </a:solidFill>
                <a:effectLst/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ek satır kod değişikliği </a:t>
            </a:r>
            <a:r>
              <a:rPr lang="tr-TR" altLang="en-US" sz="1300" dirty="0">
                <a:solidFill>
                  <a:schemeClr val="tx1"/>
                </a:solidFill>
                <a:effectLst/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yapmadan komut satırından farklı opsiyonlar ve parametreler ile çalıştırılabilir. </a:t>
            </a:r>
            <a:endParaRPr lang="tr-TR" altLang="en-US" sz="1300" dirty="0">
              <a:solidFill>
                <a:schemeClr val="tx1"/>
              </a:solidFill>
              <a:effectLst/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43585" y="2395220"/>
            <a:ext cx="705917" cy="310896"/>
          </a:xfrm>
          <a:prstGeom prst="roundRect">
            <a:avLst>
              <a:gd name="adj" fmla="val 47059"/>
            </a:avLst>
          </a:prstGeom>
          <a:solidFill>
            <a:srgbClr val="13203A"/>
          </a:solidFill>
        </p:spPr>
      </p:sp>
      <p:sp>
        <p:nvSpPr>
          <p:cNvPr id="7" name="Text 5"/>
          <p:cNvSpPr/>
          <p:nvPr/>
        </p:nvSpPr>
        <p:spPr>
          <a:xfrm>
            <a:off x="743585" y="2408936"/>
            <a:ext cx="705917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D4B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v1.0.7</a:t>
            </a:r>
            <a:endParaRPr lang="en-US" sz="1050" b="1" dirty="0">
              <a:solidFill>
                <a:srgbClr val="2DD4B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614094" y="2395220"/>
            <a:ext cx="1305763" cy="310896"/>
          </a:xfrm>
          <a:prstGeom prst="roundRect">
            <a:avLst>
              <a:gd name="adj" fmla="val 47059"/>
            </a:avLst>
          </a:prstGeom>
          <a:solidFill>
            <a:srgbClr val="13203A"/>
          </a:solidFill>
        </p:spPr>
      </p:sp>
      <p:sp>
        <p:nvSpPr>
          <p:cNvPr id="9" name="Text 7"/>
          <p:cNvSpPr/>
          <p:nvPr/>
        </p:nvSpPr>
        <p:spPr>
          <a:xfrm>
            <a:off x="1614094" y="2408936"/>
            <a:ext cx="1305763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D4B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Python &gt;= 3.10</a:t>
            </a:r>
            <a:endParaRPr lang="en-US" sz="1050" b="1" dirty="0">
              <a:solidFill>
                <a:srgbClr val="2DD4B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084449" y="2395220"/>
            <a:ext cx="930859" cy="310896"/>
          </a:xfrm>
          <a:prstGeom prst="roundRect">
            <a:avLst>
              <a:gd name="adj" fmla="val 47059"/>
            </a:avLst>
          </a:prstGeom>
          <a:solidFill>
            <a:srgbClr val="13203A"/>
          </a:solidFill>
        </p:spPr>
      </p:sp>
      <p:sp>
        <p:nvSpPr>
          <p:cNvPr id="11" name="Text 9"/>
          <p:cNvSpPr/>
          <p:nvPr/>
        </p:nvSpPr>
        <p:spPr>
          <a:xfrm>
            <a:off x="3084449" y="2408936"/>
            <a:ext cx="930859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D4B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Şema v2.2</a:t>
            </a:r>
            <a:endParaRPr lang="en-US" sz="1050" b="1" dirty="0">
              <a:solidFill>
                <a:srgbClr val="2DD4B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79900" y="2395220"/>
            <a:ext cx="480974" cy="310896"/>
          </a:xfrm>
          <a:prstGeom prst="roundRect">
            <a:avLst>
              <a:gd name="adj" fmla="val 47059"/>
            </a:avLst>
          </a:prstGeom>
          <a:solidFill>
            <a:srgbClr val="13203A"/>
          </a:solidFill>
        </p:spPr>
      </p:sp>
      <p:sp>
        <p:nvSpPr>
          <p:cNvPr id="13" name="Text 11"/>
          <p:cNvSpPr/>
          <p:nvPr/>
        </p:nvSpPr>
        <p:spPr>
          <a:xfrm>
            <a:off x="4179900" y="2408936"/>
            <a:ext cx="480974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D4B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MIT</a:t>
            </a:r>
            <a:endParaRPr lang="en-US" sz="1050" b="1" dirty="0">
              <a:solidFill>
                <a:srgbClr val="2DD4B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5196205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chemeClr val="accent1">
                    <a:lumMod val="60000"/>
                    <a:lumOff val="40000"/>
                  </a:schemeClr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Yasin Ünal  ·  github.com/BitnetTR/focustracer</a:t>
            </a:r>
            <a:endParaRPr lang="en-US" sz="1250" dirty="0">
              <a:solidFill>
                <a:schemeClr val="accent1">
                  <a:lumMod val="60000"/>
                  <a:lumOff val="40000"/>
                </a:schemeClr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537960" y="1051560"/>
            <a:ext cx="5029200" cy="4754880"/>
          </a:xfrm>
          <a:prstGeom prst="roundRect">
            <a:avLst>
              <a:gd name="adj" fmla="val 1731"/>
            </a:avLst>
          </a:prstGeom>
          <a:solidFill>
            <a:srgbClr val="333F50"/>
          </a:solidFill>
          <a:effectLst>
            <a:outerShdw blurRad="101600" dist="25400" dir="5400000" algn="bl" rotWithShape="0">
              <a:srgbClr val="0B122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02552" y="1188720"/>
            <a:ext cx="82296" cy="82296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17" name="Shape 15"/>
          <p:cNvSpPr/>
          <p:nvPr/>
        </p:nvSpPr>
        <p:spPr>
          <a:xfrm>
            <a:off x="6839712" y="1188720"/>
            <a:ext cx="82296" cy="82296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18" name="Shape 16"/>
          <p:cNvSpPr/>
          <p:nvPr/>
        </p:nvSpPr>
        <p:spPr>
          <a:xfrm>
            <a:off x="6976872" y="1188720"/>
            <a:ext cx="82296" cy="82296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19" name="Text 17"/>
          <p:cNvSpPr/>
          <p:nvPr/>
        </p:nvSpPr>
        <p:spPr>
          <a:xfrm>
            <a:off x="7223760" y="1124712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focustracer — terminal</a:t>
            </a:r>
            <a:endParaRPr lang="en-US" sz="1000" dirty="0">
              <a:solidFill>
                <a:srgbClr val="8CA0B8"/>
              </a:solidFill>
              <a:latin typeface="Palatino Linotype" panose="02040502050505030304" charset="0"/>
              <a:ea typeface="Courier New" panose="02070309020205020404" pitchFamily="34" charset="-122"/>
              <a:cs typeface="Palatino Linotype" panose="0204050205050503030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739128" y="1453896"/>
            <a:ext cx="4626864" cy="42428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2DD4BF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$ </a:t>
            </a:r>
            <a:r>
              <a:rPr lang="en-US" sz="1050" b="1" dirty="0">
                <a:solidFill>
                  <a:srgbClr val="FFFFFF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focustracer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run </a:t>
            </a:r>
            <a:r>
              <a:rPr lang="en-US" sz="1050" dirty="0">
                <a:solidFill>
                  <a:srgbClr val="7DD3FC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--target-script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app.py </a:t>
            </a:r>
            <a:r>
              <a:rPr lang="en-US" sz="1050" dirty="0">
                <a:solidFill>
                  <a:srgbClr val="7DD3FC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--function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worker</a:t>
            </a:r>
            <a:endParaRPr lang="en-US" sz="10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2DD4BF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[*]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Patched importable targets: []</a:t>
            </a:r>
            <a:endParaRPr lang="en-US" sz="10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════════════ TRACE SUMMARY ════════════</a:t>
            </a:r>
            <a:endParaRPr lang="en-US" sz="10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Total Events: 26 · Duration: 0.0056 s</a:t>
            </a:r>
            <a:endParaRPr lang="en-US" sz="10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2DD4BF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[*]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XML validation: ok</a:t>
            </a:r>
            <a:endParaRPr lang="en-US" sz="10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</a:t>
            </a:r>
            <a:endParaRPr lang="en-US" sz="10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2DD4BF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$ </a:t>
            </a:r>
            <a:r>
              <a:rPr lang="en-US" sz="1050" b="1" dirty="0">
                <a:solidFill>
                  <a:srgbClr val="FFFFFF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focustracer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load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output/app_trace.xml</a:t>
            </a:r>
            <a:endParaRPr lang="en-US" sz="10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└─ Thread CLI-Worker</a:t>
            </a:r>
            <a:endParaRPr lang="en-US" sz="10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  └─ worker(data=[1, 2, 3])       0.7 ms</a:t>
            </a:r>
            <a:endParaRPr lang="en-US" sz="10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     └─ process(values=[1, 2, 3])</a:t>
            </a:r>
            <a:endParaRPr lang="en-US" sz="10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        ├─ loop for value in values:  ×3</a:t>
            </a:r>
            <a:endParaRPr lang="en-US" sz="10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        │    value: 1 → 3  (3 değişim)</a:t>
            </a:r>
            <a:endParaRPr lang="en-US" sz="10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        └─ return [2, 4, 6]</a:t>
            </a:r>
            <a:endParaRPr lang="en-US" sz="105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ounded Rectangle 116"/>
          <p:cNvSpPr/>
          <p:nvPr/>
        </p:nvSpPr>
        <p:spPr>
          <a:xfrm>
            <a:off x="5760720" y="4374515"/>
            <a:ext cx="6280150" cy="2099310"/>
          </a:xfrm>
          <a:prstGeom prst="roundRect">
            <a:avLst>
              <a:gd name="adj" fmla="val 17120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566928" y="310896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MOTIVASYON</a:t>
            </a:r>
            <a:endParaRPr lang="en-US" sz="1200" b="1" kern="0" spc="300" dirty="0">
              <a:solidFill>
                <a:srgbClr val="0D948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r-TR" altLang="en-US" sz="29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Geleneksel Yöntemler ile Karşılaştırma</a:t>
            </a:r>
            <a:endParaRPr lang="tr-TR" altLang="en-US" sz="29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1482725"/>
            <a:ext cx="5006975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effectLst>
            <a:outerShdw blurRad="1290320000" dist="322580000" dir="-1" algn="bl" rotWithShape="0">
              <a:srgbClr val="0B1220">
                <a:alpha val="16000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4632" y="1866646"/>
            <a:ext cx="566928" cy="566928"/>
          </a:xfrm>
          <a:prstGeom prst="ellipse">
            <a:avLst/>
          </a:prstGeom>
          <a:solidFill>
            <a:srgbClr val="0B1220"/>
          </a:solidFill>
        </p:spPr>
      </p:sp>
      <p:sp>
        <p:nvSpPr>
          <p:cNvPr id="6" name="Text 4"/>
          <p:cNvSpPr/>
          <p:nvPr/>
        </p:nvSpPr>
        <p:spPr>
          <a:xfrm>
            <a:off x="393192" y="1866646"/>
            <a:ext cx="74980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print</a:t>
            </a:r>
            <a:endParaRPr lang="en-US" sz="1100" b="1" dirty="0">
              <a:solidFill>
                <a:srgbClr val="2DD4BF"/>
              </a:solidFill>
              <a:latin typeface="Palatino Linotype" panose="02040502050505030304" charset="0"/>
              <a:ea typeface="Courier New" panose="02070309020205020404" pitchFamily="34" charset="-122"/>
              <a:cs typeface="Palatino Linotype" panose="0204050205050503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80160" y="1683766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print() ile hata ayıklama</a:t>
            </a:r>
            <a:endParaRPr lang="en-US" sz="155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80160" y="2031365"/>
            <a:ext cx="3535045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600"/>
              </a:lnSpc>
              <a:buNone/>
            </a:pPr>
            <a:r>
              <a:rPr lang="en-US" sz="11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Kodu kirletir; her yeni hipotez için betiği yeniden düzenleyip çalıştırmak gerekir, iş bitince izleri temizlemek de cabası.</a:t>
            </a:r>
            <a:endParaRPr lang="en-US" sz="11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28600" y="3055620"/>
            <a:ext cx="5006975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effectLst>
            <a:outerShdw blurRad="-2147483648" dist="-2147483648" dir="-1" algn="bl" rotWithShape="0">
              <a:srgbClr val="0B1220">
                <a:alpha val="-2147483645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" y="3439414"/>
            <a:ext cx="566928" cy="566928"/>
          </a:xfrm>
          <a:prstGeom prst="ellipse">
            <a:avLst/>
          </a:prstGeom>
          <a:solidFill>
            <a:srgbClr val="0B1220"/>
          </a:solidFill>
        </p:spPr>
      </p:sp>
      <p:sp>
        <p:nvSpPr>
          <p:cNvPr id="11" name="Text 9"/>
          <p:cNvSpPr/>
          <p:nvPr/>
        </p:nvSpPr>
        <p:spPr>
          <a:xfrm>
            <a:off x="393192" y="3439414"/>
            <a:ext cx="74980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IDE</a:t>
            </a:r>
            <a:endParaRPr lang="en-US" sz="1100" b="1" dirty="0">
              <a:solidFill>
                <a:srgbClr val="2DD4BF"/>
              </a:solidFill>
              <a:latin typeface="Palatino Linotype" panose="02040502050505030304" charset="0"/>
              <a:ea typeface="Courier New" panose="02070309020205020404" pitchFamily="34" charset="-122"/>
              <a:cs typeface="Palatino Linotype" panose="020405020505050303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80160" y="3256534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Adım adım debugger</a:t>
            </a:r>
            <a:endParaRPr lang="en-US" sz="155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80160" y="3604260"/>
            <a:ext cx="353568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600"/>
              </a:lnSpc>
              <a:buNone/>
            </a:pPr>
            <a:r>
              <a:rPr lang="en-US" sz="11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Etkileşimli ama geçicidir: uzun koşularda, thread'lerde ve 'bir kez oluşan' hatalarda doğru anı yakalamak zordur.</a:t>
            </a:r>
            <a:endParaRPr lang="en-US" sz="11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28600" y="4627880"/>
            <a:ext cx="50266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effectLst>
            <a:outerShdw blurRad="-2147483648" dist="-2147483648" dir="1" algn="bl" rotWithShape="0">
              <a:srgbClr val="0B1220">
                <a:alpha val="-2147483645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" y="5012182"/>
            <a:ext cx="566928" cy="566928"/>
          </a:xfrm>
          <a:prstGeom prst="ellipse">
            <a:avLst/>
          </a:prstGeom>
          <a:solidFill>
            <a:srgbClr val="0B1220"/>
          </a:solidFill>
        </p:spPr>
      </p:sp>
      <p:sp>
        <p:nvSpPr>
          <p:cNvPr id="16" name="Text 14"/>
          <p:cNvSpPr/>
          <p:nvPr/>
        </p:nvSpPr>
        <p:spPr>
          <a:xfrm>
            <a:off x="393192" y="5012182"/>
            <a:ext cx="74980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log</a:t>
            </a:r>
            <a:endParaRPr lang="en-US" sz="1100" b="1" dirty="0">
              <a:solidFill>
                <a:srgbClr val="2DD4BF"/>
              </a:solidFill>
              <a:latin typeface="Palatino Linotype" panose="02040502050505030304" charset="0"/>
              <a:ea typeface="Courier New" panose="02070309020205020404" pitchFamily="34" charset="-122"/>
              <a:cs typeface="Palatino Linotype" panose="0204050205050503030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280160" y="4829302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Loglama</a:t>
            </a:r>
            <a:endParaRPr lang="en-US" sz="155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80160" y="5176520"/>
            <a:ext cx="353568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600"/>
              </a:lnSpc>
              <a:buNone/>
            </a:pPr>
            <a:r>
              <a:rPr lang="en-US" sz="11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Neyi loglayacağınızı önceden bilmeniz gerekir — hata çoğu zaman log satırı olmayan yerdedir.</a:t>
            </a:r>
            <a:endParaRPr lang="en-US" sz="11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2</a:t>
            </a:r>
            <a:endParaRPr lang="en-US" sz="1000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 flipH="1">
            <a:off x="5553710" y="1378585"/>
            <a:ext cx="0" cy="509524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83" name="Group 82"/>
          <p:cNvGrpSpPr/>
          <p:nvPr/>
        </p:nvGrpSpPr>
        <p:grpSpPr>
          <a:xfrm>
            <a:off x="5679440" y="1692910"/>
            <a:ext cx="694690" cy="511810"/>
            <a:chOff x="9450" y="2738"/>
            <a:chExt cx="1094" cy="806"/>
          </a:xfrm>
        </p:grpSpPr>
        <p:sp>
          <p:nvSpPr>
            <p:cNvPr id="79" name="Shape 3"/>
            <p:cNvSpPr/>
            <p:nvPr/>
          </p:nvSpPr>
          <p:spPr>
            <a:xfrm>
              <a:off x="9609" y="2738"/>
              <a:ext cx="806" cy="806"/>
            </a:xfrm>
            <a:prstGeom prst="ellipse">
              <a:avLst/>
            </a:prstGeom>
            <a:solidFill>
              <a:srgbClr val="0B1220"/>
            </a:solidFill>
          </p:spPr>
        </p:sp>
        <p:sp>
          <p:nvSpPr>
            <p:cNvPr id="80" name="Text 4"/>
            <p:cNvSpPr/>
            <p:nvPr/>
          </p:nvSpPr>
          <p:spPr>
            <a:xfrm>
              <a:off x="9450" y="2738"/>
              <a:ext cx="1094" cy="80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2DD4BF"/>
                  </a:solidFill>
                  <a:latin typeface="Palatino Linotype" panose="02040502050505030304" charset="0"/>
                  <a:ea typeface="Courier New" panose="02070309020205020404" pitchFamily="34" charset="-122"/>
                  <a:cs typeface="Palatino Linotype" panose="02040502050505030304" charset="0"/>
                </a:rPr>
                <a:t>0x</a:t>
              </a:r>
              <a:endParaRPr lang="en-US" sz="1100" b="1" dirty="0">
                <a:solidFill>
                  <a:srgbClr val="2DD4BF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endParaRPr>
            </a:p>
          </p:txBody>
        </p:sp>
      </p:grpSp>
      <p:sp>
        <p:nvSpPr>
          <p:cNvPr id="81" name="Text 5"/>
          <p:cNvSpPr/>
          <p:nvPr/>
        </p:nvSpPr>
        <p:spPr>
          <a:xfrm>
            <a:off x="6456680" y="1684020"/>
            <a:ext cx="3044825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Sıfır Dokunuş</a:t>
            </a:r>
            <a:endParaRPr lang="en-US" sz="15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82" name="Text 6"/>
          <p:cNvSpPr/>
          <p:nvPr/>
        </p:nvSpPr>
        <p:spPr>
          <a:xfrm>
            <a:off x="6466205" y="2004060"/>
            <a:ext cx="2095500" cy="10217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550"/>
              </a:lnSpc>
              <a:buNone/>
            </a:pPr>
            <a:r>
              <a:rPr lang="en-US" sz="110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Kaynak kod hiçbir şekilde düzenlenmez</a:t>
            </a:r>
            <a:r>
              <a:rPr lang="tr-TR" altLang="en-US" sz="110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.</a:t>
            </a:r>
            <a:endParaRPr lang="en-US" sz="110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  <a:p>
            <a:pPr marL="0" indent="0" algn="just">
              <a:lnSpc>
                <a:spcPts val="1550"/>
              </a:lnSpc>
              <a:buNone/>
            </a:pPr>
            <a:r>
              <a:rPr lang="tr-TR" altLang="en-US" sz="110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Ç</a:t>
            </a:r>
            <a:r>
              <a:rPr lang="en-US" sz="110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alışma zamanında monkey-patching ile yapılır.</a:t>
            </a:r>
            <a:endParaRPr lang="en-US" sz="110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grpSp>
        <p:nvGrpSpPr>
          <p:cNvPr id="90" name="Group 89"/>
          <p:cNvGrpSpPr/>
          <p:nvPr/>
        </p:nvGrpSpPr>
        <p:grpSpPr>
          <a:xfrm>
            <a:off x="8898255" y="1692910"/>
            <a:ext cx="694690" cy="511810"/>
            <a:chOff x="10007" y="5097"/>
            <a:chExt cx="1094" cy="806"/>
          </a:xfrm>
        </p:grpSpPr>
        <p:sp>
          <p:nvSpPr>
            <p:cNvPr id="86" name="Shape 8"/>
            <p:cNvSpPr/>
            <p:nvPr/>
          </p:nvSpPr>
          <p:spPr>
            <a:xfrm>
              <a:off x="10151" y="5097"/>
              <a:ext cx="806" cy="806"/>
            </a:xfrm>
            <a:prstGeom prst="ellipse">
              <a:avLst/>
            </a:prstGeom>
            <a:solidFill>
              <a:srgbClr val="0B1220"/>
            </a:solidFill>
          </p:spPr>
        </p:sp>
        <p:sp>
          <p:nvSpPr>
            <p:cNvPr id="87" name="Text 9"/>
            <p:cNvSpPr/>
            <p:nvPr/>
          </p:nvSpPr>
          <p:spPr>
            <a:xfrm>
              <a:off x="10007" y="5097"/>
              <a:ext cx="1094" cy="80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2DD4BF"/>
                  </a:solidFill>
                  <a:latin typeface="Palatino Linotype" panose="02040502050505030304" charset="0"/>
                  <a:ea typeface="Courier New" panose="02070309020205020404" pitchFamily="34" charset="-122"/>
                  <a:cs typeface="Palatino Linotype" panose="02040502050505030304" charset="0"/>
                </a:rPr>
                <a:t>( )</a:t>
              </a:r>
              <a:endParaRPr lang="en-US" sz="1100" b="1" dirty="0">
                <a:solidFill>
                  <a:srgbClr val="2DD4BF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endParaRPr>
            </a:p>
          </p:txBody>
        </p:sp>
      </p:grpSp>
      <p:sp>
        <p:nvSpPr>
          <p:cNvPr id="88" name="Text 10"/>
          <p:cNvSpPr/>
          <p:nvPr/>
        </p:nvSpPr>
        <p:spPr>
          <a:xfrm>
            <a:off x="9665970" y="1684020"/>
            <a:ext cx="3044825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Kapsam</a:t>
            </a:r>
            <a:endParaRPr lang="en-US" sz="15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89" name="Text 11"/>
          <p:cNvSpPr/>
          <p:nvPr/>
        </p:nvSpPr>
        <p:spPr>
          <a:xfrm>
            <a:off x="9664065" y="2004060"/>
            <a:ext cx="2360295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550"/>
              </a:lnSpc>
              <a:buNone/>
            </a:pPr>
            <a:r>
              <a:rPr lang="en-US" sz="110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Kayıt yalnızca hedef fonksiyonun yürütmesi sırasında aktiftir; kapsam dışında ek yük sıfırdır.</a:t>
            </a:r>
            <a:endParaRPr lang="en-US" sz="110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grpSp>
        <p:nvGrpSpPr>
          <p:cNvPr id="97" name="Group 96"/>
          <p:cNvGrpSpPr/>
          <p:nvPr/>
        </p:nvGrpSpPr>
        <p:grpSpPr>
          <a:xfrm>
            <a:off x="5760720" y="3150870"/>
            <a:ext cx="694690" cy="511810"/>
            <a:chOff x="9363" y="6758"/>
            <a:chExt cx="1094" cy="806"/>
          </a:xfrm>
        </p:grpSpPr>
        <p:sp>
          <p:nvSpPr>
            <p:cNvPr id="93" name="Shape 13"/>
            <p:cNvSpPr/>
            <p:nvPr/>
          </p:nvSpPr>
          <p:spPr>
            <a:xfrm>
              <a:off x="9507" y="6758"/>
              <a:ext cx="806" cy="806"/>
            </a:xfrm>
            <a:prstGeom prst="ellipse">
              <a:avLst/>
            </a:prstGeom>
            <a:solidFill>
              <a:srgbClr val="0B1220"/>
            </a:solidFill>
          </p:spPr>
        </p:sp>
        <p:sp>
          <p:nvSpPr>
            <p:cNvPr id="94" name="Text 14"/>
            <p:cNvSpPr/>
            <p:nvPr/>
          </p:nvSpPr>
          <p:spPr>
            <a:xfrm>
              <a:off x="9363" y="6758"/>
              <a:ext cx="1094" cy="80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2DD4BF"/>
                  </a:solidFill>
                  <a:latin typeface="Palatino Linotype" panose="02040502050505030304" charset="0"/>
                  <a:ea typeface="Courier New" panose="02070309020205020404" pitchFamily="34" charset="-122"/>
                  <a:cs typeface="Palatino Linotype" panose="02040502050505030304" charset="0"/>
                </a:rPr>
                <a:t>XML</a:t>
              </a:r>
              <a:endParaRPr lang="en-US" sz="1100" b="1" dirty="0">
                <a:solidFill>
                  <a:srgbClr val="2DD4BF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endParaRPr>
            </a:p>
          </p:txBody>
        </p:sp>
      </p:grpSp>
      <p:sp>
        <p:nvSpPr>
          <p:cNvPr id="95" name="Text 15"/>
          <p:cNvSpPr/>
          <p:nvPr/>
        </p:nvSpPr>
        <p:spPr>
          <a:xfrm>
            <a:off x="6466205" y="3121025"/>
            <a:ext cx="3044825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Yapılandırılmış Çıktı</a:t>
            </a:r>
            <a:endParaRPr lang="en-US" sz="15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96" name="Text 16"/>
          <p:cNvSpPr/>
          <p:nvPr/>
        </p:nvSpPr>
        <p:spPr>
          <a:xfrm>
            <a:off x="6466205" y="3460115"/>
            <a:ext cx="2096135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550"/>
              </a:lnSpc>
              <a:buNone/>
            </a:pPr>
            <a:r>
              <a:rPr lang="en-US" sz="110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Sürümlü XSD şemalarıyla (v1…v2.2) doğrulanabilen hiyerarşik XML; JSON ve JSONL da destekli.</a:t>
            </a:r>
            <a:endParaRPr lang="en-US" sz="110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grpSp>
        <p:nvGrpSpPr>
          <p:cNvPr id="115" name="Group 114"/>
          <p:cNvGrpSpPr/>
          <p:nvPr/>
        </p:nvGrpSpPr>
        <p:grpSpPr>
          <a:xfrm>
            <a:off x="6796405" y="4500245"/>
            <a:ext cx="694690" cy="511810"/>
            <a:chOff x="8957" y="7574"/>
            <a:chExt cx="1094" cy="806"/>
          </a:xfrm>
        </p:grpSpPr>
        <p:sp>
          <p:nvSpPr>
            <p:cNvPr id="101" name="Shape 23"/>
            <p:cNvSpPr/>
            <p:nvPr/>
          </p:nvSpPr>
          <p:spPr>
            <a:xfrm>
              <a:off x="9101" y="7574"/>
              <a:ext cx="806" cy="806"/>
            </a:xfrm>
            <a:prstGeom prst="ellipse">
              <a:avLst/>
            </a:prstGeom>
            <a:solidFill>
              <a:srgbClr val="2DD4BF"/>
            </a:solidFill>
          </p:spPr>
        </p:sp>
        <p:sp>
          <p:nvSpPr>
            <p:cNvPr id="102" name="Text 24"/>
            <p:cNvSpPr/>
            <p:nvPr/>
          </p:nvSpPr>
          <p:spPr>
            <a:xfrm>
              <a:off x="8957" y="7574"/>
              <a:ext cx="1094" cy="80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B1220"/>
                  </a:solidFill>
                  <a:latin typeface="Palatino Linotype" panose="02040502050505030304" charset="0"/>
                  <a:ea typeface="Courier New" panose="02070309020205020404" pitchFamily="34" charset="-122"/>
                  <a:cs typeface="Palatino Linotype" panose="02040502050505030304" charset="0"/>
                </a:rPr>
                <a:t>AI</a:t>
              </a:r>
              <a:endParaRPr lang="en-US" sz="1100" b="1" dirty="0">
                <a:solidFill>
                  <a:srgbClr val="0B1220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endParaRPr>
            </a:p>
          </p:txBody>
        </p:sp>
      </p:grpSp>
      <p:sp>
        <p:nvSpPr>
          <p:cNvPr id="103" name="Text 25"/>
          <p:cNvSpPr/>
          <p:nvPr/>
        </p:nvSpPr>
        <p:spPr>
          <a:xfrm>
            <a:off x="5865495" y="5081905"/>
            <a:ext cx="269621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LLM Destekli Hedefleme</a:t>
            </a:r>
            <a:endParaRPr lang="en-US" sz="1500" b="1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04" name="Text 26"/>
          <p:cNvSpPr/>
          <p:nvPr/>
        </p:nvSpPr>
        <p:spPr>
          <a:xfrm>
            <a:off x="5852160" y="5401945"/>
            <a:ext cx="2709545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550"/>
              </a:lnSpc>
              <a:buNone/>
            </a:pPr>
            <a:r>
              <a:rPr lang="en-US" sz="110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Hatayı doğal dille tarif edin; Ollama veya OpenCode kod envanterinden izlenecek fonksiyonları önersin.</a:t>
            </a:r>
            <a:endParaRPr lang="en-US" sz="110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grpSp>
        <p:nvGrpSpPr>
          <p:cNvPr id="116" name="Group 115"/>
          <p:cNvGrpSpPr/>
          <p:nvPr/>
        </p:nvGrpSpPr>
        <p:grpSpPr>
          <a:xfrm>
            <a:off x="10166985" y="4500245"/>
            <a:ext cx="694690" cy="511810"/>
            <a:chOff x="14157" y="7288"/>
            <a:chExt cx="1094" cy="806"/>
          </a:xfrm>
        </p:grpSpPr>
        <p:sp>
          <p:nvSpPr>
            <p:cNvPr id="106" name="Shape 28"/>
            <p:cNvSpPr/>
            <p:nvPr/>
          </p:nvSpPr>
          <p:spPr>
            <a:xfrm>
              <a:off x="14301" y="7288"/>
              <a:ext cx="806" cy="806"/>
            </a:xfrm>
            <a:prstGeom prst="ellipse">
              <a:avLst/>
            </a:prstGeom>
            <a:solidFill>
              <a:srgbClr val="0B1220"/>
            </a:solidFill>
          </p:spPr>
        </p:sp>
        <p:sp>
          <p:nvSpPr>
            <p:cNvPr id="107" name="Text 29"/>
            <p:cNvSpPr/>
            <p:nvPr/>
          </p:nvSpPr>
          <p:spPr>
            <a:xfrm>
              <a:off x="14157" y="7288"/>
              <a:ext cx="1094" cy="80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2DD4BF"/>
                  </a:solidFill>
                  <a:latin typeface="Palatino Linotype" panose="02040502050505030304" charset="0"/>
                  <a:ea typeface="Courier New" panose="02070309020205020404" pitchFamily="34" charset="-122"/>
                  <a:cs typeface="Palatino Linotype" panose="02040502050505030304" charset="0"/>
                </a:rPr>
                <a:t>PM</a:t>
              </a:r>
              <a:endParaRPr lang="en-US" sz="1100" b="1" dirty="0">
                <a:solidFill>
                  <a:srgbClr val="2DD4BF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endParaRPr>
            </a:p>
          </p:txBody>
        </p:sp>
      </p:grpSp>
      <p:sp>
        <p:nvSpPr>
          <p:cNvPr id="108" name="Text 30"/>
          <p:cNvSpPr/>
          <p:nvPr/>
        </p:nvSpPr>
        <p:spPr>
          <a:xfrm>
            <a:off x="8989060" y="5081905"/>
            <a:ext cx="295656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Post-Mortem + GUI</a:t>
            </a:r>
            <a:endParaRPr lang="en-US" sz="1500" b="1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09" name="Text 31"/>
          <p:cNvSpPr/>
          <p:nvPr/>
        </p:nvSpPr>
        <p:spPr>
          <a:xfrm>
            <a:off x="8989695" y="5401945"/>
            <a:ext cx="294513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550"/>
              </a:lnSpc>
              <a:buNone/>
            </a:pPr>
            <a:r>
              <a:rPr lang="en-US" sz="110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Kayıtlı trace'i load ile zengin yürütme ağacı olarak inceleyin; FastAPI + React web arayüzüyle yönetin.</a:t>
            </a:r>
            <a:endParaRPr lang="en-US" sz="110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grpSp>
        <p:nvGrpSpPr>
          <p:cNvPr id="114" name="Group 113"/>
          <p:cNvGrpSpPr/>
          <p:nvPr/>
        </p:nvGrpSpPr>
        <p:grpSpPr>
          <a:xfrm>
            <a:off x="8898255" y="3150870"/>
            <a:ext cx="694690" cy="511810"/>
            <a:chOff x="13997" y="4740"/>
            <a:chExt cx="1094" cy="806"/>
          </a:xfrm>
        </p:grpSpPr>
        <p:sp>
          <p:nvSpPr>
            <p:cNvPr id="110" name="Shape 18"/>
            <p:cNvSpPr/>
            <p:nvPr/>
          </p:nvSpPr>
          <p:spPr>
            <a:xfrm>
              <a:off x="14141" y="4740"/>
              <a:ext cx="806" cy="806"/>
            </a:xfrm>
            <a:prstGeom prst="ellipse">
              <a:avLst/>
            </a:prstGeom>
            <a:solidFill>
              <a:srgbClr val="0B1220"/>
            </a:solidFill>
          </p:spPr>
          <p:txBody>
            <a:bodyPr/>
            <a:p>
              <a:endParaRPr lang="en-US">
                <a:latin typeface="Palatino Linotype" panose="02040502050505030304" charset="0"/>
                <a:cs typeface="Palatino Linotype" panose="02040502050505030304" charset="0"/>
              </a:endParaRPr>
            </a:p>
          </p:txBody>
        </p:sp>
        <p:sp>
          <p:nvSpPr>
            <p:cNvPr id="111" name="Text 19"/>
            <p:cNvSpPr/>
            <p:nvPr/>
          </p:nvSpPr>
          <p:spPr>
            <a:xfrm>
              <a:off x="13997" y="4740"/>
              <a:ext cx="1094" cy="80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2DD4BF"/>
                  </a:solidFill>
                  <a:latin typeface="Palatino Linotype" panose="02040502050505030304" charset="0"/>
                  <a:ea typeface="Courier New" panose="02070309020205020404" pitchFamily="34" charset="-122"/>
                  <a:cs typeface="Palatino Linotype" panose="02040502050505030304" charset="0"/>
                </a:rPr>
                <a:t>xN</a:t>
              </a:r>
              <a:endParaRPr lang="en-US" sz="1100" b="1" dirty="0">
                <a:solidFill>
                  <a:srgbClr val="2DD4BF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endParaRPr>
            </a:p>
          </p:txBody>
        </p:sp>
      </p:grpSp>
      <p:sp>
        <p:nvSpPr>
          <p:cNvPr id="112" name="Text 20"/>
          <p:cNvSpPr/>
          <p:nvPr/>
        </p:nvSpPr>
        <p:spPr>
          <a:xfrm>
            <a:off x="9664192" y="3119374"/>
            <a:ext cx="304495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Loop Compaction</a:t>
            </a:r>
            <a:endParaRPr lang="en-US" sz="15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13" name="Text 21"/>
          <p:cNvSpPr/>
          <p:nvPr/>
        </p:nvSpPr>
        <p:spPr>
          <a:xfrm>
            <a:off x="9664065" y="3467100"/>
            <a:ext cx="236093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550"/>
              </a:lnSpc>
              <a:buNone/>
            </a:pPr>
            <a:r>
              <a:rPr lang="en-US" sz="110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Tekrarlayan döngü iterasyonları tek &lt;loop&gt; altında gruplanır; kırpılabilir, değişim özeti üretilir.</a:t>
            </a:r>
            <a:endParaRPr lang="en-US" sz="110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18" name="Text Box 117"/>
          <p:cNvSpPr txBox="1"/>
          <p:nvPr/>
        </p:nvSpPr>
        <p:spPr>
          <a:xfrm>
            <a:off x="8383270" y="4460875"/>
            <a:ext cx="1035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tr-TR" altLang="en-US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Palatino Linotype" panose="02040502050505030304" charset="0"/>
                <a:cs typeface="Palatino Linotype" panose="02040502050505030304" charset="0"/>
              </a:rPr>
              <a:t>feature</a:t>
            </a:r>
            <a:endParaRPr lang="tr-TR" altLang="en-US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119" name="Text Box 118"/>
          <p:cNvSpPr txBox="1"/>
          <p:nvPr/>
        </p:nvSpPr>
        <p:spPr>
          <a:xfrm>
            <a:off x="781050" y="1104900"/>
            <a:ext cx="4772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tr-TR" altLang="en-US" b="1">
                <a:latin typeface="Palatino Linotype" panose="02040502050505030304" charset="0"/>
                <a:cs typeface="Palatino Linotype" panose="02040502050505030304" charset="0"/>
              </a:rPr>
              <a:t>Klasik Hata ayıklamada kullanılanlar</a:t>
            </a:r>
            <a:endParaRPr lang="tr-TR" altLang="en-US" b="1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120" name="Text Box 119"/>
          <p:cNvSpPr txBox="1"/>
          <p:nvPr/>
        </p:nvSpPr>
        <p:spPr>
          <a:xfrm>
            <a:off x="5553710" y="1114425"/>
            <a:ext cx="6487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tr-TR" altLang="en-US" b="1">
                <a:latin typeface="Palatino Linotype" panose="02040502050505030304" charset="0"/>
                <a:cs typeface="Palatino Linotype" panose="02040502050505030304" charset="0"/>
              </a:rPr>
              <a:t>Focustracer aracının yaptıkları</a:t>
            </a:r>
            <a:endParaRPr lang="tr-TR" altLang="en-US" b="1">
              <a:latin typeface="Palatino Linotype" panose="02040502050505030304" charset="0"/>
              <a:cs typeface="Palatino Linotype" panose="0204050205050503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SISTEM MIMARISI</a:t>
            </a:r>
            <a:endParaRPr lang="en-US" sz="1200" b="1" kern="0" spc="300" dirty="0">
              <a:solidFill>
                <a:srgbClr val="0D948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Beş Katman, Tek Paket</a:t>
            </a:r>
            <a:endParaRPr lang="en-US" sz="29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694930" cy="868680"/>
          </a:xfrm>
          <a:prstGeom prst="roundRect">
            <a:avLst>
              <a:gd name="adj" fmla="val 33625"/>
            </a:avLst>
          </a:prstGeom>
          <a:solidFill>
            <a:schemeClr val="accent5">
              <a:lumMod val="40000"/>
              <a:lumOff val="60000"/>
            </a:schemeClr>
          </a:solidFill>
          <a:effectLst>
            <a:outerShdw blurRad="-2147483648" dist="-2147483648" dir="1" algn="bl" rotWithShape="0">
              <a:srgbClr val="0B1220">
                <a:alpha val="1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27175"/>
            <a:ext cx="735203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CLI  </a:t>
            </a:r>
            <a:r>
              <a:rPr lang="en-US" sz="14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—  </a:t>
            </a:r>
            <a:r>
              <a:rPr lang="en-US" sz="13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cli.py</a:t>
            </a:r>
            <a:endParaRPr lang="en-US" sz="13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35203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56677F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check-agent · install · suggest-targets · run · load · gui</a:t>
            </a:r>
            <a:endParaRPr lang="en-US" sz="950" dirty="0">
              <a:solidFill>
                <a:srgbClr val="56677F"/>
              </a:solidFill>
              <a:latin typeface="Palatino Linotype" panose="02040502050505030304" charset="0"/>
              <a:ea typeface="Courier New" panose="02070309020205020404" pitchFamily="34" charset="-122"/>
              <a:cs typeface="Palatino Linotype" panose="0204050205050503030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358505" y="1435735"/>
            <a:ext cx="3670935" cy="868680"/>
          </a:xfrm>
          <a:prstGeom prst="roundRect">
            <a:avLst>
              <a:gd name="adj" fmla="val 18274"/>
            </a:avLst>
          </a:prstGeom>
          <a:solidFill>
            <a:schemeClr val="accent5">
              <a:lumMod val="40000"/>
              <a:lumOff val="60000"/>
            </a:schemeClr>
          </a:solidFill>
          <a:effectLst>
            <a:outerShdw blurRad="-2147483648" dist="-2147483648" dir="7" algn="bl" rotWithShape="0">
              <a:srgbClr val="0B1220">
                <a:alpha val="1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03590" y="1545590"/>
            <a:ext cx="3560445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Web </a:t>
            </a:r>
            <a:r>
              <a:rPr lang="en-US" sz="13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GUI  —  gui/server.py</a:t>
            </a:r>
            <a:endParaRPr lang="en-US" sz="13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385810" y="1847215"/>
            <a:ext cx="3639185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56677F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FastAPI + React SPA · SSE canlı log · bellek içi iş kuyruğu</a:t>
            </a:r>
            <a:endParaRPr lang="en-US" sz="950" dirty="0">
              <a:solidFill>
                <a:srgbClr val="56677F"/>
              </a:solidFill>
              <a:latin typeface="Palatino Linotype" panose="02040502050505030304" charset="0"/>
              <a:ea typeface="Courier New" panose="02070309020205020404" pitchFamily="34" charset="-122"/>
              <a:cs typeface="Palatino Linotype" panose="020405020505050303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229100" y="230428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 marL="0" indent="0" algn="ctr">
              <a:buNone/>
            </a:pPr>
            <a:endParaRPr 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965055" y="230428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 marL="0" indent="0" algn="ctr">
              <a:buNone/>
            </a:pPr>
            <a:endParaRPr 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2670175"/>
            <a:ext cx="7694930" cy="2286000"/>
          </a:xfrm>
          <a:prstGeom prst="roundRect">
            <a:avLst>
              <a:gd name="adj" fmla="val 18611"/>
            </a:avLst>
          </a:prstGeom>
          <a:solidFill>
            <a:schemeClr val="accent6">
              <a:lumMod val="40000"/>
              <a:lumOff val="60000"/>
            </a:schemeClr>
          </a:solidFill>
          <a:effectLst>
            <a:outerShdw blurRad="-2147483648" dist="-2147483648" dir="4" algn="bl" rotWithShape="0">
              <a:srgbClr val="0B1220">
                <a:alpha val="1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2788920"/>
            <a:ext cx="7305675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chemeClr val="tx1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core/  —  </a:t>
            </a:r>
            <a:r>
              <a:rPr lang="en-US" sz="1400" b="1" dirty="0">
                <a:solidFill>
                  <a:schemeClr val="tx1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İzleme </a:t>
            </a:r>
            <a:r>
              <a:rPr lang="en-US" sz="1350" b="1" dirty="0">
                <a:solidFill>
                  <a:schemeClr val="tx1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Motoru</a:t>
            </a:r>
            <a:endParaRPr lang="en-US" sz="1350" b="1" dirty="0">
              <a:solidFill>
                <a:schemeClr val="tx1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77240" y="320040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329184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948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recorder.py</a:t>
            </a:r>
            <a:endParaRPr lang="en-US" sz="1000" b="1" dirty="0">
              <a:solidFill>
                <a:srgbClr val="0D9488"/>
              </a:solidFill>
              <a:latin typeface="Palatino Linotype" panose="02040502050505030304" charset="0"/>
              <a:ea typeface="Courier New" panose="02070309020205020404" pitchFamily="34" charset="-122"/>
              <a:cs typeface="Palatino Linotype" panose="0204050205050503030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05256" y="3511296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TraceRecorde</a:t>
            </a:r>
            <a:r>
              <a:rPr lang="tr-TR" altLang="en-US" sz="8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r</a:t>
            </a:r>
            <a:r>
              <a:rPr lang="en-US" sz="8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 </a:t>
            </a:r>
            <a:endParaRPr lang="en-US" sz="8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TraceContext · trace_function</a:t>
            </a:r>
            <a:endParaRPr lang="en-US" sz="8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64408" y="320040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92424" y="329184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948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patcher.py</a:t>
            </a:r>
            <a:endParaRPr lang="en-US" sz="1000" b="1" dirty="0">
              <a:solidFill>
                <a:srgbClr val="0D9488"/>
              </a:solidFill>
              <a:latin typeface="Palatino Linotype" panose="02040502050505030304" charset="0"/>
              <a:ea typeface="Courier New" panose="02070309020205020404" pitchFamily="34" charset="-122"/>
              <a:cs typeface="Palatino Linotype" panose="0204050205050503030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392424" y="3511296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DynamicPatcher (monkey-patching)</a:t>
            </a:r>
            <a:endParaRPr lang="en-US" sz="8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751576" y="320040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79592" y="329184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948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targeting.py</a:t>
            </a:r>
            <a:endParaRPr lang="en-US" sz="1000" b="1" dirty="0">
              <a:solidFill>
                <a:srgbClr val="0D9488"/>
              </a:solidFill>
              <a:latin typeface="Palatino Linotype" panose="02040502050505030304" charset="0"/>
              <a:ea typeface="Courier New" panose="02070309020205020404" pitchFamily="34" charset="-122"/>
              <a:cs typeface="Palatino Linotype" panose="0204050205050503030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879592" y="3511296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TargetManifest · CodeInventory</a:t>
            </a:r>
            <a:endParaRPr lang="en-US" sz="8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77240" y="4041648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5256" y="4133088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948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loader.py</a:t>
            </a:r>
            <a:endParaRPr lang="en-US" sz="1000" b="1" dirty="0">
              <a:solidFill>
                <a:srgbClr val="0D9488"/>
              </a:solidFill>
              <a:latin typeface="Palatino Linotype" panose="02040502050505030304" charset="0"/>
              <a:ea typeface="Courier New" panose="02070309020205020404" pitchFamily="34" charset="-122"/>
              <a:cs typeface="Palatino Linotype" panose="0204050205050503030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05256" y="4352544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TraceLoader · TraceDocument</a:t>
            </a:r>
            <a:endParaRPr lang="en-US" sz="8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264408" y="4041648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92424" y="4133088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948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display.py</a:t>
            </a:r>
            <a:endParaRPr lang="en-US" sz="1000" b="1" dirty="0">
              <a:solidFill>
                <a:srgbClr val="0D9488"/>
              </a:solidFill>
              <a:latin typeface="Palatino Linotype" panose="02040502050505030304" charset="0"/>
              <a:ea typeface="Courier New" panose="02070309020205020404" pitchFamily="34" charset="-122"/>
              <a:cs typeface="Palatino Linotype" panose="0204050205050503030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392424" y="4352544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TraceDisplayer (rich terminal)</a:t>
            </a:r>
            <a:endParaRPr lang="en-US" sz="8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751576" y="4041648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79592" y="4133088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948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schema.py</a:t>
            </a:r>
            <a:endParaRPr lang="en-US" sz="1000" b="1" dirty="0">
              <a:solidFill>
                <a:srgbClr val="0D9488"/>
              </a:solidFill>
              <a:latin typeface="Palatino Linotype" panose="02040502050505030304" charset="0"/>
              <a:ea typeface="Courier New" panose="02070309020205020404" pitchFamily="34" charset="-122"/>
              <a:cs typeface="Palatino Linotype" panose="0204050205050503030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879592" y="4352544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XML yardımcıları (v1/v2/v2.1)</a:t>
            </a:r>
            <a:endParaRPr lang="en-US" sz="8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368030" y="2670175"/>
            <a:ext cx="3660775" cy="2286000"/>
          </a:xfrm>
          <a:prstGeom prst="roundRect">
            <a:avLst>
              <a:gd name="adj" fmla="val 11944"/>
            </a:avLst>
          </a:prstGeom>
          <a:solidFill>
            <a:schemeClr val="accent6">
              <a:lumMod val="40000"/>
              <a:lumOff val="60000"/>
            </a:schemeClr>
          </a:solidFill>
          <a:effectLst>
            <a:outerShdw blurRad="-2147483648" dist="-2147483648" dir="2" algn="bl" rotWithShape="0">
              <a:srgbClr val="0B1220">
                <a:alpha val="1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404225" y="2788920"/>
            <a:ext cx="355981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agent/  —  AI </a:t>
            </a:r>
            <a:r>
              <a:rPr lang="en-US" sz="14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Katmanı</a:t>
            </a:r>
            <a:endParaRPr lang="en-US" sz="135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796528" y="3200400"/>
            <a:ext cx="269748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b="1" dirty="0">
                <a:solidFill>
                  <a:srgbClr val="0D948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base.py</a:t>
            </a:r>
            <a:r>
              <a:rPr lang="en-US" sz="100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  BaseAIAgent</a:t>
            </a:r>
            <a:endParaRPr lang="en-US" sz="100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1650"/>
              </a:lnSpc>
              <a:buNone/>
            </a:pPr>
            <a:r>
              <a:rPr lang="en-US" sz="1000" b="1" dirty="0">
                <a:solidFill>
                  <a:srgbClr val="0D948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ollama_client.py</a:t>
            </a:r>
            <a:endParaRPr lang="en-US" sz="100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  HTTP · qwen2.5:3b</a:t>
            </a:r>
            <a:endParaRPr lang="en-US" sz="100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1650"/>
              </a:lnSpc>
              <a:buNone/>
            </a:pPr>
            <a:r>
              <a:rPr lang="en-US" sz="1000" b="1" dirty="0">
                <a:solidFill>
                  <a:srgbClr val="0D948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opencode_client.py</a:t>
            </a:r>
            <a:endParaRPr lang="en-US" sz="100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  CLI subprocess</a:t>
            </a:r>
            <a:endParaRPr lang="en-US" sz="100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017520" y="4974336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800" b="1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686800" y="4974336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800" b="1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48640" y="5303520"/>
            <a:ext cx="7695565" cy="868680"/>
          </a:xfrm>
          <a:prstGeom prst="roundRect">
            <a:avLst>
              <a:gd name="adj" fmla="val 40204"/>
            </a:avLst>
          </a:prstGeom>
          <a:solidFill>
            <a:schemeClr val="accent2">
              <a:lumMod val="60000"/>
              <a:lumOff val="40000"/>
            </a:schemeClr>
          </a:solidFill>
          <a:effectLst>
            <a:outerShdw blurRad="-2147483648" dist="-2147483648" dir="1" algn="bl" rotWithShape="0">
              <a:srgbClr val="0B1220">
                <a:alpha val="1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31520" y="5413375"/>
            <a:ext cx="71780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validate/ + </a:t>
            </a:r>
            <a:r>
              <a:rPr lang="en-US" sz="14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schema</a:t>
            </a:r>
            <a:r>
              <a:rPr lang="en-US" sz="13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/</a:t>
            </a:r>
            <a:endParaRPr lang="en-US" sz="13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85470" y="5715000"/>
            <a:ext cx="7658735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56677F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XSD doğrulama · trace_schema_v1 / v2 / v2.1 / v2.2.xsd</a:t>
            </a:r>
            <a:endParaRPr lang="en-US" sz="950" dirty="0">
              <a:solidFill>
                <a:srgbClr val="56677F"/>
              </a:solidFill>
              <a:latin typeface="Palatino Linotype" panose="02040502050505030304" charset="0"/>
              <a:ea typeface="Courier New" panose="02070309020205020404" pitchFamily="34" charset="-122"/>
              <a:cs typeface="Palatino Linotype" panose="0204050205050503030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404225" y="5303520"/>
            <a:ext cx="3620135" cy="868680"/>
          </a:xfrm>
          <a:prstGeom prst="roundRect">
            <a:avLst>
              <a:gd name="adj" fmla="val 33625"/>
            </a:avLst>
          </a:prstGeom>
          <a:solidFill>
            <a:schemeClr val="accent2">
              <a:lumMod val="60000"/>
              <a:lumOff val="40000"/>
            </a:schemeClr>
          </a:solidFill>
          <a:effectLst>
            <a:outerShdw blurRad="-2147483648" dist="-2147483648" dir="9" algn="bl" rotWithShape="0">
              <a:srgbClr val="0B1220">
                <a:alpha val="1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541385" y="5413375"/>
            <a:ext cx="3399155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output/</a:t>
            </a:r>
            <a:endParaRPr lang="en-US" sz="14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404225" y="5715000"/>
            <a:ext cx="3625215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56677F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&lt;betik&gt;_trace.xml  +  &lt;betik&gt;.targets.json</a:t>
            </a:r>
            <a:endParaRPr lang="en-US" sz="950" dirty="0">
              <a:solidFill>
                <a:srgbClr val="56677F"/>
              </a:solidFill>
              <a:latin typeface="Palatino Linotype" panose="02040502050505030304" charset="0"/>
              <a:ea typeface="Courier New" panose="02070309020205020404" pitchFamily="34" charset="-122"/>
              <a:cs typeface="Palatino Linotype" panose="0204050205050503030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src-layout tek paket · pip install -e .  →  focustracer  |  python -m focustracer</a:t>
            </a:r>
            <a:endParaRPr lang="en-US" sz="1050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4</a:t>
            </a:r>
            <a:endParaRPr lang="en-US" sz="1000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002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spc="400" dirty="0">
                <a:solidFill>
                  <a:srgbClr val="2DD4B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BÖLÜM 1 / 5</a:t>
            </a:r>
            <a:endParaRPr lang="en-US" sz="1400" b="1" kern="0" spc="400" dirty="0">
              <a:solidFill>
                <a:srgbClr val="2DD4B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7240" y="2011680"/>
            <a:ext cx="64922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tx1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Çekirdek Motor</a:t>
            </a:r>
            <a:endParaRPr lang="en-US" sz="4400" b="1" dirty="0">
              <a:solidFill>
                <a:schemeClr val="tx1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62179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sys.settrace </a:t>
            </a:r>
            <a:r>
              <a:rPr lang="tr-T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ile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yapılandırılmış trace'e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630936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CA0B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sys.settrace · TraceRecorder · delta · loop compaction · TraceContext · @trace_function</a:t>
            </a:r>
            <a:endParaRPr lang="en-US" sz="1200" dirty="0">
              <a:solidFill>
                <a:srgbClr val="8CA0B8"/>
              </a:solidFill>
              <a:latin typeface="Palatino Linotype" panose="02040502050505030304" charset="0"/>
              <a:ea typeface="Courier New" panose="02070309020205020404" pitchFamily="34" charset="-122"/>
              <a:cs typeface="Palatino Linotype" panose="0204050205050503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498080" y="1234440"/>
            <a:ext cx="4069080" cy="713232"/>
          </a:xfrm>
          <a:prstGeom prst="roundRect">
            <a:avLst>
              <a:gd name="adj" fmla="val 10256"/>
            </a:avLst>
          </a:prstGeom>
          <a:solidFill>
            <a:srgbClr val="13203A"/>
          </a:solidFill>
        </p:spPr>
      </p:sp>
      <p:sp>
        <p:nvSpPr>
          <p:cNvPr id="7" name="Shape 5"/>
          <p:cNvSpPr/>
          <p:nvPr/>
        </p:nvSpPr>
        <p:spPr>
          <a:xfrm>
            <a:off x="7635240" y="1325880"/>
            <a:ext cx="512064" cy="512064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8" name="Text 6"/>
          <p:cNvSpPr/>
          <p:nvPr/>
        </p:nvSpPr>
        <p:spPr>
          <a:xfrm>
            <a:off x="7543800" y="1325880"/>
            <a:ext cx="69494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1</a:t>
            </a:r>
            <a:endParaRPr lang="en-US" sz="1500" b="1" dirty="0">
              <a:solidFill>
                <a:srgbClr val="0B1220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348472" y="1325880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Çekirdek Motor</a:t>
            </a:r>
            <a:endParaRPr lang="en-US" sz="1600" b="1" dirty="0">
              <a:solidFill>
                <a:srgbClr val="FFFFF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35240" y="2194560"/>
            <a:ext cx="512064" cy="512064"/>
          </a:xfrm>
          <a:prstGeom prst="ellipse">
            <a:avLst/>
          </a:prstGeom>
          <a:solidFill>
            <a:srgbClr val="13203A"/>
          </a:solidFill>
        </p:spPr>
      </p:sp>
      <p:sp>
        <p:nvSpPr>
          <p:cNvPr id="11" name="Text 9"/>
          <p:cNvSpPr/>
          <p:nvPr/>
        </p:nvSpPr>
        <p:spPr>
          <a:xfrm>
            <a:off x="7543800" y="2194560"/>
            <a:ext cx="69494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2</a:t>
            </a:r>
            <a:endParaRPr lang="en-US" sz="1500" b="1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348472" y="2194560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CLI Hattı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635240" y="3063240"/>
            <a:ext cx="512064" cy="512064"/>
          </a:xfrm>
          <a:prstGeom prst="ellipse">
            <a:avLst/>
          </a:prstGeom>
          <a:solidFill>
            <a:srgbClr val="13203A"/>
          </a:solidFill>
        </p:spPr>
      </p:sp>
      <p:sp>
        <p:nvSpPr>
          <p:cNvPr id="14" name="Text 12"/>
          <p:cNvSpPr/>
          <p:nvPr/>
        </p:nvSpPr>
        <p:spPr>
          <a:xfrm>
            <a:off x="7543800" y="3063240"/>
            <a:ext cx="69494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3</a:t>
            </a:r>
            <a:endParaRPr lang="en-US" sz="1500" b="1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348472" y="3063240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AI Katmanı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635240" y="3931920"/>
            <a:ext cx="512064" cy="512064"/>
          </a:xfrm>
          <a:prstGeom prst="ellipse">
            <a:avLst/>
          </a:prstGeom>
          <a:solidFill>
            <a:srgbClr val="13203A"/>
          </a:solidFill>
        </p:spPr>
      </p:sp>
      <p:sp>
        <p:nvSpPr>
          <p:cNvPr id="17" name="Text 15"/>
          <p:cNvSpPr/>
          <p:nvPr/>
        </p:nvSpPr>
        <p:spPr>
          <a:xfrm>
            <a:off x="7543800" y="3931920"/>
            <a:ext cx="69494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4</a:t>
            </a:r>
            <a:endParaRPr lang="en-US" sz="1500" b="1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348472" y="3931920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Post-Mortem &amp; GUI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635240" y="4800600"/>
            <a:ext cx="512064" cy="512064"/>
          </a:xfrm>
          <a:prstGeom prst="ellipse">
            <a:avLst/>
          </a:prstGeom>
          <a:solidFill>
            <a:srgbClr val="13203A"/>
          </a:solidFill>
        </p:spPr>
      </p:sp>
      <p:sp>
        <p:nvSpPr>
          <p:cNvPr id="20" name="Text 18"/>
          <p:cNvSpPr/>
          <p:nvPr/>
        </p:nvSpPr>
        <p:spPr>
          <a:xfrm>
            <a:off x="7543800" y="4800600"/>
            <a:ext cx="69494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5</a:t>
            </a:r>
            <a:endParaRPr lang="en-US" sz="1500" b="1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348472" y="4800600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Pratik Örnekler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endParaRPr lang="en-US" sz="100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BÖLÜM 1 · ÇEKIRDEK MOTOR</a:t>
            </a:r>
            <a:endParaRPr lang="en-US" sz="1200" b="1" kern="0" spc="300" dirty="0">
              <a:solidFill>
                <a:srgbClr val="0D948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En Alt Katman: sys.settrace</a:t>
            </a:r>
            <a:endParaRPr lang="en-US" sz="29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2578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2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CPython, her frame için kayıtlı trace fonksiyonunu çağırır. FocusTracer bu kancaya _dispatch_trace ile bağlanır; threading.settrace aynı kancayı sonradan doğan thread'lere de takar.</a:t>
            </a:r>
            <a:endParaRPr lang="en-US" sz="12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532888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0B1220"/>
          </a:solidFill>
        </p:spPr>
      </p:sp>
      <p:sp>
        <p:nvSpPr>
          <p:cNvPr id="7" name="Text 5"/>
          <p:cNvSpPr/>
          <p:nvPr/>
        </p:nvSpPr>
        <p:spPr>
          <a:xfrm>
            <a:off x="713232" y="2542032"/>
            <a:ext cx="1143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call</a:t>
            </a:r>
            <a:endParaRPr lang="en-US" sz="1100" b="1" dirty="0">
              <a:solidFill>
                <a:srgbClr val="2DD4BF"/>
              </a:solidFill>
              <a:latin typeface="Palatino Linotype" panose="02040502050505030304" charset="0"/>
              <a:ea typeface="Courier New" panose="02070309020205020404" pitchFamily="34" charset="-122"/>
              <a:cs typeface="Palatino Linotype" panose="020405020505050303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011680" y="2450592"/>
            <a:ext cx="37033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fonksiyon girişi — etkinleştirme kararı burada verilir</a:t>
            </a:r>
            <a:endParaRPr lang="en-US" sz="10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3163824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3319272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0B1220"/>
          </a:solidFill>
        </p:spPr>
      </p:sp>
      <p:sp>
        <p:nvSpPr>
          <p:cNvPr id="11" name="Text 9"/>
          <p:cNvSpPr/>
          <p:nvPr/>
        </p:nvSpPr>
        <p:spPr>
          <a:xfrm>
            <a:off x="713232" y="3328416"/>
            <a:ext cx="1143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line</a:t>
            </a:r>
            <a:endParaRPr lang="en-US" sz="1100" b="1" dirty="0">
              <a:solidFill>
                <a:srgbClr val="2DD4BF"/>
              </a:solidFill>
              <a:latin typeface="Palatino Linotype" panose="02040502050505030304" charset="0"/>
              <a:ea typeface="Courier New" panose="02070309020205020404" pitchFamily="34" charset="-122"/>
              <a:cs typeface="Palatino Linotype" panose="020405020505050303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011680" y="3236976"/>
            <a:ext cx="37033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satır yürütülmek üzere — değişken deltası burada hesaplanır</a:t>
            </a:r>
            <a:endParaRPr lang="en-US" sz="10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3950208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4105656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0B1220"/>
          </a:solidFill>
        </p:spPr>
      </p:sp>
      <p:sp>
        <p:nvSpPr>
          <p:cNvPr id="15" name="Text 13"/>
          <p:cNvSpPr/>
          <p:nvPr/>
        </p:nvSpPr>
        <p:spPr>
          <a:xfrm>
            <a:off x="713232" y="4114800"/>
            <a:ext cx="1143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return</a:t>
            </a:r>
            <a:endParaRPr lang="en-US" sz="1100" b="1" dirty="0">
              <a:solidFill>
                <a:srgbClr val="2DD4BF"/>
              </a:solidFill>
              <a:latin typeface="Palatino Linotype" panose="02040502050505030304" charset="0"/>
              <a:ea typeface="Courier New" panose="02070309020205020404" pitchFamily="34" charset="-122"/>
              <a:cs typeface="Palatino Linotype" panose="0204050205050503030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011680" y="4023360"/>
            <a:ext cx="37033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fonksiyon dönüşü — dönüş değeri yakalanır</a:t>
            </a:r>
            <a:endParaRPr lang="en-US" sz="10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4736592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489204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0B1220"/>
          </a:solidFill>
        </p:spPr>
      </p:sp>
      <p:sp>
        <p:nvSpPr>
          <p:cNvPr id="19" name="Text 17"/>
          <p:cNvSpPr/>
          <p:nvPr/>
        </p:nvSpPr>
        <p:spPr>
          <a:xfrm>
            <a:off x="713232" y="4901184"/>
            <a:ext cx="1143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D34D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exception</a:t>
            </a:r>
            <a:endParaRPr lang="en-US" sz="1100" b="1" dirty="0">
              <a:solidFill>
                <a:srgbClr val="FCD34D"/>
              </a:solidFill>
              <a:latin typeface="Palatino Linotype" panose="02040502050505030304" charset="0"/>
              <a:ea typeface="Courier New" panose="02070309020205020404" pitchFamily="34" charset="-122"/>
              <a:cs typeface="Palatino Linotype" panose="0204050205050503030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011680" y="4809744"/>
            <a:ext cx="37033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istisna — tip, mesaj ve traceback kaydedilir</a:t>
            </a:r>
            <a:endParaRPr lang="en-US" sz="10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48640" y="5715000"/>
            <a:ext cx="52578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500"/>
              </a:lnSpc>
              <a:buNone/>
            </a:pPr>
            <a:r>
              <a:rPr lang="en-US" sz="1100" dirty="0">
                <a:solidFill>
                  <a:srgbClr val="0D948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Frame'e tam erişim: f_code, f_lineno, f_locals — değişkenleri okumak için gereken her şey.</a:t>
            </a:r>
            <a:endParaRPr lang="en-US" sz="1100" dirty="0">
              <a:solidFill>
                <a:srgbClr val="0D948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126480" y="1371600"/>
            <a:ext cx="5532120" cy="4983480"/>
          </a:xfrm>
          <a:prstGeom prst="roundRect">
            <a:avLst>
              <a:gd name="adj" fmla="val 1651"/>
            </a:avLst>
          </a:prstGeom>
          <a:solidFill>
            <a:srgbClr val="333F50"/>
          </a:solidFill>
          <a:effectLst>
            <a:outerShdw blurRad="-2147483648" dist="-2147483648" dir="5" algn="bl" rotWithShape="0">
              <a:srgbClr val="0B1220">
                <a:alpha val="1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91072" y="1508760"/>
            <a:ext cx="82296" cy="82296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24" name="Shape 22"/>
          <p:cNvSpPr/>
          <p:nvPr/>
        </p:nvSpPr>
        <p:spPr>
          <a:xfrm>
            <a:off x="6428232" y="1508760"/>
            <a:ext cx="82296" cy="82296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25" name="Shape 23"/>
          <p:cNvSpPr/>
          <p:nvPr/>
        </p:nvSpPr>
        <p:spPr>
          <a:xfrm>
            <a:off x="6565392" y="1508760"/>
            <a:ext cx="82296" cy="82296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26" name="Text 24"/>
          <p:cNvSpPr/>
          <p:nvPr/>
        </p:nvSpPr>
        <p:spPr>
          <a:xfrm>
            <a:off x="6812280" y="1444752"/>
            <a:ext cx="47091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core/recorder.py — kancanın takılması</a:t>
            </a:r>
            <a:endParaRPr lang="en-US" sz="1000" dirty="0">
              <a:solidFill>
                <a:srgbClr val="8CA0B8"/>
              </a:solidFill>
              <a:latin typeface="Palatino Linotype" panose="02040502050505030304" charset="0"/>
              <a:ea typeface="Courier New" panose="02070309020205020404" pitchFamily="34" charset="-122"/>
              <a:cs typeface="Palatino Linotype" panose="0204050205050503030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327648" y="1773936"/>
            <a:ext cx="5129784" cy="44714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5EEAD4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def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start(</a:t>
            </a:r>
            <a:r>
              <a:rPr lang="en-US" sz="1050" dirty="0">
                <a:solidFill>
                  <a:srgbClr val="7DD3FC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self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):</a:t>
            </a:r>
            <a:endParaRPr lang="en-US" sz="10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   </a:t>
            </a:r>
            <a:r>
              <a:rPr lang="en-US" sz="1050" dirty="0">
                <a:solidFill>
                  <a:srgbClr val="7DD3FC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self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.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enabled = </a:t>
            </a:r>
            <a:r>
              <a:rPr lang="en-US" sz="1050" b="1" dirty="0">
                <a:solidFill>
                  <a:srgbClr val="5EEAD4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True</a:t>
            </a:r>
            <a:endParaRPr lang="en-US" sz="10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   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sys.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settrace(</a:t>
            </a:r>
            <a:r>
              <a:rPr lang="en-US" sz="1050" dirty="0">
                <a:solidFill>
                  <a:srgbClr val="7DD3FC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self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.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_dispatch_trace)        </a:t>
            </a:r>
            <a:r>
              <a:rPr lang="en-US" sz="1050" dirty="0">
                <a:solidFill>
                  <a:srgbClr val="7E93AF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# bu thread</a:t>
            </a:r>
            <a:endParaRPr lang="en-US" sz="10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   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threading.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settrace(</a:t>
            </a:r>
            <a:r>
              <a:rPr lang="en-US" sz="1050" dirty="0">
                <a:solidFill>
                  <a:srgbClr val="7DD3FC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self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.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_dispatch_trace)  </a:t>
            </a:r>
            <a:r>
              <a:rPr lang="en-US" sz="1050" dirty="0">
                <a:solidFill>
                  <a:srgbClr val="7E93AF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# yenileri</a:t>
            </a:r>
            <a:endParaRPr lang="en-US" sz="10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</a:t>
            </a:r>
            <a:endParaRPr lang="en-US" sz="10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5EEAD4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def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_dispatch_trace(</a:t>
            </a:r>
            <a:r>
              <a:rPr lang="en-US" sz="1050" dirty="0">
                <a:solidFill>
                  <a:srgbClr val="7DD3FC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self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, 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frame, 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event, 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arg):</a:t>
            </a:r>
            <a:endParaRPr lang="en-US" sz="10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   </a:t>
            </a:r>
            <a:r>
              <a:rPr lang="en-US" sz="1050" dirty="0">
                <a:solidFill>
                  <a:srgbClr val="7E93AF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# event: "call" | "line" | "return" | "exception"</a:t>
            </a:r>
            <a:endParaRPr lang="en-US" sz="10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   </a:t>
            </a:r>
            <a:r>
              <a:rPr lang="en-US" sz="1050" b="1" dirty="0">
                <a:solidFill>
                  <a:srgbClr val="5EEAD4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if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</a:t>
            </a:r>
            <a:r>
              <a:rPr lang="en-US" sz="1050" b="1" dirty="0">
                <a:solidFill>
                  <a:srgbClr val="5EEAD4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not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</a:t>
            </a:r>
            <a:r>
              <a:rPr lang="en-US" sz="1050" dirty="0">
                <a:solidFill>
                  <a:srgbClr val="7DD3FC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self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.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enabled:</a:t>
            </a:r>
            <a:endParaRPr lang="en-US" sz="10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       </a:t>
            </a:r>
            <a:r>
              <a:rPr lang="en-US" sz="1050" b="1" dirty="0">
                <a:solidFill>
                  <a:srgbClr val="5EEAD4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return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</a:t>
            </a:r>
            <a:r>
              <a:rPr lang="en-US" sz="1050" b="1" dirty="0">
                <a:solidFill>
                  <a:srgbClr val="5EEAD4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None</a:t>
            </a:r>
            <a:endParaRPr lang="en-US" sz="10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   </a:t>
            </a:r>
            <a:r>
              <a:rPr lang="en-US" sz="1050" b="1" dirty="0">
                <a:solidFill>
                  <a:srgbClr val="5EEAD4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if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</a:t>
            </a:r>
            <a:r>
              <a:rPr lang="en-US" sz="1050" dirty="0">
                <a:solidFill>
                  <a:srgbClr val="7DD3FC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self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.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_is_stdlib(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frame.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f_code.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co_filename):</a:t>
            </a:r>
            <a:endParaRPr lang="en-US" sz="10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       </a:t>
            </a:r>
            <a:r>
              <a:rPr lang="en-US" sz="1050" b="1" dirty="0">
                <a:solidFill>
                  <a:srgbClr val="5EEAD4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return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</a:t>
            </a:r>
            <a:r>
              <a:rPr lang="en-US" sz="1050" b="1" dirty="0">
                <a:solidFill>
                  <a:srgbClr val="5EEAD4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None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     </a:t>
            </a:r>
            <a:r>
              <a:rPr lang="en-US" sz="1050" dirty="0">
                <a:solidFill>
                  <a:srgbClr val="7E93AF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# stdlib her zaman dışarıda</a:t>
            </a:r>
            <a:endParaRPr lang="en-US" sz="10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   </a:t>
            </a:r>
            <a:r>
              <a:rPr lang="en-US" sz="1050" b="1" dirty="0">
                <a:solidFill>
                  <a:srgbClr val="5EEAD4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if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</a:t>
            </a:r>
            <a:r>
              <a:rPr lang="en-US" sz="1050" dirty="0">
                <a:solidFill>
                  <a:srgbClr val="7DD3FC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self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.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_should_activate(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frame, 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tid, 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tname):</a:t>
            </a:r>
            <a:endParaRPr lang="en-US" sz="10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       </a:t>
            </a:r>
            <a:r>
              <a:rPr lang="en-US" sz="1050" b="1" dirty="0">
                <a:solidFill>
                  <a:srgbClr val="5EEAD4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return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</a:t>
            </a:r>
            <a:r>
              <a:rPr lang="en-US" sz="1050" dirty="0">
                <a:solidFill>
                  <a:srgbClr val="7DD3FC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self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.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_trace_active(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frame, 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event, 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arg)</a:t>
            </a:r>
            <a:endParaRPr lang="en-US" sz="10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   </a:t>
            </a:r>
            <a:r>
              <a:rPr lang="en-US" sz="1050" b="1" dirty="0">
                <a:solidFill>
                  <a:srgbClr val="5EEAD4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return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</a:t>
            </a:r>
            <a:r>
              <a:rPr lang="en-US" sz="1050" b="1" dirty="0">
                <a:solidFill>
                  <a:srgbClr val="5EEAD4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None</a:t>
            </a:r>
            <a:r>
              <a:rPr lang="en-US" sz="1050" dirty="0">
                <a:solidFill>
                  <a:srgbClr val="DCE6F5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         </a:t>
            </a:r>
            <a:r>
              <a:rPr lang="en-US" sz="1050" dirty="0">
                <a:solidFill>
                  <a:srgbClr val="7E93AF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# izlenmeyen kod: kayıt yok</a:t>
            </a:r>
            <a:endParaRPr lang="en-US" sz="105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5</a:t>
            </a:r>
            <a:endParaRPr lang="en-US" sz="1000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BÖLÜM 1 · ÇEKIRDEK MOTOR</a:t>
            </a:r>
            <a:endParaRPr lang="en-US" sz="1200" b="1" kern="0" spc="300" dirty="0">
              <a:solidFill>
                <a:srgbClr val="0D948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r-TR" altLang="en-US" sz="29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sys.settrace Kullanan Özelleştirmeler</a:t>
            </a:r>
            <a:endParaRPr lang="tr-TR" altLang="en-US" sz="29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713105" y="1682750"/>
            <a:ext cx="640080" cy="457200"/>
            <a:chOff x="1123" y="2650"/>
            <a:chExt cx="1008" cy="720"/>
          </a:xfrm>
        </p:grpSpPr>
        <p:sp>
          <p:nvSpPr>
            <p:cNvPr id="5" name="Shape 3"/>
            <p:cNvSpPr/>
            <p:nvPr/>
          </p:nvSpPr>
          <p:spPr>
            <a:xfrm>
              <a:off x="1267" y="2650"/>
              <a:ext cx="720" cy="720"/>
            </a:xfrm>
            <a:prstGeom prst="ellipse">
              <a:avLst/>
            </a:prstGeom>
            <a:solidFill>
              <a:srgbClr val="0D9488"/>
            </a:solidFill>
          </p:spPr>
        </p:sp>
        <p:sp>
          <p:nvSpPr>
            <p:cNvPr id="6" name="Text 4"/>
            <p:cNvSpPr/>
            <p:nvPr/>
          </p:nvSpPr>
          <p:spPr>
            <a:xfrm>
              <a:off x="1123" y="2650"/>
              <a:ext cx="1008" cy="7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Palatino Linotype" panose="02040502050505030304" charset="0"/>
                  <a:ea typeface="Arial" panose="020B0604020202020204" pitchFamily="34" charset="-122"/>
                  <a:cs typeface="Palatino Linotype" panose="02040502050505030304" charset="0"/>
                </a:rPr>
                <a:t>1</a:t>
              </a:r>
              <a:endParaRPr lang="en-US" sz="1400" b="1" dirty="0">
                <a:solidFill>
                  <a:srgbClr val="FFFFF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548640" y="5238750"/>
            <a:ext cx="3547110" cy="1235075"/>
            <a:chOff x="864" y="7171"/>
            <a:chExt cx="5586" cy="2664"/>
          </a:xfrm>
        </p:grpSpPr>
        <p:sp>
          <p:nvSpPr>
            <p:cNvPr id="18" name="Shape 16"/>
            <p:cNvSpPr/>
            <p:nvPr/>
          </p:nvSpPr>
          <p:spPr>
            <a:xfrm>
              <a:off x="864" y="7171"/>
              <a:ext cx="5587" cy="2664"/>
            </a:xfrm>
            <a:prstGeom prst="roundRect">
              <a:avLst>
                <a:gd name="adj" fmla="val 4324"/>
              </a:avLst>
            </a:prstGeom>
            <a:solidFill>
              <a:srgbClr val="FFFFFF"/>
            </a:solidFill>
            <a:ln w="12700">
              <a:solidFill>
                <a:srgbClr val="E3E9F1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1210" y="7459"/>
              <a:ext cx="4896" cy="432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D9488"/>
                  </a:solidFill>
                  <a:latin typeface="Palatino Linotype" panose="02040502050505030304" charset="0"/>
                  <a:ea typeface="Arial" panose="020B0604020202020204" pitchFamily="34" charset="-122"/>
                  <a:cs typeface="Palatino Linotype" panose="02040502050505030304" charset="0"/>
                </a:rPr>
                <a:t>Thread-safe</a:t>
              </a:r>
              <a:endParaRPr lang="en-US" sz="1300" b="1" dirty="0">
                <a:solidFill>
                  <a:srgbClr val="0D948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1210" y="7949"/>
              <a:ext cx="4896" cy="1656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450"/>
                </a:lnSpc>
                <a:buNone/>
              </a:pPr>
              <a:r>
                <a:rPr lang="en-US" sz="1050" dirty="0">
                  <a:solidFill>
                    <a:srgbClr val="56677F"/>
                  </a:solidFill>
                  <a:latin typeface="Palatino Linotype" panose="02040502050505030304" charset="0"/>
                  <a:ea typeface="Arial" panose="020B0604020202020204" pitchFamily="34" charset="-122"/>
                  <a:cs typeface="Palatino Linotype" panose="02040502050505030304" charset="0"/>
                </a:rPr>
                <a:t>Her thread için ayrı _ThreadState (yığın, önceki locals anlık görüntüsü); erişim RLock ile korunur.</a:t>
              </a:r>
              <a:endPara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endParaRP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4324985" y="5238750"/>
            <a:ext cx="3547110" cy="1235075"/>
            <a:chOff x="6811" y="7171"/>
            <a:chExt cx="5586" cy="2664"/>
          </a:xfrm>
        </p:grpSpPr>
        <p:sp>
          <p:nvSpPr>
            <p:cNvPr id="21" name="Shape 19"/>
            <p:cNvSpPr/>
            <p:nvPr/>
          </p:nvSpPr>
          <p:spPr>
            <a:xfrm>
              <a:off x="6811" y="7171"/>
              <a:ext cx="5587" cy="2664"/>
            </a:xfrm>
            <a:prstGeom prst="roundRect">
              <a:avLst>
                <a:gd name="adj" fmla="val 4324"/>
              </a:avLst>
            </a:prstGeom>
            <a:solidFill>
              <a:srgbClr val="FFFFFF"/>
            </a:solidFill>
            <a:ln w="12700">
              <a:solidFill>
                <a:srgbClr val="E3E9F1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7157" y="7459"/>
              <a:ext cx="4896" cy="432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D9488"/>
                  </a:solidFill>
                  <a:latin typeface="Palatino Linotype" panose="02040502050505030304" charset="0"/>
                  <a:ea typeface="Arial" panose="020B0604020202020204" pitchFamily="34" charset="-122"/>
                  <a:cs typeface="Palatino Linotype" panose="02040502050505030304" charset="0"/>
                </a:rPr>
                <a:t>Her zaman dışarıda</a:t>
              </a:r>
              <a:endParaRPr lang="en-US" sz="1300" b="1" dirty="0">
                <a:solidFill>
                  <a:srgbClr val="0D948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7157" y="7949"/>
              <a:ext cx="4896" cy="1656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450"/>
                </a:lnSpc>
                <a:buNone/>
              </a:pPr>
              <a:r>
                <a:rPr lang="en-US" sz="1050" dirty="0">
                  <a:solidFill>
                    <a:srgbClr val="56677F"/>
                  </a:solidFill>
                  <a:latin typeface="Palatino Linotype" panose="02040502050505030304" charset="0"/>
                  <a:ea typeface="Arial" panose="020B0604020202020204" pitchFamily="34" charset="-122"/>
                  <a:cs typeface="Palatino Linotype" panose="02040502050505030304" charset="0"/>
                </a:rPr>
                <a:t>Standart kütüphane dizinleri, &lt;frozen ...&gt; çerçeveleri ve recorder'ın kendi dosyası.</a:t>
              </a:r>
              <a:endPara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8101330" y="5238750"/>
            <a:ext cx="3547110" cy="1235075"/>
            <a:chOff x="12758" y="7171"/>
            <a:chExt cx="5586" cy="2664"/>
          </a:xfrm>
        </p:grpSpPr>
        <p:sp>
          <p:nvSpPr>
            <p:cNvPr id="24" name="Shape 22"/>
            <p:cNvSpPr/>
            <p:nvPr/>
          </p:nvSpPr>
          <p:spPr>
            <a:xfrm>
              <a:off x="12758" y="7171"/>
              <a:ext cx="5587" cy="2664"/>
            </a:xfrm>
            <a:prstGeom prst="roundRect">
              <a:avLst>
                <a:gd name="adj" fmla="val 4324"/>
              </a:avLst>
            </a:prstGeom>
            <a:solidFill>
              <a:srgbClr val="FFFFFF"/>
            </a:solidFill>
            <a:ln w="12700">
              <a:solidFill>
                <a:srgbClr val="E3E9F1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13104" y="7459"/>
              <a:ext cx="4896" cy="432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D9488"/>
                  </a:solidFill>
                  <a:latin typeface="Palatino Linotype" panose="02040502050505030304" charset="0"/>
                  <a:ea typeface="Arial" panose="020B0604020202020204" pitchFamily="34" charset="-122"/>
                  <a:cs typeface="Palatino Linotype" panose="02040502050505030304" charset="0"/>
                </a:rPr>
                <a:t>max_depth = 100</a:t>
              </a:r>
              <a:endParaRPr lang="en-US" sz="1300" b="1" dirty="0">
                <a:solidFill>
                  <a:srgbClr val="0D948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13104" y="7949"/>
              <a:ext cx="4896" cy="1656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450"/>
                </a:lnSpc>
                <a:buNone/>
              </a:pPr>
              <a:r>
                <a:rPr lang="en-US" sz="1050" dirty="0">
                  <a:solidFill>
                    <a:srgbClr val="56677F"/>
                  </a:solidFill>
                  <a:latin typeface="Palatino Linotype" panose="02040502050505030304" charset="0"/>
                  <a:ea typeface="Arial" panose="020B0604020202020204" pitchFamily="34" charset="-122"/>
                  <a:cs typeface="Palatino Linotype" panose="02040502050505030304" charset="0"/>
                </a:rPr>
                <a:t>Bu derinliğin üzerindeki çağrılar kaydedilmez; derin özyinelemede çıktı patlamaz.</a:t>
              </a:r>
              <a:endPara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endParaRPr>
            </a:p>
          </p:txBody>
        </p:sp>
      </p:grpSp>
      <p:sp>
        <p:nvSpPr>
          <p:cNvPr id="27" name="Text 25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6</a:t>
            </a:r>
            <a:endParaRPr lang="en-US" sz="1000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grpSp>
        <p:nvGrpSpPr>
          <p:cNvPr id="45" name="Group 44"/>
          <p:cNvGrpSpPr/>
          <p:nvPr/>
        </p:nvGrpSpPr>
        <p:grpSpPr>
          <a:xfrm>
            <a:off x="4398645" y="1682115"/>
            <a:ext cx="640080" cy="457200"/>
            <a:chOff x="5962" y="2850"/>
            <a:chExt cx="1008" cy="720"/>
          </a:xfrm>
        </p:grpSpPr>
        <p:sp>
          <p:nvSpPr>
            <p:cNvPr id="40" name="Shape 3"/>
            <p:cNvSpPr/>
            <p:nvPr/>
          </p:nvSpPr>
          <p:spPr>
            <a:xfrm>
              <a:off x="6106" y="2850"/>
              <a:ext cx="720" cy="720"/>
            </a:xfrm>
            <a:prstGeom prst="ellipse">
              <a:avLst/>
            </a:prstGeom>
            <a:solidFill>
              <a:srgbClr val="0D9488"/>
            </a:solidFill>
          </p:spPr>
        </p:sp>
        <p:sp>
          <p:nvSpPr>
            <p:cNvPr id="41" name="Text 4"/>
            <p:cNvSpPr/>
            <p:nvPr/>
          </p:nvSpPr>
          <p:spPr>
            <a:xfrm>
              <a:off x="5962" y="2850"/>
              <a:ext cx="1008" cy="7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tr-TR" altLang="en-US" sz="1400" b="1" dirty="0">
                  <a:solidFill>
                    <a:srgbClr val="FFFFFF"/>
                  </a:solidFill>
                  <a:latin typeface="Palatino Linotype" panose="02040502050505030304" charset="0"/>
                  <a:ea typeface="Arial" panose="020B0604020202020204" pitchFamily="34" charset="-122"/>
                  <a:cs typeface="Palatino Linotype" panose="02040502050505030304" charset="0"/>
                </a:rPr>
                <a:t>2</a:t>
              </a:r>
              <a:endParaRPr lang="tr-TR" altLang="en-US" sz="1400" b="1" dirty="0">
                <a:solidFill>
                  <a:srgbClr val="FFFFF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endParaRP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8229600" y="1682115"/>
            <a:ext cx="640080" cy="457200"/>
            <a:chOff x="8718" y="4061"/>
            <a:chExt cx="1008" cy="720"/>
          </a:xfrm>
        </p:grpSpPr>
        <p:sp>
          <p:nvSpPr>
            <p:cNvPr id="42" name="Shape 3"/>
            <p:cNvSpPr/>
            <p:nvPr/>
          </p:nvSpPr>
          <p:spPr>
            <a:xfrm>
              <a:off x="8862" y="4061"/>
              <a:ext cx="720" cy="720"/>
            </a:xfrm>
            <a:prstGeom prst="ellipse">
              <a:avLst/>
            </a:prstGeom>
            <a:solidFill>
              <a:srgbClr val="0D9488"/>
            </a:solidFill>
          </p:spPr>
        </p:sp>
        <p:sp>
          <p:nvSpPr>
            <p:cNvPr id="43" name="Text 4"/>
            <p:cNvSpPr/>
            <p:nvPr/>
          </p:nvSpPr>
          <p:spPr>
            <a:xfrm>
              <a:off x="8718" y="4061"/>
              <a:ext cx="1008" cy="7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tr-TR" altLang="en-US" sz="1400" b="1" dirty="0">
                  <a:solidFill>
                    <a:srgbClr val="FFFFFF"/>
                  </a:solidFill>
                  <a:latin typeface="Palatino Linotype" panose="02040502050505030304" charset="0"/>
                  <a:ea typeface="Arial" panose="020B0604020202020204" pitchFamily="34" charset="-122"/>
                  <a:cs typeface="Palatino Linotype" panose="02040502050505030304" charset="0"/>
                </a:rPr>
                <a:t>3</a:t>
              </a:r>
              <a:endParaRPr lang="tr-TR" altLang="en-US" sz="1400" b="1" dirty="0">
                <a:solidFill>
                  <a:srgbClr val="FFFFF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endParaRPr>
            </a:p>
          </p:txBody>
        </p:sp>
      </p:grpSp>
      <p:pic>
        <p:nvPicPr>
          <p:cNvPr id="72" name="Picture 71"/>
          <p:cNvPicPr>
            <a:picLocks noChangeAspect="1"/>
          </p:cNvPicPr>
          <p:nvPr/>
        </p:nvPicPr>
        <p:blipFill>
          <a:blip r:embed="rId1"/>
          <a:srcRect t="1721"/>
          <a:stretch>
            <a:fillRect/>
          </a:stretch>
        </p:blipFill>
        <p:spPr>
          <a:xfrm>
            <a:off x="804545" y="2287905"/>
            <a:ext cx="3169285" cy="2901315"/>
          </a:xfrm>
          <a:prstGeom prst="rect">
            <a:avLst/>
          </a:prstGeom>
        </p:spPr>
      </p:pic>
      <p:pic>
        <p:nvPicPr>
          <p:cNvPr id="73" name="Picture 72"/>
          <p:cNvPicPr>
            <a:picLocks noChangeAspect="1"/>
          </p:cNvPicPr>
          <p:nvPr/>
        </p:nvPicPr>
        <p:blipFill>
          <a:blip r:embed="rId2"/>
          <a:srcRect t="830"/>
          <a:stretch>
            <a:fillRect/>
          </a:stretch>
        </p:blipFill>
        <p:spPr>
          <a:xfrm>
            <a:off x="4490085" y="2287905"/>
            <a:ext cx="3163570" cy="2883535"/>
          </a:xfrm>
          <a:prstGeom prst="rect">
            <a:avLst/>
          </a:prstGeom>
        </p:spPr>
      </p:pic>
      <p:pic>
        <p:nvPicPr>
          <p:cNvPr id="75" name="Picture 74"/>
          <p:cNvPicPr>
            <a:picLocks noChangeAspect="1"/>
          </p:cNvPicPr>
          <p:nvPr/>
        </p:nvPicPr>
        <p:blipFill>
          <a:blip r:embed="rId3"/>
          <a:srcRect t="2263"/>
          <a:stretch>
            <a:fillRect/>
          </a:stretch>
        </p:blipFill>
        <p:spPr>
          <a:xfrm>
            <a:off x="8229600" y="2281555"/>
            <a:ext cx="3506470" cy="2907665"/>
          </a:xfrm>
          <a:prstGeom prst="rect">
            <a:avLst/>
          </a:prstGeom>
        </p:spPr>
      </p:pic>
      <p:sp>
        <p:nvSpPr>
          <p:cNvPr id="76" name="Text Box 75"/>
          <p:cNvSpPr txBox="1"/>
          <p:nvPr/>
        </p:nvSpPr>
        <p:spPr>
          <a:xfrm>
            <a:off x="1353185" y="1711325"/>
            <a:ext cx="2524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tr-TR" altLang="en-US">
                <a:latin typeface="Palatino Linotype" panose="02040502050505030304" charset="0"/>
                <a:cs typeface="Palatino Linotype" panose="02040502050505030304" charset="0"/>
              </a:rPr>
              <a:t>TraceContext sınıfı ile</a:t>
            </a:r>
            <a:endParaRPr lang="tr-TR" altLang="en-US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77" name="Text Box 76"/>
          <p:cNvSpPr txBox="1"/>
          <p:nvPr/>
        </p:nvSpPr>
        <p:spPr>
          <a:xfrm>
            <a:off x="5038725" y="1714500"/>
            <a:ext cx="2524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tr-TR" altLang="en-US">
                <a:latin typeface="Palatino Linotype" panose="02040502050505030304" charset="0"/>
                <a:cs typeface="Palatino Linotype" panose="02040502050505030304" charset="0"/>
              </a:rPr>
              <a:t>TraceRecorder sınıfı ile</a:t>
            </a:r>
            <a:endParaRPr lang="tr-TR" altLang="en-US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78" name="Text Box 77"/>
          <p:cNvSpPr txBox="1"/>
          <p:nvPr/>
        </p:nvSpPr>
        <p:spPr>
          <a:xfrm>
            <a:off x="8978265" y="1746250"/>
            <a:ext cx="2670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tr-TR" altLang="en-US">
                <a:latin typeface="Palatino Linotype" panose="02040502050505030304" charset="0"/>
                <a:cs typeface="Palatino Linotype" panose="02040502050505030304" charset="0"/>
              </a:rPr>
              <a:t>Decorator kullanarak </a:t>
            </a:r>
            <a:endParaRPr lang="tr-TR" altLang="en-US">
              <a:latin typeface="Palatino Linotype" panose="02040502050505030304" charset="0"/>
              <a:cs typeface="Palatino Linotype" panose="0204050205050503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BÖLÜM 1 · PROGRAMATIK API</a:t>
            </a:r>
            <a:endParaRPr lang="en-US" sz="1200" b="1" kern="0" spc="300" dirty="0">
              <a:solidFill>
                <a:srgbClr val="0D948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TraceContext ve @trace_function</a:t>
            </a:r>
            <a:endParaRPr lang="en-US" sz="29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4526280"/>
          </a:xfrm>
          <a:prstGeom prst="roundRect">
            <a:avLst>
              <a:gd name="adj" fmla="val 1818"/>
            </a:avLst>
          </a:prstGeom>
          <a:solidFill>
            <a:srgbClr val="333F50"/>
          </a:solidFill>
          <a:effectLst>
            <a:outerShdw blurRad="-2147483648" dist="-2147483648" dir="4" algn="bl" rotWithShape="0">
              <a:srgbClr val="0B1220">
                <a:alpha val="1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08760"/>
            <a:ext cx="82296" cy="82296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6" name="Shape 4"/>
          <p:cNvSpPr/>
          <p:nvPr/>
        </p:nvSpPr>
        <p:spPr>
          <a:xfrm>
            <a:off x="850392" y="1508760"/>
            <a:ext cx="82296" cy="82296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7" name="Shape 5"/>
          <p:cNvSpPr/>
          <p:nvPr/>
        </p:nvSpPr>
        <p:spPr>
          <a:xfrm>
            <a:off x="987552" y="1508760"/>
            <a:ext cx="82296" cy="82296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8" name="Text 6"/>
          <p:cNvSpPr/>
          <p:nvPr/>
        </p:nvSpPr>
        <p:spPr>
          <a:xfrm>
            <a:off x="1234440" y="1444752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context manager — önerilen yol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" y="1773936"/>
            <a:ext cx="5084064" cy="4014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focustracer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import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TraceContext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def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process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data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):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total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= </a:t>
            </a:r>
            <a:r>
              <a:rPr lang="en-US" sz="1050" dirty="0">
                <a:solidFill>
                  <a:srgbClr val="F0AB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for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item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data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total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+=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item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return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total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with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TraceContext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(output_file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"output/programmatic.xml"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tr-TR" alt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 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target_functions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=[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"process"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],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tr-TR" alt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	      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detail_level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"detailed"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endParaRPr lang="en-US" sz="1050" dirty="0">
              <a:solidFill>
                <a:srgbClr val="DCE6F5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tr-TR" alt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):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process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([</a:t>
            </a:r>
            <a:r>
              <a:rPr lang="en-US" sz="1050" dirty="0">
                <a:solidFill>
                  <a:srgbClr val="F0AB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 </a:t>
            </a:r>
            <a:r>
              <a:rPr lang="en-US" sz="1050" dirty="0">
                <a:solidFill>
                  <a:srgbClr val="F0AB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 </a:t>
            </a:r>
            <a:r>
              <a:rPr lang="en-US" sz="1050" dirty="0">
                <a:solidFill>
                  <a:srgbClr val="F0AB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3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])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7E93A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blok çıkışında otomatik: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7E93A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stop() + save() + print_summary()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1371600"/>
            <a:ext cx="5376672" cy="4526280"/>
          </a:xfrm>
          <a:prstGeom prst="roundRect">
            <a:avLst>
              <a:gd name="adj" fmla="val 1818"/>
            </a:avLst>
          </a:prstGeom>
          <a:solidFill>
            <a:srgbClr val="333F50"/>
          </a:solidFill>
          <a:effectLst>
            <a:outerShdw blurRad="-2147483648" dist="-2147483648" dir="2" algn="bl" rotWithShape="0">
              <a:srgbClr val="0B1220">
                <a:alpha val="1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28232" y="1508760"/>
            <a:ext cx="82296" cy="82296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12" name="Shape 10"/>
          <p:cNvSpPr/>
          <p:nvPr/>
        </p:nvSpPr>
        <p:spPr>
          <a:xfrm>
            <a:off x="6565392" y="1508760"/>
            <a:ext cx="82296" cy="82296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13" name="Shape 11"/>
          <p:cNvSpPr/>
          <p:nvPr/>
        </p:nvSpPr>
        <p:spPr>
          <a:xfrm>
            <a:off x="6702552" y="1508760"/>
            <a:ext cx="82296" cy="82296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14" name="Text 12"/>
          <p:cNvSpPr/>
          <p:nvPr/>
        </p:nvSpPr>
        <p:spPr>
          <a:xfrm>
            <a:off x="6949440" y="1444752"/>
            <a:ext cx="4553712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dekoratör — en kısa yol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83325" y="1774190"/>
            <a:ext cx="5276850" cy="40144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focustracer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import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trace_function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7DD3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@trace_function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(output_file=</a:t>
            </a:r>
            <a:r>
              <a:rPr lang="en-US" sz="100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"output/fib.xml"</a:t>
            </a:r>
            <a:r>
              <a:rPr lang="tr-TR" altLang="en-US" sz="100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 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schema_version=</a:t>
            </a:r>
            <a:r>
              <a:rPr lang="en-US" sz="100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"2.2"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endParaRPr lang="en-US" sz="100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def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fib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):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return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if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&lt; </a:t>
            </a:r>
            <a:r>
              <a:rPr lang="en-US" sz="1050" dirty="0">
                <a:solidFill>
                  <a:srgbClr val="F0AB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else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\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fib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- </a:t>
            </a:r>
            <a:r>
              <a:rPr lang="en-US" sz="1050" dirty="0">
                <a:solidFill>
                  <a:srgbClr val="F0AB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 +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fib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- </a:t>
            </a:r>
            <a:r>
              <a:rPr lang="en-US" sz="1050" dirty="0">
                <a:solidFill>
                  <a:srgbClr val="F0AB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fib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F0AB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8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7E93A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her üst düzey çağrı ayrı trace üretir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7E93A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dekoratör, fonksiyonun ad varyantlarını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7E93A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(ad, qualname, modül.ad) hedef listesine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7E93A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otomatik ekler; çağrıyı TraceContext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7E93A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içinde çalıştırır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6053328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F3F6FA"/>
          </a:solidFill>
        </p:spPr>
      </p:sp>
      <p:sp>
        <p:nvSpPr>
          <p:cNvPr id="17" name="Text 15"/>
          <p:cNvSpPr/>
          <p:nvPr/>
        </p:nvSpPr>
        <p:spPr>
          <a:xfrm>
            <a:off x="658368" y="6053328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667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paket kökünden: </a:t>
            </a:r>
            <a:r>
              <a:rPr lang="en-US" sz="1050" b="1" dirty="0">
                <a:solidFill>
                  <a:srgbClr val="0D948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TraceRecorder · TraceContext · trace_function · DynamicPatcher · TargetManifest · build_code_inventory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BÖLÜM 1 · PROGRAMATIK API</a:t>
            </a:r>
            <a:endParaRPr lang="en-US" sz="1200" b="1" kern="0" spc="300" dirty="0">
              <a:solidFill>
                <a:srgbClr val="0D948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TraceRecorder'ı Doğrudan Kullanmak</a:t>
            </a:r>
            <a:endParaRPr lang="en-US" sz="29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623560" cy="4983480"/>
          </a:xfrm>
          <a:prstGeom prst="roundRect">
            <a:avLst>
              <a:gd name="adj" fmla="val 1651"/>
            </a:avLst>
          </a:prstGeom>
          <a:solidFill>
            <a:srgbClr val="333F50"/>
          </a:solidFill>
          <a:effectLst>
            <a:outerShdw blurRad="-2147483648" dist="-2147483648" dir="1" algn="bl" rotWithShape="0">
              <a:srgbClr val="0B1220">
                <a:alpha val="1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08760"/>
            <a:ext cx="82296" cy="82296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6" name="Shape 4"/>
          <p:cNvSpPr/>
          <p:nvPr/>
        </p:nvSpPr>
        <p:spPr>
          <a:xfrm>
            <a:off x="850392" y="1508760"/>
            <a:ext cx="82296" cy="82296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7" name="Shape 5"/>
          <p:cNvSpPr/>
          <p:nvPr/>
        </p:nvSpPr>
        <p:spPr>
          <a:xfrm>
            <a:off x="987552" y="1508760"/>
            <a:ext cx="82296" cy="82296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8" name="Text 6"/>
          <p:cNvSpPr/>
          <p:nvPr/>
        </p:nvSpPr>
        <p:spPr>
          <a:xfrm>
            <a:off x="1234440" y="1444752"/>
            <a:ext cx="4800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tam kontrol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" y="1773936"/>
            <a:ext cx="5221224" cy="44714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focustracer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import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TraceRecorder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recorder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=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TraceRecorder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output_file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"output/manual.json"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output_format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"json"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    </a:t>
            </a:r>
            <a:r>
              <a:rPr lang="en-US" sz="1050" dirty="0">
                <a:solidFill>
                  <a:srgbClr val="7E93A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xml | json | jsonl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detail_level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"normal"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max_depth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0AB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50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max_iterations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0AB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enable_threading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True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target_functions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=[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"mymodule.process"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],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recorder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start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()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...                          </a:t>
            </a:r>
            <a:r>
              <a:rPr lang="en-US" sz="1050" dirty="0">
                <a:solidFill>
                  <a:srgbClr val="7E93A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izlenecek kod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recorder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stop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()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recorder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save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()              </a:t>
            </a:r>
            <a:r>
              <a:rPr lang="en-US" sz="1050" dirty="0">
                <a:solidFill>
                  <a:srgbClr val="7E93A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save(format="jsonl")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recorder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print_summary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0" y="1371600"/>
            <a:ext cx="523036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371600"/>
            <a:ext cx="4892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948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detail_level</a:t>
            </a:r>
            <a:r>
              <a:rPr lang="en-US" sz="100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  —  minimal | normal | detailed — kayıt ayrıntısı</a:t>
            </a:r>
            <a:endParaRPr lang="en-US" sz="105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0" y="2029968"/>
            <a:ext cx="523036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029968"/>
            <a:ext cx="4892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948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max_depth</a:t>
            </a:r>
            <a:r>
              <a:rPr lang="en-US" sz="100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  —  çağrı derinliği sınırı (varsayılan 100)</a:t>
            </a:r>
            <a:endParaRPr lang="en-US" sz="105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0" y="2688336"/>
            <a:ext cx="523036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688336"/>
            <a:ext cx="4892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948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max_iterations</a:t>
            </a:r>
            <a:r>
              <a:rPr lang="en-US" sz="100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  —  döngü başına yazılacak iterasyon limiti</a:t>
            </a:r>
            <a:endParaRPr lang="en-US" sz="105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0" y="3346704"/>
            <a:ext cx="523036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3346704"/>
            <a:ext cx="4892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948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output_format</a:t>
            </a:r>
            <a:r>
              <a:rPr lang="en-US" sz="100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  —  xml | json | jsonl</a:t>
            </a:r>
            <a:endParaRPr lang="en-US" sz="105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0" y="4005072"/>
            <a:ext cx="523036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005072"/>
            <a:ext cx="4892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948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enable_threading</a:t>
            </a:r>
            <a:r>
              <a:rPr lang="en-US" sz="100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  —  olaylar &lt;thread&gt; düğümlerinde gruplanır</a:t>
            </a:r>
            <a:endParaRPr lang="en-US" sz="105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0" y="4663440"/>
            <a:ext cx="523036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663440"/>
            <a:ext cx="4892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948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schema_version</a:t>
            </a:r>
            <a:r>
              <a:rPr lang="en-US" sz="100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  —  üretilecek şema etiketi (varsayılan 2.2)</a:t>
            </a:r>
            <a:endParaRPr lang="en-US" sz="105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00800" y="5394960"/>
            <a:ext cx="5230368" cy="960120"/>
          </a:xfrm>
          <a:prstGeom prst="roundRect">
            <a:avLst>
              <a:gd name="adj" fmla="val 7619"/>
            </a:avLst>
          </a:prstGeom>
          <a:solidFill>
            <a:srgbClr val="FEF6E7"/>
          </a:solidFill>
        </p:spPr>
      </p:sp>
      <p:sp>
        <p:nvSpPr>
          <p:cNvPr id="23" name="Text 21"/>
          <p:cNvSpPr/>
          <p:nvPr/>
        </p:nvSpPr>
        <p:spPr>
          <a:xfrm>
            <a:off x="6601968" y="5504688"/>
            <a:ext cx="484632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8A5A00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JSON / JSONL düz olay akışıdır: scope-loop hiyerarşisi ve döngü kompaktlaması yalnızca XML çıktısında uygulanır.</a:t>
            </a:r>
            <a:endParaRPr lang="en-US" sz="1050" dirty="0">
              <a:solidFill>
                <a:srgbClr val="8A5A00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BÖLÜM 1 · ÇEKIRDEK MOTOR</a:t>
            </a:r>
            <a:endParaRPr lang="en-US" sz="1200" b="1" kern="0" spc="300" dirty="0">
              <a:solidFill>
                <a:srgbClr val="0D948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Ne Kaydedilir? Delta Hesaplama</a:t>
            </a:r>
            <a:endParaRPr lang="en-US" sz="29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3492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Her 'line' olayında yerel değişkenlerin anlık görüntüsü bir öncekiyle karşılaştırılır ve yalnızca fark yazılır — tam locals dökümü değil.</a:t>
            </a:r>
            <a:endParaRPr lang="en-US" sz="12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409444"/>
            <a:ext cx="164592" cy="164592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7" name="Text 5"/>
          <p:cNvSpPr/>
          <p:nvPr/>
        </p:nvSpPr>
        <p:spPr>
          <a:xfrm>
            <a:off x="1051560" y="2240280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536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added</a:t>
            </a:r>
            <a:r>
              <a:rPr lang="en-US" sz="110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   yeni değişken kapsama girdi</a:t>
            </a:r>
            <a:endParaRPr lang="en-US" sz="115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907792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3122676"/>
            <a:ext cx="164592" cy="164592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0" name="Text 8"/>
          <p:cNvSpPr/>
          <p:nvPr/>
        </p:nvSpPr>
        <p:spPr>
          <a:xfrm>
            <a:off x="1051560" y="2953512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536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changed</a:t>
            </a:r>
            <a:r>
              <a:rPr lang="en-US" sz="110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   değer değişti — old ve new birlikte saklanır</a:t>
            </a:r>
            <a:endParaRPr lang="en-US" sz="115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621024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3835908"/>
            <a:ext cx="164592" cy="164592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13" name="Text 11"/>
          <p:cNvSpPr/>
          <p:nvPr/>
        </p:nvSpPr>
        <p:spPr>
          <a:xfrm>
            <a:off x="1051560" y="3666744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536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removed</a:t>
            </a:r>
            <a:r>
              <a:rPr lang="en-US" sz="110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   değişken kapsamdan çıktı</a:t>
            </a:r>
            <a:endParaRPr lang="en-US" sz="115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4434840"/>
            <a:ext cx="53492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0D948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Değer temsilleri repr() ile üretilir ve 240 karakterde kırpılır — dev nesneler çıktıyı şişirmez.</a:t>
            </a:r>
            <a:endParaRPr lang="en-US" sz="1100" dirty="0">
              <a:solidFill>
                <a:srgbClr val="0D948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1051560" cy="365760"/>
          </a:xfrm>
          <a:prstGeom prst="rect">
            <a:avLst/>
          </a:prstGeom>
          <a:solidFill>
            <a:srgbClr val="0B1220"/>
          </a:solidFill>
        </p:spPr>
      </p:sp>
      <p:sp>
        <p:nvSpPr>
          <p:cNvPr id="16" name="Text 14"/>
          <p:cNvSpPr/>
          <p:nvPr/>
        </p:nvSpPr>
        <p:spPr>
          <a:xfrm>
            <a:off x="621792" y="5074920"/>
            <a:ext cx="9235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Seviye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600200" y="5074920"/>
            <a:ext cx="1417320" cy="365760"/>
          </a:xfrm>
          <a:prstGeom prst="rect">
            <a:avLst/>
          </a:prstGeom>
          <a:solidFill>
            <a:srgbClr val="0B1220"/>
          </a:solidFill>
        </p:spPr>
      </p:sp>
      <p:sp>
        <p:nvSpPr>
          <p:cNvPr id="18" name="Text 16"/>
          <p:cNvSpPr/>
          <p:nvPr/>
        </p:nvSpPr>
        <p:spPr>
          <a:xfrm>
            <a:off x="1673352" y="5074920"/>
            <a:ext cx="128930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Değişken izleme</a:t>
            </a:r>
            <a:endParaRPr lang="en-US" sz="950" b="1" dirty="0">
              <a:solidFill>
                <a:srgbClr val="FFFFF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017520" y="5074920"/>
            <a:ext cx="1143000" cy="365760"/>
          </a:xfrm>
          <a:prstGeom prst="rect">
            <a:avLst/>
          </a:prstGeom>
          <a:solidFill>
            <a:srgbClr val="0B1220"/>
          </a:solidFill>
        </p:spPr>
      </p:sp>
      <p:sp>
        <p:nvSpPr>
          <p:cNvPr id="20" name="Text 18"/>
          <p:cNvSpPr/>
          <p:nvPr/>
        </p:nvSpPr>
        <p:spPr>
          <a:xfrm>
            <a:off x="3090672" y="5074920"/>
            <a:ext cx="101498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Argümanlar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60520" y="5074920"/>
            <a:ext cx="1737360" cy="365760"/>
          </a:xfrm>
          <a:prstGeom prst="rect">
            <a:avLst/>
          </a:prstGeom>
          <a:solidFill>
            <a:srgbClr val="0B1220"/>
          </a:solidFill>
        </p:spPr>
      </p:sp>
      <p:sp>
        <p:nvSpPr>
          <p:cNvPr id="22" name="Text 20"/>
          <p:cNvSpPr/>
          <p:nvPr/>
        </p:nvSpPr>
        <p:spPr>
          <a:xfrm>
            <a:off x="4233672" y="5074920"/>
            <a:ext cx="16093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line olayında locals</a:t>
            </a:r>
            <a:endParaRPr lang="en-US" sz="950" b="1" dirty="0">
              <a:solidFill>
                <a:srgbClr val="FFFFF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48640" y="5440680"/>
            <a:ext cx="10515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5440680"/>
            <a:ext cx="92354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948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minimal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600200" y="5440680"/>
            <a:ext cx="14173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73352" y="5440680"/>
            <a:ext cx="128930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kapalı</a:t>
            </a:r>
            <a:endParaRPr lang="en-US" sz="9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017520" y="5440680"/>
            <a:ext cx="11430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90672" y="5440680"/>
            <a:ext cx="10149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667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kapalı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60520" y="5440680"/>
            <a:ext cx="17373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33672" y="5440680"/>
            <a:ext cx="160934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yazılmaz</a:t>
            </a:r>
            <a:endParaRPr lang="en-US" sz="9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48640" y="5788152"/>
            <a:ext cx="1051560" cy="347472"/>
          </a:xfrm>
          <a:prstGeom prst="rect">
            <a:avLst/>
          </a:prstGeom>
          <a:solidFill>
            <a:srgbClr val="F3F6FA"/>
          </a:solidFill>
          <a:ln w="9525">
            <a:solidFill>
              <a:srgbClr val="E3E9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5788152"/>
            <a:ext cx="92354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948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normal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600200" y="5788152"/>
            <a:ext cx="1417320" cy="347472"/>
          </a:xfrm>
          <a:prstGeom prst="rect">
            <a:avLst/>
          </a:prstGeom>
          <a:solidFill>
            <a:srgbClr val="F3F6FA"/>
          </a:solidFill>
          <a:ln w="9525">
            <a:solidFill>
              <a:srgbClr val="E3E9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73352" y="5788152"/>
            <a:ext cx="128930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667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delta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017520" y="5788152"/>
            <a:ext cx="1143000" cy="347472"/>
          </a:xfrm>
          <a:prstGeom prst="rect">
            <a:avLst/>
          </a:prstGeom>
          <a:solidFill>
            <a:srgbClr val="F3F6FA"/>
          </a:solidFill>
          <a:ln w="9525">
            <a:solidFill>
              <a:srgbClr val="E3E9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90672" y="5788152"/>
            <a:ext cx="10149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667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açık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160520" y="5788152"/>
            <a:ext cx="1737360" cy="347472"/>
          </a:xfrm>
          <a:prstGeom prst="rect">
            <a:avLst/>
          </a:prstGeom>
          <a:solidFill>
            <a:srgbClr val="F3F6FA"/>
          </a:solidFill>
          <a:ln w="9525">
            <a:solidFill>
              <a:srgbClr val="E3E9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33672" y="5788152"/>
            <a:ext cx="160934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yalnızca delta</a:t>
            </a:r>
            <a:endParaRPr lang="en-US" sz="9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48640" y="6135624"/>
            <a:ext cx="10515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" y="6135624"/>
            <a:ext cx="92354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948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detailed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600200" y="6135624"/>
            <a:ext cx="14173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73352" y="6135624"/>
            <a:ext cx="128930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667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delta + tam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017520" y="6135624"/>
            <a:ext cx="11430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90672" y="6135624"/>
            <a:ext cx="10149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667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açık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160520" y="6135624"/>
            <a:ext cx="17373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33672" y="6135624"/>
            <a:ext cx="160934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delta + tam locals</a:t>
            </a:r>
            <a:endParaRPr lang="en-US" sz="9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263640" y="1371600"/>
            <a:ext cx="5376672" cy="3931920"/>
          </a:xfrm>
          <a:prstGeom prst="roundRect">
            <a:avLst>
              <a:gd name="adj" fmla="val 2093"/>
            </a:avLst>
          </a:prstGeom>
          <a:solidFill>
            <a:srgbClr val="333F50"/>
          </a:solidFill>
          <a:effectLst>
            <a:outerShdw blurRad="-2147483648" dist="-2147483648" dir="1" algn="bl" rotWithShape="0">
              <a:srgbClr val="0B1220">
                <a:alpha val="1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428232" y="1508760"/>
            <a:ext cx="82296" cy="82296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49" name="Shape 47"/>
          <p:cNvSpPr/>
          <p:nvPr/>
        </p:nvSpPr>
        <p:spPr>
          <a:xfrm>
            <a:off x="6565392" y="1508760"/>
            <a:ext cx="82296" cy="82296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50" name="Shape 48"/>
          <p:cNvSpPr/>
          <p:nvPr/>
        </p:nvSpPr>
        <p:spPr>
          <a:xfrm>
            <a:off x="6702552" y="1508760"/>
            <a:ext cx="82296" cy="82296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51" name="Text 49"/>
          <p:cNvSpPr/>
          <p:nvPr/>
        </p:nvSpPr>
        <p:spPr>
          <a:xfrm>
            <a:off x="6949440" y="1444752"/>
            <a:ext cx="4553712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trace.xml — bir satırın deltası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464808" y="1773936"/>
            <a:ext cx="4974336" cy="34198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&lt;event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id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"7"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type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"line"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timestamp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"..."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&lt;line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12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&lt;/line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&lt;source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total +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item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&lt;/source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&lt;delta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&lt;change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name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"total"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action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"changed"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type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"int"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&lt;old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&lt;/old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&lt;new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&lt;/new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&lt;/change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&lt;change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name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"item"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action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"added"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type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"int"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&lt;new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&lt;/new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&lt;/change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&lt;/delta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&lt;/event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263640" y="5486400"/>
            <a:ext cx="537667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Delta içermeyen line olayları load görünümünde gizlenir — gürültü otomatik azalır.</a:t>
            </a:r>
            <a:endParaRPr lang="en-US" sz="110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BÖLÜM 1 · ÇEKIRDEK MOTOR</a:t>
            </a:r>
            <a:endParaRPr lang="en-US" sz="1200" b="1" kern="0" spc="300" dirty="0">
              <a:solidFill>
                <a:srgbClr val="0D948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Gürültüyle Mücadele: Scope Ağacı ve Loop Compaction</a:t>
            </a:r>
            <a:endParaRPr lang="en-US" sz="29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8191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D948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Scope ağacı</a:t>
            </a:r>
            <a:endParaRPr lang="en-US" sz="1350" b="1" dirty="0">
              <a:solidFill>
                <a:srgbClr val="0D948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1901952"/>
            <a:ext cx="4846320" cy="9326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Her 'call' olayı, eşleşen 'return' ya da 'exception' olayına kadarki her şeyi çocuk olarak toplar → &lt;scope&gt;. v2.2 ile start_time, end_time ve duration eklendi: hangi çağrı ne kadar sürdü, trace'in içinde.</a:t>
            </a:r>
            <a:endParaRPr lang="en-US" sz="10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3072384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20954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D948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Loop compaction</a:t>
            </a:r>
            <a:endParaRPr lang="en-US" sz="1350" b="1" dirty="0">
              <a:solidFill>
                <a:srgbClr val="0D948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3529584"/>
            <a:ext cx="4846320" cy="9326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Aynı satırdaki for/while başlığı 3+ kez görülürse aradaki olaylar iterasyon bloklarına bölünür ve tek bir &lt;loop&gt; elementi altında toplanır: satır, kaynak kod, tip ve iterasyon sayısıyla.</a:t>
            </a:r>
            <a:endParaRPr lang="en-US" sz="10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700016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83717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D948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max_iterations</a:t>
            </a:r>
            <a:endParaRPr lang="en-US" sz="1350" b="1" dirty="0">
              <a:solidFill>
                <a:srgbClr val="0D948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5157216"/>
            <a:ext cx="4846320" cy="9326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Verilirse iterasyonların başı ve sonu korunur, ortadakiler atlanır; atlanan sayı truncated_iterations özniteliğine yazılır. &lt;summary&gt; her değişkenin ilk/son değerini ve değişim sayısını özetler.</a:t>
            </a:r>
            <a:endParaRPr lang="en-US" sz="10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72200" y="1371600"/>
            <a:ext cx="5468112" cy="4983480"/>
          </a:xfrm>
          <a:prstGeom prst="roundRect">
            <a:avLst>
              <a:gd name="adj" fmla="val 1651"/>
            </a:avLst>
          </a:prstGeom>
          <a:solidFill>
            <a:srgbClr val="333F50"/>
          </a:solidFill>
          <a:effectLst>
            <a:outerShdw blurRad="-2147483648" dist="-2147483648" dir="7" algn="bl" rotWithShape="0">
              <a:srgbClr val="0B1220">
                <a:alpha val="1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36792" y="1508760"/>
            <a:ext cx="82296" cy="82296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15" name="Shape 13"/>
          <p:cNvSpPr/>
          <p:nvPr/>
        </p:nvSpPr>
        <p:spPr>
          <a:xfrm>
            <a:off x="6473952" y="1508760"/>
            <a:ext cx="82296" cy="82296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16" name="Shape 14"/>
          <p:cNvSpPr/>
          <p:nvPr/>
        </p:nvSpPr>
        <p:spPr>
          <a:xfrm>
            <a:off x="6611112" y="1508760"/>
            <a:ext cx="82296" cy="82296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17" name="Text 15"/>
          <p:cNvSpPr/>
          <p:nvPr/>
        </p:nvSpPr>
        <p:spPr>
          <a:xfrm>
            <a:off x="6858000" y="1444752"/>
            <a:ext cx="4645152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trace.xml — kompakt döngü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73368" y="1773936"/>
            <a:ext cx="5065776" cy="44714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&lt;scope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function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"process"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duration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"0.000512"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&lt;arguments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&lt;arg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name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"values"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type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"list"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[1, 2, 3]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&lt;/arg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&lt;/arguments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&lt;loop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line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"11"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source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"for value in values:"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iterations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"3"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type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"for"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&lt;iteration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index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"0"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...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&lt;/iteration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&lt;iteration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index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"1"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...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&lt;/iteration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&lt;iteration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index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"2"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...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&lt;/iteration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&lt;summary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&lt;variable_changes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name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"value"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initial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"1"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            final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"3"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change_count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"3"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&lt;/summary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&lt;/loop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&lt;return_value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type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"list"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[2, 4, 6]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&lt;/return_value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&lt;/scope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002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spc="400" dirty="0">
                <a:solidFill>
                  <a:srgbClr val="2DD4B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BÖLÜM 2 / 5</a:t>
            </a:r>
            <a:endParaRPr lang="en-US" sz="1400" b="1" kern="0" spc="400" dirty="0">
              <a:solidFill>
                <a:srgbClr val="2DD4B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7240" y="2011680"/>
            <a:ext cx="64922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CLI Hattı</a:t>
            </a:r>
            <a:endParaRPr lang="en-US" sz="4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62179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Hedef seç → yamala → çalıştır → doğrula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630936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CA0B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TargetManifest · CodeInventory · DynamicPatcher · run · XML v2.2 · XSD</a:t>
            </a:r>
            <a:endParaRPr lang="en-US" sz="1200" dirty="0">
              <a:solidFill>
                <a:srgbClr val="8CA0B8"/>
              </a:solidFill>
              <a:latin typeface="Palatino Linotype" panose="02040502050505030304" charset="0"/>
              <a:ea typeface="Courier New" panose="02070309020205020404" pitchFamily="34" charset="-122"/>
              <a:cs typeface="Palatino Linotype" panose="0204050205050503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635240" y="1325880"/>
            <a:ext cx="512064" cy="512064"/>
          </a:xfrm>
          <a:prstGeom prst="ellipse">
            <a:avLst/>
          </a:prstGeom>
          <a:solidFill>
            <a:srgbClr val="13203A"/>
          </a:solidFill>
        </p:spPr>
      </p:sp>
      <p:sp>
        <p:nvSpPr>
          <p:cNvPr id="7" name="Text 5"/>
          <p:cNvSpPr/>
          <p:nvPr/>
        </p:nvSpPr>
        <p:spPr>
          <a:xfrm>
            <a:off x="7543800" y="1325880"/>
            <a:ext cx="69494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1</a:t>
            </a:r>
            <a:endParaRPr lang="en-US" sz="1500" b="1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348472" y="1325880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Çekirdek Motor</a:t>
            </a:r>
            <a:endParaRPr lang="en-US" sz="1600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498080" y="2103120"/>
            <a:ext cx="4069080" cy="713232"/>
          </a:xfrm>
          <a:prstGeom prst="roundRect">
            <a:avLst>
              <a:gd name="adj" fmla="val 10256"/>
            </a:avLst>
          </a:prstGeom>
          <a:solidFill>
            <a:srgbClr val="13203A"/>
          </a:solidFill>
        </p:spPr>
      </p:sp>
      <p:sp>
        <p:nvSpPr>
          <p:cNvPr id="10" name="Shape 8"/>
          <p:cNvSpPr/>
          <p:nvPr/>
        </p:nvSpPr>
        <p:spPr>
          <a:xfrm>
            <a:off x="7635240" y="2194560"/>
            <a:ext cx="512064" cy="512064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11" name="Text 9"/>
          <p:cNvSpPr/>
          <p:nvPr/>
        </p:nvSpPr>
        <p:spPr>
          <a:xfrm>
            <a:off x="7543800" y="2194560"/>
            <a:ext cx="69494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2</a:t>
            </a:r>
            <a:endParaRPr lang="en-US" sz="1500" b="1" dirty="0">
              <a:solidFill>
                <a:srgbClr val="0B1220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348472" y="2194560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CLI Hattı</a:t>
            </a:r>
            <a:endParaRPr lang="en-US" sz="1600" b="1" dirty="0">
              <a:solidFill>
                <a:srgbClr val="FFFFF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635240" y="3063240"/>
            <a:ext cx="512064" cy="512064"/>
          </a:xfrm>
          <a:prstGeom prst="ellipse">
            <a:avLst/>
          </a:prstGeom>
          <a:solidFill>
            <a:srgbClr val="13203A"/>
          </a:solidFill>
        </p:spPr>
      </p:sp>
      <p:sp>
        <p:nvSpPr>
          <p:cNvPr id="14" name="Text 12"/>
          <p:cNvSpPr/>
          <p:nvPr/>
        </p:nvSpPr>
        <p:spPr>
          <a:xfrm>
            <a:off x="7543800" y="3063240"/>
            <a:ext cx="69494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3</a:t>
            </a:r>
            <a:endParaRPr lang="en-US" sz="1500" b="1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348472" y="3063240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AI Katmanı</a:t>
            </a:r>
            <a:endParaRPr lang="en-US" sz="1600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635240" y="3931920"/>
            <a:ext cx="512064" cy="512064"/>
          </a:xfrm>
          <a:prstGeom prst="ellipse">
            <a:avLst/>
          </a:prstGeom>
          <a:solidFill>
            <a:srgbClr val="13203A"/>
          </a:solidFill>
        </p:spPr>
      </p:sp>
      <p:sp>
        <p:nvSpPr>
          <p:cNvPr id="17" name="Text 15"/>
          <p:cNvSpPr/>
          <p:nvPr/>
        </p:nvSpPr>
        <p:spPr>
          <a:xfrm>
            <a:off x="7543800" y="3931920"/>
            <a:ext cx="69494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4</a:t>
            </a:r>
            <a:endParaRPr lang="en-US" sz="1500" b="1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348472" y="3931920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Post-Mortem &amp; GUI</a:t>
            </a:r>
            <a:endParaRPr lang="en-US" sz="1600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635240" y="4800600"/>
            <a:ext cx="512064" cy="512064"/>
          </a:xfrm>
          <a:prstGeom prst="ellipse">
            <a:avLst/>
          </a:prstGeom>
          <a:solidFill>
            <a:srgbClr val="13203A"/>
          </a:solidFill>
        </p:spPr>
      </p:sp>
      <p:sp>
        <p:nvSpPr>
          <p:cNvPr id="20" name="Text 18"/>
          <p:cNvSpPr/>
          <p:nvPr/>
        </p:nvSpPr>
        <p:spPr>
          <a:xfrm>
            <a:off x="7543800" y="4800600"/>
            <a:ext cx="69494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5</a:t>
            </a:r>
            <a:endParaRPr lang="en-US" sz="1500" b="1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348472" y="4800600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Pratik Örnekler</a:t>
            </a:r>
            <a:endParaRPr lang="en-US" sz="1600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endParaRPr lang="en-US" sz="100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BÖLÜM 2 · CLI HATTI</a:t>
            </a:r>
            <a:endParaRPr lang="en-US" sz="1200" b="1" kern="0" spc="300" dirty="0">
              <a:solidFill>
                <a:srgbClr val="0D948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Hedefleme: TargetManifest</a:t>
            </a:r>
            <a:endParaRPr lang="en-US" sz="29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21435"/>
            <a:ext cx="5212080" cy="2880360"/>
          </a:xfrm>
          <a:prstGeom prst="roundRect">
            <a:avLst>
              <a:gd name="adj" fmla="val 2857"/>
            </a:avLst>
          </a:prstGeom>
          <a:solidFill>
            <a:srgbClr val="0F1A2E"/>
          </a:solidFill>
          <a:effectLst>
            <a:outerShdw blurRad="-2147483648" dist="-2147483648" dir="9" algn="bl" rotWithShape="0">
              <a:srgbClr val="0B1220">
                <a:alpha val="1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08760"/>
            <a:ext cx="82296" cy="82296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6" name="Shape 4"/>
          <p:cNvSpPr/>
          <p:nvPr/>
        </p:nvSpPr>
        <p:spPr>
          <a:xfrm>
            <a:off x="850392" y="1508760"/>
            <a:ext cx="82296" cy="82296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7" name="Shape 5"/>
          <p:cNvSpPr/>
          <p:nvPr/>
        </p:nvSpPr>
        <p:spPr>
          <a:xfrm>
            <a:off x="987552" y="1508760"/>
            <a:ext cx="82296" cy="82296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8" name="Text 6"/>
          <p:cNvSpPr/>
          <p:nvPr/>
        </p:nvSpPr>
        <p:spPr>
          <a:xfrm>
            <a:off x="1234440" y="1444752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app.targets.json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" y="1773936"/>
            <a:ext cx="4809744" cy="23682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{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  </a:t>
            </a:r>
            <a:r>
              <a:rPr lang="en-US" sz="105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"functions"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: [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    </a:t>
            </a:r>
            <a:r>
              <a:rPr lang="en-US" sz="1050" dirty="0">
                <a:solidFill>
                  <a:srgbClr val="FFC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"cli_sample_app.multiply"</a:t>
            </a:r>
            <a:endParaRPr lang="en-US" sz="1050" dirty="0">
              <a:solidFill>
                <a:srgbClr val="FFC000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C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    "cli_sample_app.process"</a:t>
            </a:r>
            <a:endParaRPr lang="en-US" sz="1050" dirty="0">
              <a:solidFill>
                <a:srgbClr val="FFC000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C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    "cli_sample_app.worker"</a:t>
            </a:r>
            <a:endParaRPr lang="en-US" sz="1050" dirty="0">
              <a:solidFill>
                <a:srgbClr val="FFC000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  ],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  </a:t>
            </a:r>
            <a:r>
              <a:rPr lang="en-US" sz="105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"files"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:        [</a:t>
            </a:r>
            <a:r>
              <a:rPr lang="en-US" sz="1050" dirty="0">
                <a:solidFill>
                  <a:srgbClr val="FFC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"tests/fixtures/cli_sample_app.py"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],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  </a:t>
            </a:r>
            <a:r>
              <a:rPr lang="en-US" sz="105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"lines"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:        [</a:t>
            </a:r>
            <a:r>
              <a:rPr lang="en-US" sz="1050" dirty="0">
                <a:solidFill>
                  <a:srgbClr val="FFC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"cli_sample_app.py:11"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],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  </a:t>
            </a:r>
            <a:r>
              <a:rPr lang="en-US" sz="105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"thread_names"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: [</a:t>
            </a:r>
            <a:r>
              <a:rPr lang="en-US" sz="1050" dirty="0">
                <a:solidFill>
                  <a:srgbClr val="FFC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"CLI-Worker"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]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438912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E7FAF6"/>
          </a:solidFill>
          <a:effectLst>
            <a:outerShdw blurRad="-2147483648" dist="-2147483648" dir="5" algn="bl" rotWithShape="0">
              <a:srgbClr val="0B1220">
                <a:alpha val="1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626864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D948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merge() = union</a:t>
            </a:r>
            <a:endParaRPr lang="en-US" sz="1350" b="1" dirty="0">
              <a:solidFill>
                <a:srgbClr val="0D948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4956048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Manuel --function hedefleri ile AI önerileri kayıpsız birleşir</a:t>
            </a:r>
            <a:endParaRPr lang="en-US" sz="110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listeler kırpılıp sıralanır (normalized). </a:t>
            </a:r>
            <a:endParaRPr lang="en-US" sz="110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Faz 1 kuralı: en az bir fonksiyon hedefi zorunludur.</a:t>
            </a:r>
            <a:endParaRPr lang="en-US" sz="110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</a:t>
            </a:r>
            <a:endParaRPr lang="en-US" sz="1000" dirty="0"/>
          </a:p>
        </p:txBody>
      </p:sp>
      <p:sp>
        <p:nvSpPr>
          <p:cNvPr id="34" name="Text Box 33"/>
          <p:cNvSpPr txBox="1"/>
          <p:nvPr/>
        </p:nvSpPr>
        <p:spPr>
          <a:xfrm>
            <a:off x="6093460" y="1321435"/>
            <a:ext cx="5609590" cy="33794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01828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  <a:sym typeface="+mn-ea"/>
              </a:rPr>
              <a:t>TargetManifest = izlenecek hedef kümesi</a:t>
            </a:r>
            <a:endParaRPr lang="en-US" sz="1400" b="1" dirty="0">
              <a:solidFill>
                <a:srgbClr val="101828"/>
              </a:solidFill>
              <a:latin typeface="Palatino Linotype" panose="02040502050505030304" charset="0"/>
              <a:ea typeface="Calibri" panose="020F0502020204030204" pitchFamily="34" charset="-122"/>
              <a:cs typeface="Palatino Linotype" panose="02040502050505030304" charset="0"/>
              <a:sym typeface="+mn-ea"/>
            </a:endParaRPr>
          </a:p>
          <a:p>
            <a:pPr marL="0" indent="0">
              <a:spcAft>
                <a:spcPts val="500"/>
              </a:spcAft>
              <a:buNone/>
            </a:pPr>
            <a:endParaRPr lang="en-US" sz="120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  <a:sym typeface="+mn-ea"/>
              </a:rPr>
              <a:t>4 boyut: functions, files, lines, thread_names</a:t>
            </a:r>
            <a:endParaRPr lang="en-US" sz="120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  <a:sym typeface="+mn-ea"/>
              </a:rPr>
              <a:t>Union merge: manuel bayraklar + AI önerisi birleştirilir, normalized() ile tekilleştirilip sıralanır</a:t>
            </a:r>
            <a:endParaRPr lang="en-US" sz="120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  <a:sym typeface="+mn-ea"/>
              </a:rPr>
              <a:t>Faz 1 kuralı: en az bir function hedefi zorunlu — yalnızca file/line ile aktivasyon henüz desteklenmez</a:t>
            </a:r>
            <a:endParaRPr lang="en-US" sz="120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  <a:sym typeface="+mn-ea"/>
              </a:rPr>
              <a:t>Her koşuda .targets.json olarak diske yazılır (tekrarlanabilirlik)</a:t>
            </a:r>
            <a:endParaRPr lang="en-US" sz="1200" dirty="0">
              <a:solidFill>
                <a:srgbClr val="334155"/>
              </a:solidFill>
              <a:latin typeface="Palatino Linotype" panose="02040502050505030304" charset="0"/>
              <a:ea typeface="Calibri" panose="020F0502020204030204" pitchFamily="34" charset="-122"/>
              <a:cs typeface="Palatino Linotype" panose="02040502050505030304" charset="0"/>
              <a:sym typeface="+mn-ea"/>
            </a:endParaRPr>
          </a:p>
          <a:p>
            <a:pPr indent="0">
              <a:spcAft>
                <a:spcPts val="500"/>
              </a:spcAft>
              <a:buSzPct val="100000"/>
              <a:buNone/>
            </a:pPr>
            <a:endParaRPr lang="en-US" sz="120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indent="0">
              <a:spcAft>
                <a:spcPts val="500"/>
              </a:spcAft>
              <a:buSzPct val="100000"/>
              <a:buNone/>
            </a:pPr>
            <a:endParaRPr lang="en-US" sz="120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01828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  <a:sym typeface="+mn-ea"/>
              </a:rPr>
              <a:t>CodeInventory</a:t>
            </a:r>
            <a:endParaRPr lang="en-US" sz="120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  <a:sym typeface="+mn-ea"/>
              </a:rPr>
              <a:t>build_code_inventory() proje kökünü AST ile tarar; LLM'e gönderilecek fonksiyon listesini üretir</a:t>
            </a:r>
            <a:endParaRPr lang="en-US" sz="120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  <a:sym typeface="+mn-ea"/>
              </a:rPr>
              <a:t>--project-root dar bile olsa --target-script her zaman ayrıca parse edilir</a:t>
            </a:r>
            <a:endParaRPr lang="en-US" sz="1200" dirty="0">
              <a:solidFill>
                <a:srgbClr val="334155"/>
              </a:solidFill>
              <a:latin typeface="Palatino Linotype" panose="02040502050505030304" charset="0"/>
              <a:ea typeface="Calibri" panose="020F0502020204030204" pitchFamily="34" charset="-122"/>
              <a:cs typeface="Palatino Linotype" panose="02040502050505030304" charset="0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BÖLÜM 2 · CLI HATTI</a:t>
            </a:r>
            <a:endParaRPr lang="en-US" sz="1200" b="1" kern="0" spc="300" dirty="0">
              <a:solidFill>
                <a:srgbClr val="0D948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DynamicPatcher: Bellekte Monkey-Patching</a:t>
            </a:r>
            <a:endParaRPr lang="en-US" sz="29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806440" cy="3383280"/>
          </a:xfrm>
          <a:prstGeom prst="roundRect">
            <a:avLst>
              <a:gd name="adj" fmla="val 2432"/>
            </a:avLst>
          </a:prstGeom>
          <a:solidFill>
            <a:srgbClr val="0F1A2E"/>
          </a:solidFill>
          <a:effectLst>
            <a:outerShdw blurRad="-2147483648" dist="-2147483648" dir="9" algn="bl" rotWithShape="0">
              <a:srgbClr val="0B1220">
                <a:alpha val="1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08760"/>
            <a:ext cx="82296" cy="82296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6" name="Shape 4"/>
          <p:cNvSpPr/>
          <p:nvPr/>
        </p:nvSpPr>
        <p:spPr>
          <a:xfrm>
            <a:off x="850392" y="1508760"/>
            <a:ext cx="82296" cy="82296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7" name="Shape 5"/>
          <p:cNvSpPr/>
          <p:nvPr/>
        </p:nvSpPr>
        <p:spPr>
          <a:xfrm>
            <a:off x="987552" y="1508760"/>
            <a:ext cx="82296" cy="82296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8" name="Text 6"/>
          <p:cNvSpPr/>
          <p:nvPr/>
        </p:nvSpPr>
        <p:spPr>
          <a:xfrm>
            <a:off x="1234440" y="1444752"/>
            <a:ext cx="498348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core/patcher.py — mekanizmanın kalbi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" y="1773936"/>
            <a:ext cx="5404104" cy="2871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original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= 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getattr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owner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 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attr_name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endParaRPr lang="en-US" sz="110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10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7DD3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@wraps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original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endParaRPr lang="en-US" sz="110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def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wrapped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(*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args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 **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kwargs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):</a:t>
            </a:r>
            <a:endParaRPr lang="en-US" sz="110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1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with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00" dirty="0">
                <a:solidFill>
                  <a:srgbClr val="7DD3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self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tracer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activate_for_current_thread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():</a:t>
            </a:r>
            <a:endParaRPr lang="en-US" sz="110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</a:t>
            </a:r>
            <a:r>
              <a:rPr lang="en-US" sz="11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return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original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(*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args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 **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kwargs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endParaRPr lang="en-US" sz="110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10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setattr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owner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 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attr_name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 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wrapped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  </a:t>
            </a:r>
            <a:r>
              <a:rPr lang="en-US" sz="1100" dirty="0">
                <a:solidFill>
                  <a:srgbClr val="7E93A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bellekte değiştir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4983480"/>
            <a:ext cx="576072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0D948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Hedef çözümü: en uzun import edilebilir modül öneki bulunur, kalan kısım öznitelik zinciriyle gezilir — mypkg.core.Class.method gibi iç içe hedefler de çalışır.</a:t>
            </a:r>
            <a:endParaRPr lang="en-US" sz="1100" dirty="0">
              <a:solidFill>
                <a:srgbClr val="0D948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629400" y="1371600"/>
            <a:ext cx="501091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-2147483648" dist="-2147483648" dir="5" algn="bl" rotWithShape="0">
              <a:srgbClr val="0B1220">
                <a:alpha val="1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0" y="14904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Dosyaya sıfır dokunuş</a:t>
            </a:r>
            <a:endParaRPr lang="en-US" sz="125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0" y="1801368"/>
            <a:ext cx="4572000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Kaynak dosya asla düzenlenmez; unpatch_all() tüm orijinal fonksiyonları geri yükler.</a:t>
            </a:r>
            <a:endParaRPr lang="en-US" sz="10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629400" y="2633472"/>
            <a:ext cx="501091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-2147483648" dist="-2147483648" dir="3" algn="bl" rotWithShape="0">
              <a:srgbClr val="0B1220">
                <a:alpha val="1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275234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Kapsam dışı yük: 0</a:t>
            </a:r>
            <a:endParaRPr lang="en-US" sz="125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858000" y="3063240"/>
            <a:ext cx="4572000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Kayıt yalnızca sarmalayıcının with bloğunda aktiftir — hedef dışındaki kod hiç izlenmez.</a:t>
            </a:r>
            <a:endParaRPr lang="en-US" sz="10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629400" y="3895344"/>
            <a:ext cx="501091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-2147483648" dist="-2147483648" dir="2" algn="bl" rotWithShape="0">
              <a:srgbClr val="0B1220">
                <a:alpha val="1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40142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__main__ istisnası</a:t>
            </a:r>
            <a:endParaRPr lang="en-US" sz="125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858000" y="4325112"/>
            <a:ext cx="4572000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Betiğin kendi fonksiyonları import edilemez, patch edilemez; onları runtime manifest + settrace ad eşleşmesi yakalar.</a:t>
            </a:r>
            <a:endParaRPr lang="en-US" sz="10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629400" y="5157216"/>
            <a:ext cx="501091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-2147483648" dist="-2147483648" dir="1" algn="bl" rotWithShape="0">
              <a:srgbClr val="0B1220">
                <a:alpha val="1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0" y="5276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patch_all() affedicidir</a:t>
            </a:r>
            <a:endParaRPr lang="en-US" sz="125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858000" y="5586984"/>
            <a:ext cx="4572000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İstisna fırlatmaz: import edilemeyen hedefler sonuç sözlüğünde False — bu bir hata değildir.</a:t>
            </a:r>
            <a:endParaRPr lang="en-US" sz="10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1828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Komut </a:t>
            </a:r>
            <a:r>
              <a:rPr lang="tr-TR" altLang="en-US" sz="3000" b="1" dirty="0">
                <a:solidFill>
                  <a:srgbClr val="101828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1</a:t>
            </a:r>
            <a:r>
              <a:rPr lang="en-US" sz="3000" b="1" dirty="0">
                <a:solidFill>
                  <a:srgbClr val="101828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 — run (1/2)</a:t>
            </a:r>
            <a:endParaRPr lang="en-US" sz="300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Ana komut: script'i çalıştır, trace üret, doğrula</a:t>
            </a:r>
            <a:endParaRPr lang="en-US" sz="1400" dirty="0">
              <a:solidFill>
                <a:srgbClr val="64748B"/>
              </a:solidFill>
              <a:latin typeface="Palatino Linotype" panose="02040502050505030304" charset="0"/>
              <a:ea typeface="Calibri" panose="020F0502020204030204" pitchFamily="34" charset="-122"/>
              <a:cs typeface="Palatino Linotype" panose="02040502050505030304" charset="0"/>
            </a:endParaRPr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502920" y="1417320"/>
          <a:ext cx="5577840" cy="1920240"/>
        </p:xfrm>
        <a:graphic>
          <a:graphicData uri="http://schemas.openxmlformats.org/drawingml/2006/table">
            <a:tbl>
              <a:tblPr/>
              <a:tblGrid>
                <a:gridCol w="1737360"/>
                <a:gridCol w="1554480"/>
                <a:gridCol w="2286000"/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Parametre</a:t>
                      </a:r>
                      <a:endParaRPr lang="en-US" sz="1050" b="1" dirty="0">
                        <a:solidFill>
                          <a:srgbClr val="FFFFFF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Varsayılan</a:t>
                      </a:r>
                      <a:endParaRPr lang="en-US" sz="1050" b="1" dirty="0">
                        <a:solidFill>
                          <a:srgbClr val="FFFFFF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Açıklama</a:t>
                      </a:r>
                      <a:endParaRPr lang="en-US" sz="1050" b="1" dirty="0">
                        <a:solidFill>
                          <a:srgbClr val="FFFFFF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--target-script</a:t>
                      </a:r>
                      <a:endParaRPr lang="en-US" sz="100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zorunlu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Çalıştırılacak Python script'i (runpy ile __main__ olarak koşar)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--project-root</a:t>
                      </a:r>
                      <a:endParaRPr lang="en-US" sz="100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script dizini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AI envanteri için proje kökü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--auto-targets</a:t>
                      </a:r>
                      <a:endParaRPr lang="en-US" sz="100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kapalı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LLM'den otomatik hedef önerisi iste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--hint</a:t>
                      </a:r>
                      <a:endParaRPr lang="en-US" sz="100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—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AI hedef seçimi için ipucu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--error-context</a:t>
                      </a:r>
                      <a:endParaRPr lang="en-US" sz="100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—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Hata/log bağlamı (AI'ya iletilir)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--agent / --model</a:t>
                      </a:r>
                      <a:endParaRPr lang="en-US" sz="100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ollama / qwen2.5:3b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AI ajanı ve modeli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977640"/>
            <a:ext cx="557784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Akış: manuel manifest + (varsa) AI manifesti → union merge → patch → runpy → XML + .targets.json → XSD doğrulaması</a:t>
            </a:r>
            <a:endParaRPr lang="en-US" sz="11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En az bir function hedefi şart: ya --function ya --auto-targets</a:t>
            </a:r>
            <a:endParaRPr lang="en-US" sz="11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AI kullanılmıyorsa (--auto-targets yoksa) ajan hiç çağrılmaz — tamamen offline çalışır</a:t>
            </a:r>
            <a:endParaRPr lang="en-US" sz="115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0" y="1417320"/>
            <a:ext cx="5303520" cy="4846320"/>
          </a:xfrm>
          <a:prstGeom prst="roundRect">
            <a:avLst>
              <a:gd name="adj" fmla="val 1509"/>
            </a:avLst>
          </a:prstGeom>
          <a:solidFill>
            <a:srgbClr val="1B2536"/>
          </a:solidFill>
          <a:effectLst>
            <a:outerShdw blurRad="88900" dist="254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47104" y="1536192"/>
            <a:ext cx="82296" cy="82296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8" name="Shape 5"/>
          <p:cNvSpPr/>
          <p:nvPr/>
        </p:nvSpPr>
        <p:spPr>
          <a:xfrm>
            <a:off x="6702552" y="1536192"/>
            <a:ext cx="82296" cy="82296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9" name="Shape 6"/>
          <p:cNvSpPr/>
          <p:nvPr/>
        </p:nvSpPr>
        <p:spPr>
          <a:xfrm>
            <a:off x="6858000" y="1536192"/>
            <a:ext cx="82296" cy="82296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10" name="Text 7"/>
          <p:cNvSpPr/>
          <p:nvPr/>
        </p:nvSpPr>
        <p:spPr>
          <a:xfrm>
            <a:off x="7086600" y="1463040"/>
            <a:ext cx="44805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A3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run — iki mod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601968" y="1783080"/>
            <a:ext cx="4919472" cy="43708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A3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A) tamamen manuel (LLM'siz, offline)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4ADE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focustracer run </a:t>
            </a:r>
            <a:r>
              <a:rPr lang="en-US" sz="105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--target-script </a:t>
            </a:r>
            <a:r>
              <a:rPr lang="en-US" sz="105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app.py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\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--function </a:t>
            </a:r>
            <a:r>
              <a:rPr lang="en-US" sz="105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app.worker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--function </a:t>
            </a:r>
            <a:r>
              <a:rPr lang="en-US" sz="105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app.process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5B4C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[*] Patched importable targets: ['app.process', 'app.worker']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5B4C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[*] XML validation: ok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5B4C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[*] Trace written to output/20260709_103001_app.xml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1828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Komut </a:t>
            </a:r>
            <a:r>
              <a:rPr lang="tr-TR" altLang="en-US" sz="3000" b="1" dirty="0">
                <a:solidFill>
                  <a:srgbClr val="101828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1</a:t>
            </a:r>
            <a:r>
              <a:rPr lang="en-US" sz="3000" b="1" dirty="0">
                <a:solidFill>
                  <a:srgbClr val="101828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 — run (2/2)</a:t>
            </a:r>
            <a:endParaRPr lang="en-US" sz="300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Trace çıktısını şekillendiren parametreler</a:t>
            </a:r>
            <a:endParaRPr lang="en-US" sz="1400" dirty="0">
              <a:solidFill>
                <a:srgbClr val="64748B"/>
              </a:solidFill>
              <a:latin typeface="Palatino Linotype" panose="02040502050505030304" charset="0"/>
              <a:ea typeface="Calibri" panose="020F0502020204030204" pitchFamily="34" charset="-122"/>
              <a:cs typeface="Palatino Linotype" panose="02040502050505030304" charset="0"/>
            </a:endParaRPr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502920" y="1417320"/>
          <a:ext cx="5577840" cy="2194560"/>
        </p:xfrm>
        <a:graphic>
          <a:graphicData uri="http://schemas.openxmlformats.org/drawingml/2006/table">
            <a:tbl>
              <a:tblPr/>
              <a:tblGrid>
                <a:gridCol w="1691640"/>
                <a:gridCol w="1234440"/>
                <a:gridCol w="2651760"/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Parametre</a:t>
                      </a:r>
                      <a:endParaRPr lang="en-US" sz="1050" b="1" dirty="0">
                        <a:solidFill>
                          <a:srgbClr val="FFFFFF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Varsayılan</a:t>
                      </a:r>
                      <a:endParaRPr lang="en-US" sz="1050" b="1" dirty="0">
                        <a:solidFill>
                          <a:srgbClr val="FFFFFF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Açıklama</a:t>
                      </a:r>
                      <a:endParaRPr lang="en-US" sz="1050" b="1" dirty="0">
                        <a:solidFill>
                          <a:srgbClr val="FFFFFF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--output</a:t>
                      </a:r>
                      <a:endParaRPr lang="en-US" sz="100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otomatik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Trace XML tam yolu; verilmezse timestamp'li ad üretilir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--output-dir</a:t>
                      </a:r>
                      <a:endParaRPr lang="en-US" sz="100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output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Otomatik adlandırmada kullanılacak klasör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--detail</a:t>
                      </a:r>
                      <a:endParaRPr lang="en-US" sz="100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detailed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minimal | normal | detailed — kayıt ayrıntısı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--max-depth</a:t>
                      </a:r>
                      <a:endParaRPr lang="en-US" sz="100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100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İzlenecek maksimum çağrı derinliği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--max-iterations</a:t>
                      </a:r>
                      <a:endParaRPr lang="en-US" sz="100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sınırsız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Loop compaction'da tutulacak iterasyon sayısı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--schema-version</a:t>
                      </a:r>
                      <a:endParaRPr lang="en-US" sz="100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2.2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XML şema sürümü etiketi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--skip-validate</a:t>
                      </a:r>
                      <a:endParaRPr lang="en-US" sz="100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kapalı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Koşu sonrası XSD doğrulamasını atla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80560"/>
            <a:ext cx="557784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Otomatik ad formatı: YYYYmmdd_HHMMSS_&lt;script&gt;.xml + yanına .targets.json</a:t>
            </a:r>
            <a:endParaRPr lang="en-US" sz="11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Doğrulama başarısızsa komut exit 1 döner; hatalar stderr'e listelenir</a:t>
            </a:r>
            <a:endParaRPr lang="en-US" sz="115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0" y="1417320"/>
            <a:ext cx="5303520" cy="4846320"/>
          </a:xfrm>
          <a:prstGeom prst="roundRect">
            <a:avLst>
              <a:gd name="adj" fmla="val 1509"/>
            </a:avLst>
          </a:prstGeom>
          <a:solidFill>
            <a:srgbClr val="1B2536"/>
          </a:solidFill>
          <a:effectLst>
            <a:outerShdw blurRad="88900" dist="254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47104" y="1536192"/>
            <a:ext cx="82296" cy="82296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8" name="Shape 5"/>
          <p:cNvSpPr/>
          <p:nvPr/>
        </p:nvSpPr>
        <p:spPr>
          <a:xfrm>
            <a:off x="6702552" y="1536192"/>
            <a:ext cx="82296" cy="82296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9" name="Shape 6"/>
          <p:cNvSpPr/>
          <p:nvPr/>
        </p:nvSpPr>
        <p:spPr>
          <a:xfrm>
            <a:off x="6858000" y="1536192"/>
            <a:ext cx="82296" cy="82296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10" name="Text 7"/>
          <p:cNvSpPr/>
          <p:nvPr/>
        </p:nvSpPr>
        <p:spPr>
          <a:xfrm>
            <a:off x="7086600" y="1463040"/>
            <a:ext cx="44805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A3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çıktı kontrolü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601968" y="1783080"/>
            <a:ext cx="4919472" cy="43708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A3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hafif trace: az detay, sığ derinlik, kısa loop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4ADE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focustracer run </a:t>
            </a:r>
            <a:r>
              <a:rPr lang="en-US" sz="105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--target-script </a:t>
            </a:r>
            <a:r>
              <a:rPr lang="en-US" sz="105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app.py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\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--function </a:t>
            </a:r>
            <a:r>
              <a:rPr lang="en-US" sz="105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app.worker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\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--detail </a:t>
            </a:r>
            <a:r>
              <a:rPr lang="en-US" sz="105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minimal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--max-depth </a:t>
            </a:r>
            <a:r>
              <a:rPr lang="en-US" sz="105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\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--max-iterations </a:t>
            </a:r>
            <a:r>
              <a:rPr lang="en-US" sz="105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5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A3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tam kontrol: belirli dosyaya, doğrulamasız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4ADE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focustracer run </a:t>
            </a:r>
            <a:r>
              <a:rPr lang="en-US" sz="105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--target-script </a:t>
            </a:r>
            <a:r>
              <a:rPr lang="en-US" sz="105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app.py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\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--function </a:t>
            </a:r>
            <a:r>
              <a:rPr lang="en-US" sz="105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app.worker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\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--output </a:t>
            </a:r>
            <a:r>
              <a:rPr lang="en-US" sz="105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output/debug_run.xml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\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--schema-version </a:t>
            </a:r>
            <a:r>
              <a:rPr lang="en-US" sz="105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2.1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--skip-validate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BÖLÜM 2 · ÇIKTI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25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v2.2 XML Anatomisi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903720" cy="4983480"/>
          </a:xfrm>
          <a:prstGeom prst="roundRect">
            <a:avLst>
              <a:gd name="adj" fmla="val 1651"/>
            </a:avLst>
          </a:prstGeom>
          <a:solidFill>
            <a:srgbClr val="0F1A2E"/>
          </a:solidFill>
          <a:effectLst>
            <a:outerShdw blurRad="-2147483648" dist="-2147483648" dir="2" algn="bl" rotWithShape="0">
              <a:srgbClr val="0B1220">
                <a:alpha val="1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08760"/>
            <a:ext cx="82296" cy="82296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6" name="Shape 4"/>
          <p:cNvSpPr/>
          <p:nvPr/>
        </p:nvSpPr>
        <p:spPr>
          <a:xfrm>
            <a:off x="850392" y="1508760"/>
            <a:ext cx="82296" cy="82296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7" name="Shape 5"/>
          <p:cNvSpPr/>
          <p:nvPr/>
        </p:nvSpPr>
        <p:spPr>
          <a:xfrm>
            <a:off x="987552" y="1508760"/>
            <a:ext cx="82296" cy="82296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8" name="Text 6"/>
          <p:cNvSpPr/>
          <p:nvPr/>
        </p:nvSpPr>
        <p:spPr>
          <a:xfrm>
            <a:off x="1234440" y="1444752"/>
            <a:ext cx="60807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output/20260412_232641_cli_sample_app.xml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" y="1773936"/>
            <a:ext cx="6501384" cy="44714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0"/>
              </a:lnSpc>
              <a:buNone/>
            </a:pP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&lt;trace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schema_version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0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"2.2"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00" dirty="0"/>
          </a:p>
          <a:p>
            <a:pPr marL="0" indent="0" algn="l">
              <a:lnSpc>
                <a:spcPts val="152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&lt;metadata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00" dirty="0"/>
          </a:p>
          <a:p>
            <a:pPr marL="0" indent="0" algn="l">
              <a:lnSpc>
                <a:spcPts val="152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&lt;statistics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&lt;total_events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26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&lt;/total_events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...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&lt;/statistics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00" dirty="0"/>
          </a:p>
          <a:p>
            <a:pPr marL="0" indent="0" algn="l">
              <a:lnSpc>
                <a:spcPts val="152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&lt;targets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&lt;target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type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0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"function"</a:t>
            </a:r>
            <a:endParaRPr lang="en-US" sz="1000" dirty="0"/>
          </a:p>
          <a:p>
            <a:pPr marL="0" indent="0" algn="l">
              <a:lnSpc>
                <a:spcPts val="152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         name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0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"cli_sample_app.worker"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/&gt;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&lt;/targets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00" dirty="0"/>
          </a:p>
          <a:p>
            <a:pPr marL="0" indent="0" algn="l">
              <a:lnSpc>
                <a:spcPts val="152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&lt;/metadata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00" dirty="0"/>
          </a:p>
          <a:p>
            <a:pPr marL="0" indent="0" algn="l">
              <a:lnSpc>
                <a:spcPts val="152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&lt;events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00" dirty="0"/>
          </a:p>
          <a:p>
            <a:pPr marL="0" indent="0" algn="l">
              <a:lnSpc>
                <a:spcPts val="152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&lt;thread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id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0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"25616"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name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0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"CLI-Worker"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00" dirty="0"/>
          </a:p>
          <a:p>
            <a:pPr marL="0" indent="0" algn="l">
              <a:lnSpc>
                <a:spcPts val="152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&lt;scope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function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0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"worker"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call_line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0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"16"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depth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0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"0"</a:t>
            </a:r>
            <a:endParaRPr lang="en-US" sz="1000" dirty="0"/>
          </a:p>
          <a:p>
            <a:pPr marL="0" indent="0" algn="l">
              <a:lnSpc>
                <a:spcPts val="152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 duration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0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"0.000700"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00" dirty="0"/>
          </a:p>
          <a:p>
            <a:pPr marL="0" indent="0" algn="l">
              <a:lnSpc>
                <a:spcPts val="152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&lt;arguments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00" dirty="0"/>
          </a:p>
          <a:p>
            <a:pPr marL="0" indent="0" algn="l">
              <a:lnSpc>
                <a:spcPts val="152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&lt;arg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name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0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"data"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type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0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"list"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[1, 2, 3]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&lt;/arg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00" dirty="0"/>
          </a:p>
          <a:p>
            <a:pPr marL="0" indent="0" algn="l">
              <a:lnSpc>
                <a:spcPts val="152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&lt;/arguments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00" dirty="0"/>
          </a:p>
          <a:p>
            <a:pPr marL="0" indent="0" algn="l">
              <a:lnSpc>
                <a:spcPts val="152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&lt;event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id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0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"2"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type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0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"line"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...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&lt;/event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00" dirty="0"/>
          </a:p>
          <a:p>
            <a:pPr marL="0" indent="0" algn="l">
              <a:lnSpc>
                <a:spcPts val="152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&lt;loop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line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0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"11"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iterations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0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"3"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type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0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"for"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...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&lt;/loop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00" dirty="0"/>
          </a:p>
          <a:p>
            <a:pPr marL="0" indent="0" algn="l">
              <a:lnSpc>
                <a:spcPts val="152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&lt;return_value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type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0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"list"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[2, 4, 6]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&lt;/return_value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00" dirty="0"/>
          </a:p>
          <a:p>
            <a:pPr marL="0" indent="0" algn="l">
              <a:lnSpc>
                <a:spcPts val="152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&lt;/scope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00" dirty="0"/>
          </a:p>
          <a:p>
            <a:pPr marL="0" indent="0" algn="l">
              <a:lnSpc>
                <a:spcPts val="152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&lt;/thread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00" dirty="0"/>
          </a:p>
          <a:p>
            <a:pPr marL="0" indent="0" algn="l">
              <a:lnSpc>
                <a:spcPts val="152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&lt;/events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00" dirty="0"/>
          </a:p>
          <a:p>
            <a:pPr marL="0" indent="0" algn="l">
              <a:lnSpc>
                <a:spcPts val="1520"/>
              </a:lnSpc>
              <a:buNone/>
            </a:pP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&lt;/trace</a:t>
            </a:r>
            <a:r>
              <a:rPr lang="en-US" sz="10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680960" y="1371600"/>
            <a:ext cx="395020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82128" y="14813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D948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&lt;thread&gt;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882128" y="1783080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enable_threading ile olaylar thread kimliğine göre gruplanır.</a:t>
            </a:r>
            <a:endParaRPr lang="en-US" sz="100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680960" y="2633472"/>
            <a:ext cx="395020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82128" y="274320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D948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&lt;scope&gt;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882128" y="3044952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Bir fonksiyon çağrısının bloğu; v2.2'de süresiyle birlikte.</a:t>
            </a:r>
            <a:endParaRPr lang="en-US" sz="100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680960" y="3895344"/>
            <a:ext cx="395020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82128" y="4005072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D948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&lt;loop&gt; + &lt;summary&gt;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882128" y="4306824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Kompakt döngü ve değişken değişim özeti.</a:t>
            </a:r>
            <a:endParaRPr lang="en-US" sz="100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680960" y="5157216"/>
            <a:ext cx="395020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82128" y="5266944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D948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CDATA kuralı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882128" y="5568696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&lt;source&gt;, &lt;old&gt;, &lt;new&gt; HTML varlığı içeriyorsa CDATA'ya sarılır; ']]&gt;' güvenli bölünür.</a:t>
            </a:r>
            <a:endParaRPr lang="en-US" sz="100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BÖLÜM 2 · ÇIKTI</a:t>
            </a:r>
            <a:endParaRPr lang="en-US" sz="1200" b="1" kern="0" spc="300" dirty="0">
              <a:solidFill>
                <a:srgbClr val="0D948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Şema Evrimi ve XSD Doğrulama</a:t>
            </a:r>
            <a:endParaRPr lang="en-US" sz="29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effectLst>
            <a:outerShdw blurRad="-2147483648" dist="-2147483648" dir="1" algn="bl" rotWithShape="0">
              <a:srgbClr val="0B1220">
                <a:alpha val="1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627632"/>
            <a:ext cx="2167128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536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v1</a:t>
            </a:r>
            <a:endParaRPr lang="en-US" sz="1900" b="1" dirty="0">
              <a:solidFill>
                <a:srgbClr val="1A2536"/>
              </a:solidFill>
              <a:latin typeface="Palatino Linotype" panose="02040502050505030304" charset="0"/>
              <a:ea typeface="Courier New" panose="02070309020205020404" pitchFamily="34" charset="-122"/>
              <a:cs typeface="Palatino Linotype" panose="020405020505050303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8096" y="2084832"/>
            <a:ext cx="2167128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Düz olay listesi; her olayda thread / file / function tekrarı.</a:t>
            </a:r>
            <a:endParaRPr lang="en-US" sz="10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127248" y="22860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→</a:t>
            </a:r>
            <a:endParaRPr lang="en-US" sz="1600" b="1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401568" y="146304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effectLst>
            <a:outerShdw blurRad="-2147483648" dist="-2147483648" dir="9" algn="bl" rotWithShape="0">
              <a:srgbClr val="0B1220">
                <a:alpha val="1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21024" y="1627632"/>
            <a:ext cx="2167128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536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v2</a:t>
            </a:r>
            <a:endParaRPr lang="en-US" sz="1900" b="1" dirty="0">
              <a:solidFill>
                <a:srgbClr val="1A2536"/>
              </a:solidFill>
              <a:latin typeface="Palatino Linotype" panose="02040502050505030304" charset="0"/>
              <a:ea typeface="Courier New" panose="02070309020205020404" pitchFamily="34" charset="-122"/>
              <a:cs typeface="Palatino Linotype" panose="020405020505050303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21024" y="2084832"/>
            <a:ext cx="2167128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&lt;scope&gt;, &lt;loop&gt;, &lt;thread&gt; hiyerarşisi; tam locals yerine delta.</a:t>
            </a:r>
            <a:endParaRPr lang="en-US" sz="10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980176" y="22860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→</a:t>
            </a:r>
            <a:endParaRPr lang="en-US" sz="1600" b="1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54496" y="146304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effectLst>
            <a:outerShdw blurRad="-2147483648" dist="-2147483648" dir="5" algn="bl" rotWithShape="0">
              <a:srgbClr val="0B1220">
                <a:alpha val="1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73952" y="1627632"/>
            <a:ext cx="2167128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536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v2.1</a:t>
            </a:r>
            <a:endParaRPr lang="en-US" sz="1900" b="1" dirty="0">
              <a:solidFill>
                <a:srgbClr val="1A2536"/>
              </a:solidFill>
              <a:latin typeface="Palatino Linotype" panose="02040502050505030304" charset="0"/>
              <a:ea typeface="Courier New" panose="02070309020205020404" pitchFamily="34" charset="-122"/>
              <a:cs typeface="Palatino Linotype" panose="0204050205050503030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73952" y="2084832"/>
            <a:ext cx="2167128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Yapının kararlılaştırılması; delta-only yaklaşım standartlaşır.</a:t>
            </a:r>
            <a:endParaRPr lang="en-US" sz="10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833104" y="22860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→</a:t>
            </a:r>
            <a:endParaRPr lang="en-US" sz="1600" b="1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107424" y="146304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7FAF6"/>
          </a:solidFill>
          <a:effectLst>
            <a:outerShdw blurRad="-2147483648" dist="-2147483648" dir="3" algn="bl" rotWithShape="0">
              <a:srgbClr val="0B1220">
                <a:alpha val="1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26880" y="1627632"/>
            <a:ext cx="2167128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D948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v2.2</a:t>
            </a:r>
            <a:endParaRPr lang="en-US" sz="1900" b="1" dirty="0">
              <a:solidFill>
                <a:srgbClr val="0D9488"/>
              </a:solidFill>
              <a:latin typeface="Palatino Linotype" panose="02040502050505030304" charset="0"/>
              <a:ea typeface="Courier New" panose="02070309020205020404" pitchFamily="34" charset="-122"/>
              <a:cs typeface="Palatino Linotype" panose="0204050205050503030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326880" y="2084832"/>
            <a:ext cx="2167128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Süreler (duration), &lt;traceback&gt;, &lt;targets&gt;, &lt;source_files&gt; — hepsi opsiyonel, geriye uyumlu.</a:t>
            </a:r>
            <a:endParaRPr lang="en-US" sz="10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effectLst>
            <a:outerShdw blurRad="-2147483648" dist="-2147483648" dir="2" algn="bl" rotWithShape="0">
              <a:srgbClr val="0B1220">
                <a:alpha val="1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4133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948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validate_xml_against_xsd(xml_path)</a:t>
            </a:r>
            <a:endParaRPr lang="en-US" sz="1250" b="1" dirty="0">
              <a:solidFill>
                <a:srgbClr val="0D9488"/>
              </a:solidFill>
              <a:latin typeface="Palatino Linotype" panose="02040502050505030304" charset="0"/>
              <a:ea typeface="Courier New" panose="02070309020205020404" pitchFamily="34" charset="-122"/>
              <a:cs typeface="Palatino Linotype" panose="0204050205050503030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77240" y="4480560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kök elementteki </a:t>
            </a:r>
            <a:r>
              <a:rPr lang="en-US" sz="1100" b="1" dirty="0">
                <a:solidFill>
                  <a:srgbClr val="1A2536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schema_version</a:t>
            </a:r>
            <a:r>
              <a:rPr lang="en-US" sz="11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 okunur  →  </a:t>
            </a:r>
            <a:r>
              <a:rPr lang="en-US" sz="1100" b="1" dirty="0">
                <a:solidFill>
                  <a:srgbClr val="1A2536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schema/trace_schema_v&lt;sürüm&gt;.xsd</a:t>
            </a:r>
            <a:r>
              <a:rPr lang="en-US" sz="11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 otomatik seçilir (tam sürüm yoksa ana sürüme düşer)  →  </a:t>
            </a:r>
            <a:r>
              <a:rPr lang="en-US" sz="1100" b="1" dirty="0">
                <a:solidFill>
                  <a:srgbClr val="1A2536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(is_valid, errors)</a:t>
            </a:r>
            <a:r>
              <a:rPr lang="en-US" sz="11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 döner.</a:t>
            </a:r>
            <a:endParaRPr lang="en-US" sz="115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8640" y="557784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3F6FA"/>
          </a:solidFill>
        </p:spPr>
      </p:sp>
      <p:sp>
        <p:nvSpPr>
          <p:cNvPr id="23" name="Text 21"/>
          <p:cNvSpPr/>
          <p:nvPr/>
        </p:nvSpPr>
        <p:spPr>
          <a:xfrm>
            <a:off x="749808" y="5577840"/>
            <a:ext cx="50292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D948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run</a:t>
            </a: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   üretim sonrası otomatik doğrular; kapatmak için --skip-validate</a:t>
            </a:r>
            <a:endParaRPr lang="en-US" sz="115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45352" y="557784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3F6FA"/>
          </a:solidFill>
        </p:spPr>
      </p:sp>
      <p:sp>
        <p:nvSpPr>
          <p:cNvPr id="25" name="Text 23"/>
          <p:cNvSpPr/>
          <p:nvPr/>
        </p:nvSpPr>
        <p:spPr>
          <a:xfrm>
            <a:off x="6446520" y="5577840"/>
            <a:ext cx="50292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D948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load</a:t>
            </a: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   görüntüleme öncesi otomatik doğrular; kapatmak için --no-validate</a:t>
            </a:r>
            <a:endParaRPr lang="en-US" sz="115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17</a:t>
            </a:r>
            <a:endParaRPr lang="en-US" sz="1000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002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spc="400" dirty="0">
                <a:solidFill>
                  <a:srgbClr val="2DD4B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BÖLÜM 3 / 5</a:t>
            </a:r>
            <a:endParaRPr lang="en-US" sz="1400" b="1" kern="0" spc="400" dirty="0">
              <a:solidFill>
                <a:srgbClr val="2DD4B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7240" y="2011680"/>
            <a:ext cx="64922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AI Katmanı</a:t>
            </a:r>
            <a:endParaRPr lang="en-US" sz="4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62179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Kod envanterinden hedef önerisine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630936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CA0B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BaseAIAgent · Ollama · OpenCode · suggest-targets · sağlamlık · install</a:t>
            </a:r>
            <a:endParaRPr lang="en-US" sz="1200" dirty="0">
              <a:solidFill>
                <a:srgbClr val="8CA0B8"/>
              </a:solidFill>
              <a:latin typeface="Palatino Linotype" panose="02040502050505030304" charset="0"/>
              <a:ea typeface="Courier New" panose="02070309020205020404" pitchFamily="34" charset="-122"/>
              <a:cs typeface="Palatino Linotype" panose="0204050205050503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635240" y="1325880"/>
            <a:ext cx="512064" cy="512064"/>
          </a:xfrm>
          <a:prstGeom prst="ellipse">
            <a:avLst/>
          </a:prstGeom>
          <a:solidFill>
            <a:srgbClr val="13203A"/>
          </a:solidFill>
        </p:spPr>
      </p:sp>
      <p:sp>
        <p:nvSpPr>
          <p:cNvPr id="7" name="Text 5"/>
          <p:cNvSpPr/>
          <p:nvPr/>
        </p:nvSpPr>
        <p:spPr>
          <a:xfrm>
            <a:off x="7543800" y="1325880"/>
            <a:ext cx="69494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1</a:t>
            </a:r>
            <a:endParaRPr lang="en-US" sz="1500" b="1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348472" y="1325880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Çekirdek Motor</a:t>
            </a:r>
            <a:endParaRPr lang="en-US" sz="1600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35240" y="2194560"/>
            <a:ext cx="512064" cy="512064"/>
          </a:xfrm>
          <a:prstGeom prst="ellipse">
            <a:avLst/>
          </a:prstGeom>
          <a:solidFill>
            <a:srgbClr val="13203A"/>
          </a:solidFill>
        </p:spPr>
      </p:sp>
      <p:sp>
        <p:nvSpPr>
          <p:cNvPr id="10" name="Text 8"/>
          <p:cNvSpPr/>
          <p:nvPr/>
        </p:nvSpPr>
        <p:spPr>
          <a:xfrm>
            <a:off x="7543800" y="2194560"/>
            <a:ext cx="69494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2</a:t>
            </a:r>
            <a:endParaRPr lang="en-US" sz="1500" b="1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348472" y="2194560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CLI Hattı</a:t>
            </a:r>
            <a:endParaRPr lang="en-US" sz="1600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498080" y="2971800"/>
            <a:ext cx="4069080" cy="713232"/>
          </a:xfrm>
          <a:prstGeom prst="roundRect">
            <a:avLst>
              <a:gd name="adj" fmla="val 10256"/>
            </a:avLst>
          </a:prstGeom>
          <a:solidFill>
            <a:srgbClr val="13203A"/>
          </a:solidFill>
        </p:spPr>
      </p:sp>
      <p:sp>
        <p:nvSpPr>
          <p:cNvPr id="13" name="Shape 11"/>
          <p:cNvSpPr/>
          <p:nvPr/>
        </p:nvSpPr>
        <p:spPr>
          <a:xfrm>
            <a:off x="7635240" y="3063240"/>
            <a:ext cx="512064" cy="512064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14" name="Text 12"/>
          <p:cNvSpPr/>
          <p:nvPr/>
        </p:nvSpPr>
        <p:spPr>
          <a:xfrm>
            <a:off x="7543800" y="3063240"/>
            <a:ext cx="69494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3</a:t>
            </a:r>
            <a:endParaRPr lang="en-US" sz="1500" b="1" dirty="0">
              <a:solidFill>
                <a:srgbClr val="0B1220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348472" y="3063240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AI Katmanı</a:t>
            </a:r>
            <a:endParaRPr lang="en-US" sz="1600" b="1" dirty="0">
              <a:solidFill>
                <a:srgbClr val="FFFFF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635240" y="3931920"/>
            <a:ext cx="512064" cy="512064"/>
          </a:xfrm>
          <a:prstGeom prst="ellipse">
            <a:avLst/>
          </a:prstGeom>
          <a:solidFill>
            <a:srgbClr val="13203A"/>
          </a:solidFill>
        </p:spPr>
      </p:sp>
      <p:sp>
        <p:nvSpPr>
          <p:cNvPr id="17" name="Text 15"/>
          <p:cNvSpPr/>
          <p:nvPr/>
        </p:nvSpPr>
        <p:spPr>
          <a:xfrm>
            <a:off x="7543800" y="3931920"/>
            <a:ext cx="69494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4</a:t>
            </a:r>
            <a:endParaRPr lang="en-US" sz="1500" b="1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348472" y="3931920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Post-Mortem &amp; GUI</a:t>
            </a:r>
            <a:endParaRPr lang="en-US" sz="1600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635240" y="4800600"/>
            <a:ext cx="512064" cy="512064"/>
          </a:xfrm>
          <a:prstGeom prst="ellipse">
            <a:avLst/>
          </a:prstGeom>
          <a:solidFill>
            <a:srgbClr val="13203A"/>
          </a:solidFill>
        </p:spPr>
      </p:sp>
      <p:sp>
        <p:nvSpPr>
          <p:cNvPr id="20" name="Text 18"/>
          <p:cNvSpPr/>
          <p:nvPr/>
        </p:nvSpPr>
        <p:spPr>
          <a:xfrm>
            <a:off x="7543800" y="4800600"/>
            <a:ext cx="69494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5</a:t>
            </a:r>
            <a:endParaRPr lang="en-US" sz="1500" b="1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348472" y="4800600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Pratik Örnekler</a:t>
            </a:r>
            <a:endParaRPr lang="en-US" sz="1600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endParaRPr lang="en-US" sz="100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1828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Komut </a:t>
            </a:r>
            <a:r>
              <a:rPr lang="tr-TR" altLang="en-US" sz="3000" b="1" dirty="0">
                <a:solidFill>
                  <a:srgbClr val="101828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2</a:t>
            </a:r>
            <a:r>
              <a:rPr lang="en-US" sz="3000" b="1" dirty="0">
                <a:solidFill>
                  <a:srgbClr val="101828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 — install</a:t>
            </a:r>
            <a:endParaRPr lang="en-US" sz="300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AI ajanlarını kurma ve yönetme merkezi</a:t>
            </a:r>
            <a:endParaRPr lang="en-US" sz="1400" dirty="0">
              <a:solidFill>
                <a:srgbClr val="64748B"/>
              </a:solidFill>
              <a:latin typeface="Palatino Linotype" panose="02040502050505030304" charset="0"/>
              <a:ea typeface="Calibri" panose="020F0502020204030204" pitchFamily="34" charset="-122"/>
              <a:cs typeface="Palatino Linotype" panose="02040502050505030304" charset="0"/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502920" y="1417320"/>
          <a:ext cx="5577840" cy="1645920"/>
        </p:xfrm>
        <a:graphic>
          <a:graphicData uri="http://schemas.openxmlformats.org/drawingml/2006/table">
            <a:tbl>
              <a:tblPr/>
              <a:tblGrid>
                <a:gridCol w="1554480"/>
                <a:gridCol w="1737360"/>
                <a:gridCol w="2286000"/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Parametre</a:t>
                      </a:r>
                      <a:endParaRPr lang="en-US" sz="1050" b="1" dirty="0">
                        <a:solidFill>
                          <a:srgbClr val="FFFFFF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Varsayılan</a:t>
                      </a:r>
                      <a:endParaRPr lang="en-US" sz="1050" b="1" dirty="0">
                        <a:solidFill>
                          <a:srgbClr val="FFFFFF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Açıklama</a:t>
                      </a:r>
                      <a:endParaRPr lang="en-US" sz="1050" b="1" dirty="0">
                        <a:solidFill>
                          <a:srgbClr val="FFFFFF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--agent</a:t>
                      </a:r>
                      <a:endParaRPr lang="en-US" sz="100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—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Doğrudan belirli kurulum akışını açar: ollama | opencode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--status</a:t>
                      </a:r>
                      <a:endParaRPr lang="en-US" sz="100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kapalı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Kurulum durum panelini gösterip çıkar (interaktif menü yok)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--model</a:t>
                      </a:r>
                      <a:endParaRPr lang="en-US" sz="100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qwen2.5:3b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Durum kontrolü ve Ollama pull için model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--ollama-url</a:t>
                      </a:r>
                      <a:endParaRPr lang="en-US" sz="100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http://localhost:11434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Ollama endpoint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--opencode-cmd</a:t>
                      </a:r>
                      <a:endParaRPr lang="en-US" sz="100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opencode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OpenCode CLI komutu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703320"/>
            <a:ext cx="5577840" cy="2560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İnteraktif menü: 1) Ollama kur  2) OpenCode kur  3) Ollama model indir  4) Durumu yenile  5) Her iki ajan için health check</a:t>
            </a:r>
            <a:endParaRPr lang="en-US" sz="11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OpenCode otomatik kurulum: npm i -g opencode-ai (npm kontrolü + kurulum doğrulaması dahil)</a:t>
            </a:r>
            <a:endParaRPr lang="en-US" sz="11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İndirilebilir modeller: qwen2.5:3b (3.2 GB, hızlı) ve qwen2.5-coder:7b (4.6 GB, kod odaklı)</a:t>
            </a:r>
            <a:endParaRPr lang="en-US" sz="115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0" y="1417320"/>
            <a:ext cx="5303520" cy="4846320"/>
          </a:xfrm>
          <a:prstGeom prst="roundRect">
            <a:avLst>
              <a:gd name="adj" fmla="val 1509"/>
            </a:avLst>
          </a:prstGeom>
          <a:solidFill>
            <a:srgbClr val="1B2536"/>
          </a:solidFill>
          <a:effectLst>
            <a:outerShdw blurRad="88900" dist="254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47104" y="1536192"/>
            <a:ext cx="82296" cy="82296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8" name="Shape 5"/>
          <p:cNvSpPr/>
          <p:nvPr/>
        </p:nvSpPr>
        <p:spPr>
          <a:xfrm>
            <a:off x="6702552" y="1536192"/>
            <a:ext cx="82296" cy="82296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9" name="Shape 6"/>
          <p:cNvSpPr/>
          <p:nvPr/>
        </p:nvSpPr>
        <p:spPr>
          <a:xfrm>
            <a:off x="6858000" y="1536192"/>
            <a:ext cx="82296" cy="82296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10" name="Text 7"/>
          <p:cNvSpPr/>
          <p:nvPr/>
        </p:nvSpPr>
        <p:spPr>
          <a:xfrm>
            <a:off x="7086600" y="1463040"/>
            <a:ext cx="44805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A3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install --status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601968" y="1783080"/>
            <a:ext cx="4919472" cy="43708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focustracer install </a:t>
            </a:r>
            <a:r>
              <a:rPr lang="en-US" sz="11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--status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5B4C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┌─ FocusTracer Install Center ─┐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5B4C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│ Ollama    INSTALLED          │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5B4C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│   Models: qwen2.5:3b, ...    │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5B4C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│ OpenCode  NOT INSTALLED      │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5B4C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└──────────────────────────────┘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CA3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doğrudan opencode kurulum akışı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focustracer install </a:t>
            </a:r>
            <a:r>
              <a:rPr lang="en-US" sz="11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--agent </a:t>
            </a:r>
            <a:r>
              <a:rPr lang="en-US" sz="110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opencode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CA3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farklı Ollama sunucusuyla durum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focustracer install </a:t>
            </a:r>
            <a:r>
              <a:rPr lang="en-US" sz="11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--status</a:t>
            </a: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\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1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--ollama-url </a:t>
            </a:r>
            <a:r>
              <a:rPr lang="en-US" sz="110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http://192.168.1.20:11434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1828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Komut </a:t>
            </a:r>
            <a:r>
              <a:rPr lang="tr-TR" altLang="en-US" sz="3000" b="1" dirty="0">
                <a:solidFill>
                  <a:srgbClr val="101828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3</a:t>
            </a:r>
            <a:r>
              <a:rPr lang="en-US" sz="3000" b="1" dirty="0">
                <a:solidFill>
                  <a:srgbClr val="101828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 — check-agent</a:t>
            </a:r>
            <a:endParaRPr lang="en-US" sz="300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Trace'e başlamadan önce ajan bağlantısını doğrula</a:t>
            </a:r>
            <a:endParaRPr lang="en-US" sz="1400" dirty="0">
              <a:solidFill>
                <a:srgbClr val="64748B"/>
              </a:solidFill>
              <a:latin typeface="Palatino Linotype" panose="02040502050505030304" charset="0"/>
              <a:ea typeface="Calibri" panose="020F0502020204030204" pitchFamily="34" charset="-122"/>
              <a:cs typeface="Palatino Linotype" panose="02040502050505030304" charset="0"/>
            </a:endParaRPr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502920" y="1417320"/>
          <a:ext cx="5577840" cy="1371600"/>
        </p:xfrm>
        <a:graphic>
          <a:graphicData uri="http://schemas.openxmlformats.org/drawingml/2006/table">
            <a:tbl>
              <a:tblPr/>
              <a:tblGrid>
                <a:gridCol w="1554480"/>
                <a:gridCol w="1737360"/>
                <a:gridCol w="2286000"/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Parametre</a:t>
                      </a:r>
                      <a:endParaRPr lang="en-US" sz="1050" b="1" dirty="0">
                        <a:solidFill>
                          <a:srgbClr val="FFFFFF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Varsayılan</a:t>
                      </a:r>
                      <a:endParaRPr lang="en-US" sz="1050" b="1" dirty="0">
                        <a:solidFill>
                          <a:srgbClr val="FFFFFF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Açıklama</a:t>
                      </a:r>
                      <a:endParaRPr lang="en-US" sz="1050" b="1" dirty="0">
                        <a:solidFill>
                          <a:srgbClr val="FFFFFF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--agent</a:t>
                      </a:r>
                      <a:endParaRPr lang="en-US" sz="100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ollama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Kontrol edilecek ajan: ollama | opencode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--model</a:t>
                      </a:r>
                      <a:endParaRPr lang="en-US" sz="100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qwen2.5:3b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Kullanılabilirliği sorgulanacak model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--ollama-url</a:t>
                      </a:r>
                      <a:endParaRPr lang="en-US" sz="100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http://localhost:11434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Ollama endpoint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--opencode-cmd</a:t>
                      </a:r>
                      <a:endParaRPr lang="en-US" sz="100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opencode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OpenCode CLI komutu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520440"/>
            <a:ext cx="5577840" cy="2651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01828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Exit code sözleşmesi (script'lerde kullanışlı):</a:t>
            </a:r>
            <a:endParaRPr lang="en-US" sz="11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0 → ajan sağlıklı ve model kullanılabilir</a:t>
            </a:r>
            <a:endParaRPr lang="en-US" sz="11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1 → ajana erişilemiyor (servis kapalı / bağlantı hatası)</a:t>
            </a:r>
            <a:endParaRPr lang="en-US" sz="11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2 → ajan çalışıyor ama seçilen model yüklü değil</a:t>
            </a:r>
            <a:endParaRPr lang="en-US" sz="11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suggest-targets ve run --auto-targets de aynı sağlık kontrolünü baştan yapar (fail-fast)</a:t>
            </a:r>
            <a:endParaRPr lang="en-US" sz="115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0" y="1417320"/>
            <a:ext cx="5303520" cy="4846320"/>
          </a:xfrm>
          <a:prstGeom prst="roundRect">
            <a:avLst>
              <a:gd name="adj" fmla="val 1509"/>
            </a:avLst>
          </a:prstGeom>
          <a:solidFill>
            <a:srgbClr val="1B2536"/>
          </a:solidFill>
          <a:effectLst>
            <a:outerShdw blurRad="88900" dist="254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47104" y="1536192"/>
            <a:ext cx="82296" cy="82296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8" name="Shape 5"/>
          <p:cNvSpPr/>
          <p:nvPr/>
        </p:nvSpPr>
        <p:spPr>
          <a:xfrm>
            <a:off x="6702552" y="1536192"/>
            <a:ext cx="82296" cy="82296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9" name="Shape 6"/>
          <p:cNvSpPr/>
          <p:nvPr/>
        </p:nvSpPr>
        <p:spPr>
          <a:xfrm>
            <a:off x="6858000" y="1536192"/>
            <a:ext cx="82296" cy="82296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10" name="Text 7"/>
          <p:cNvSpPr/>
          <p:nvPr/>
        </p:nvSpPr>
        <p:spPr>
          <a:xfrm>
            <a:off x="7086600" y="1463040"/>
            <a:ext cx="44805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A3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check-agent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601968" y="1783080"/>
            <a:ext cx="4919472" cy="43708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focustracer check-agent </a:t>
            </a:r>
            <a:r>
              <a:rPr lang="en-US" sz="11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--agent </a:t>
            </a:r>
            <a:r>
              <a:rPr lang="en-US" sz="110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ollama</a:t>
            </a: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\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1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--model </a:t>
            </a:r>
            <a:r>
              <a:rPr lang="en-US" sz="110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qwen2.5:3b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10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"ok"</a:t>
            </a: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 </a:t>
            </a:r>
            <a:r>
              <a:rPr lang="en-US" sz="1100" dirty="0">
                <a:solidFill>
                  <a:srgbClr val="A5B4C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true</a:t>
            </a: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10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"model_available"</a:t>
            </a: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 </a:t>
            </a:r>
            <a:r>
              <a:rPr lang="en-US" sz="1100" dirty="0">
                <a:solidFill>
                  <a:srgbClr val="A5B4C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true</a:t>
            </a: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10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"available_models"</a:t>
            </a: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 [</a:t>
            </a:r>
            <a:r>
              <a:rPr lang="en-US" sz="1100" dirty="0">
                <a:solidFill>
                  <a:srgbClr val="A5B4C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"qwen2.5:3b", "llama3.2"</a:t>
            </a: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]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CA3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OpenCode + farklı model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focustracer check-agent </a:t>
            </a:r>
            <a:r>
              <a:rPr lang="en-US" sz="11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--agent </a:t>
            </a:r>
            <a:r>
              <a:rPr lang="en-US" sz="110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opencode</a:t>
            </a: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\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1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--model </a:t>
            </a:r>
            <a:r>
              <a:rPr lang="en-US" sz="110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opencode/minimax-m2.5-free</a:t>
            </a: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\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1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--opencode-cmd </a:t>
            </a:r>
            <a:r>
              <a:rPr lang="en-US" sz="110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"python -m opencode"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1828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Komut </a:t>
            </a:r>
            <a:r>
              <a:rPr lang="tr-TR" altLang="en-US" sz="3000" b="1" dirty="0">
                <a:solidFill>
                  <a:srgbClr val="101828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4</a:t>
            </a:r>
            <a:r>
              <a:rPr lang="en-US" sz="3000" b="1" dirty="0">
                <a:solidFill>
                  <a:srgbClr val="101828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 — suggest-targets (1/2)</a:t>
            </a:r>
            <a:endParaRPr lang="en-US" sz="300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Kod envanterini LLM'e gönder, hedef manifesti al</a:t>
            </a:r>
            <a:endParaRPr lang="en-US" sz="1400" dirty="0">
              <a:solidFill>
                <a:srgbClr val="64748B"/>
              </a:solidFill>
              <a:latin typeface="Palatino Linotype" panose="02040502050505030304" charset="0"/>
              <a:ea typeface="Calibri" panose="020F0502020204030204" pitchFamily="34" charset="-122"/>
              <a:cs typeface="Palatino Linotype" panose="02040502050505030304" charset="0"/>
            </a:endParaRPr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502920" y="1417320"/>
          <a:ext cx="5577840" cy="2194560"/>
        </p:xfrm>
        <a:graphic>
          <a:graphicData uri="http://schemas.openxmlformats.org/drawingml/2006/table">
            <a:tbl>
              <a:tblPr/>
              <a:tblGrid>
                <a:gridCol w="1783080"/>
                <a:gridCol w="1600200"/>
                <a:gridCol w="2194560"/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Parametre</a:t>
                      </a:r>
                      <a:endParaRPr lang="en-US" sz="1050" b="1" dirty="0">
                        <a:solidFill>
                          <a:srgbClr val="FFFFFF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Varsayılan</a:t>
                      </a:r>
                      <a:endParaRPr lang="en-US" sz="1050" b="1" dirty="0">
                        <a:solidFill>
                          <a:srgbClr val="FFFFFF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Açıklama</a:t>
                      </a:r>
                      <a:endParaRPr lang="en-US" sz="1050" b="1" dirty="0">
                        <a:solidFill>
                          <a:srgbClr val="FFFFFF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--project-root</a:t>
                      </a:r>
                      <a:endParaRPr lang="en-US" sz="100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zorunlu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Kod envanteri çıkarılacak proje kökü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--target-script</a:t>
                      </a:r>
                      <a:endParaRPr lang="en-US" sz="100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zorunlu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Çalıştırılacak hedef script (envanter bağlamı)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--hint</a:t>
                      </a:r>
                      <a:endParaRPr lang="en-US" sz="100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—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LLM'e serbest metin ipucu ("bug'ı tarif et")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--error-context</a:t>
                      </a:r>
                      <a:endParaRPr lang="en-US" sz="100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—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Traceback / log gibi hata bağlamı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--agent / --model</a:t>
                      </a:r>
                      <a:endParaRPr lang="en-US" sz="100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ollama / qwen2.5:3b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Kullanılacak ajan ve model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--ollama-url</a:t>
                      </a:r>
                      <a:endParaRPr lang="en-US" sz="100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http://localhost:11434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Ollama endpoint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--opencode-cmd</a:t>
                      </a:r>
                      <a:endParaRPr lang="en-US" sz="100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opencode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OpenCode CLI komutu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343400"/>
            <a:ext cx="557784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Varsayılan davranış: script çalıştırılmaz, trace üretilmez — sadece önerilen manifest JSON'u stdout'a yazılır</a:t>
            </a:r>
            <a:endParaRPr lang="en-US" sz="11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Manuel --function/--file/--line/--thread-name bayrakları da verilebilir; öneriyle union merge edilir</a:t>
            </a:r>
            <a:endParaRPr lang="en-US" sz="115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0" y="1417320"/>
            <a:ext cx="5303520" cy="4846320"/>
          </a:xfrm>
          <a:prstGeom prst="roundRect">
            <a:avLst>
              <a:gd name="adj" fmla="val 1509"/>
            </a:avLst>
          </a:prstGeom>
          <a:solidFill>
            <a:srgbClr val="1B2536"/>
          </a:solidFill>
          <a:effectLst>
            <a:outerShdw blurRad="88900" dist="254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47104" y="1536192"/>
            <a:ext cx="82296" cy="82296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8" name="Shape 5"/>
          <p:cNvSpPr/>
          <p:nvPr/>
        </p:nvSpPr>
        <p:spPr>
          <a:xfrm>
            <a:off x="6702552" y="1536192"/>
            <a:ext cx="82296" cy="82296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9" name="Shape 6"/>
          <p:cNvSpPr/>
          <p:nvPr/>
        </p:nvSpPr>
        <p:spPr>
          <a:xfrm>
            <a:off x="6858000" y="1536192"/>
            <a:ext cx="82296" cy="82296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10" name="Text 7"/>
          <p:cNvSpPr/>
          <p:nvPr/>
        </p:nvSpPr>
        <p:spPr>
          <a:xfrm>
            <a:off x="7086600" y="1463040"/>
            <a:ext cx="44805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A3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suggest-targets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601968" y="1783080"/>
            <a:ext cx="4919472" cy="43708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focustracer suggest-targets \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1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--project-root </a:t>
            </a:r>
            <a:r>
              <a:rPr lang="en-US" sz="110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tests/fixtures</a:t>
            </a: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\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1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--target-script </a:t>
            </a:r>
            <a:r>
              <a:rPr lang="en-US" sz="110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tests/fixtures/cli_sample_app.py</a:t>
            </a: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\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1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--hint </a:t>
            </a:r>
            <a:r>
              <a:rPr lang="en-US" sz="110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"worker yolunu ve çarpma mantığını izle"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10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"functions"</a:t>
            </a: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 [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100" dirty="0">
                <a:solidFill>
                  <a:srgbClr val="A5B4C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"cli_sample_app.multiply",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100" dirty="0">
                <a:solidFill>
                  <a:srgbClr val="A5B4C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"cli_sample_app.process",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100" dirty="0">
                <a:solidFill>
                  <a:srgbClr val="A5B4C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"cli_sample_app.worker"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],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10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"files"</a:t>
            </a: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 [], </a:t>
            </a:r>
            <a:r>
              <a:rPr lang="en-US" sz="110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"lines"</a:t>
            </a: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 [], </a:t>
            </a:r>
            <a:r>
              <a:rPr lang="en-US" sz="110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"thread_names"</a:t>
            </a: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 []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1828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Komut </a:t>
            </a:r>
            <a:r>
              <a:rPr lang="tr-TR" altLang="en-US" sz="3000" b="1" dirty="0">
                <a:solidFill>
                  <a:srgbClr val="101828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4</a:t>
            </a:r>
            <a:r>
              <a:rPr lang="en-US" sz="3000" b="1" dirty="0">
                <a:solidFill>
                  <a:srgbClr val="101828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 — suggest-targets (2/2)</a:t>
            </a:r>
            <a:endParaRPr lang="en-US" sz="300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Manifesti kaydetme ve tek komutta çalıştırma</a:t>
            </a:r>
            <a:endParaRPr lang="en-US" sz="1400" dirty="0">
              <a:solidFill>
                <a:srgbClr val="64748B"/>
              </a:solidFill>
              <a:latin typeface="Palatino Linotype" panose="02040502050505030304" charset="0"/>
              <a:ea typeface="Calibri" panose="020F0502020204030204" pitchFamily="34" charset="-122"/>
              <a:cs typeface="Palatino Linotype" panose="02040502050505030304" charset="0"/>
            </a:endParaRPr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502920" y="1417320"/>
          <a:ext cx="5806440" cy="2468880"/>
        </p:xfrm>
        <a:graphic>
          <a:graphicData uri="http://schemas.openxmlformats.org/drawingml/2006/table">
            <a:tbl>
              <a:tblPr/>
              <a:tblGrid>
                <a:gridCol w="2148840"/>
                <a:gridCol w="1097280"/>
                <a:gridCol w="2560320"/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Parametre</a:t>
                      </a:r>
                      <a:endParaRPr lang="en-US" sz="1000" b="1" dirty="0">
                        <a:solidFill>
                          <a:srgbClr val="FFFFFF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Varsayılan</a:t>
                      </a:r>
                      <a:endParaRPr lang="en-US" sz="1000" b="1" dirty="0">
                        <a:solidFill>
                          <a:srgbClr val="FFFFFF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Açıklama</a:t>
                      </a:r>
                      <a:endParaRPr lang="en-US" sz="1000" b="1" dirty="0">
                        <a:solidFill>
                          <a:srgbClr val="FFFFFF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--execute</a:t>
                      </a:r>
                      <a:endParaRPr lang="en-US" sz="95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kapalı</a:t>
                      </a:r>
                      <a:endParaRPr lang="en-US" sz="100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Öneri sonrası tracing'i hemen başlatır (merged manifest ile)</a:t>
                      </a:r>
                      <a:endParaRPr lang="en-US" sz="100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--save-manifest</a:t>
                      </a:r>
                      <a:endParaRPr lang="en-US" sz="95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kapalı</a:t>
                      </a:r>
                      <a:endParaRPr lang="en-US" sz="100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Manifesti output-dir'e timestamp'li yazar</a:t>
                      </a:r>
                      <a:endParaRPr lang="en-US" sz="100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--manifest-output</a:t>
                      </a:r>
                      <a:endParaRPr lang="en-US" sz="95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—</a:t>
                      </a:r>
                      <a:endParaRPr lang="en-US" sz="100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Manifesti belirtilen dosya yoluna yazar</a:t>
                      </a:r>
                      <a:endParaRPr lang="en-US" sz="100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--output-dir</a:t>
                      </a:r>
                      <a:endParaRPr lang="en-US" sz="95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output</a:t>
                      </a:r>
                      <a:endParaRPr lang="en-US" sz="100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--save-manifest için klasör</a:t>
                      </a:r>
                      <a:endParaRPr lang="en-US" sz="100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--trace-output</a:t>
                      </a:r>
                      <a:endParaRPr lang="en-US" sz="95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otomatik</a:t>
                      </a:r>
                      <a:endParaRPr lang="en-US" sz="100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--execute'ta trace XML yolu</a:t>
                      </a:r>
                      <a:endParaRPr lang="en-US" sz="100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--trace-output-dir</a:t>
                      </a:r>
                      <a:endParaRPr lang="en-US" sz="95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output</a:t>
                      </a:r>
                      <a:endParaRPr lang="en-US" sz="100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--execute'ta otomatik trace adı için klasör</a:t>
                      </a:r>
                      <a:endParaRPr lang="en-US" sz="100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--schema-version</a:t>
                      </a:r>
                      <a:endParaRPr lang="en-US" sz="95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2.2</a:t>
                      </a:r>
                      <a:endParaRPr lang="en-US" sz="100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--execute'ta şema sürümü</a:t>
                      </a:r>
                      <a:endParaRPr lang="en-US" sz="100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--detail / --max-depth / --max-iterations / --skip-validate</a:t>
                      </a:r>
                      <a:endParaRPr lang="en-US" sz="95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Palatino Linotype" panose="02040502050505030304" charset="0"/>
                        <a:ea typeface="Calibri" panose="020F0502020204030204" charset="0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--execute'ta run ile aynı trace ayarları</a:t>
                      </a:r>
                      <a:endParaRPr lang="en-US" sz="100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583680" y="1417320"/>
            <a:ext cx="5120640" cy="4846320"/>
          </a:xfrm>
          <a:prstGeom prst="roundRect">
            <a:avLst>
              <a:gd name="adj" fmla="val 1509"/>
            </a:avLst>
          </a:prstGeom>
          <a:solidFill>
            <a:srgbClr val="1B2536"/>
          </a:solidFill>
          <a:effectLst>
            <a:outerShdw blurRad="88900" dist="254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729984" y="1536192"/>
            <a:ext cx="82296" cy="82296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7" name="Shape 4"/>
          <p:cNvSpPr/>
          <p:nvPr/>
        </p:nvSpPr>
        <p:spPr>
          <a:xfrm>
            <a:off x="6885432" y="1536192"/>
            <a:ext cx="82296" cy="82296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8" name="Shape 5"/>
          <p:cNvSpPr/>
          <p:nvPr/>
        </p:nvSpPr>
        <p:spPr>
          <a:xfrm>
            <a:off x="7040880" y="1536192"/>
            <a:ext cx="82296" cy="82296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9" name="Text 6"/>
          <p:cNvSpPr/>
          <p:nvPr/>
        </p:nvSpPr>
        <p:spPr>
          <a:xfrm>
            <a:off x="7269480" y="1463040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A3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üç kullanım deseni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784848" y="1783080"/>
            <a:ext cx="4736592" cy="43708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A3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1) öneriyi dosyaya kaydet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4ADE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focustracer suggest-targets </a:t>
            </a:r>
            <a:r>
              <a:rPr lang="en-US" sz="105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--project-root </a:t>
            </a:r>
            <a:r>
              <a:rPr lang="en-US" sz="105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\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--target-script </a:t>
            </a:r>
            <a:r>
              <a:rPr lang="en-US" sz="105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app.py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--save-manifest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5B4C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[*] Suggested manifest written to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5B4C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output/20260709_102010_app.targets.json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A3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2) belirli bir yola yaz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4ADE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focustracer suggest-targets </a:t>
            </a:r>
            <a:r>
              <a:rPr lang="en-US" sz="105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--project-root </a:t>
            </a:r>
            <a:r>
              <a:rPr lang="en-US" sz="105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\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--target-script </a:t>
            </a:r>
            <a:r>
              <a:rPr lang="en-US" sz="105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app.py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\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--manifest-output </a:t>
            </a:r>
            <a:r>
              <a:rPr lang="en-US" sz="105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output/app.targets.json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A3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3) öner + hemen çalıştır (tek komut)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4ADE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focustracer suggest-targets </a:t>
            </a:r>
            <a:r>
              <a:rPr lang="en-US" sz="105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--project-root </a:t>
            </a:r>
            <a:r>
              <a:rPr lang="en-US" sz="105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\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--target-script </a:t>
            </a:r>
            <a:r>
              <a:rPr lang="en-US" sz="105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app.py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--hint </a:t>
            </a:r>
            <a:r>
              <a:rPr lang="en-US" sz="105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"..."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\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--execute </a:t>
            </a:r>
            <a:r>
              <a:rPr lang="en-US" sz="105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--trace-output </a:t>
            </a:r>
            <a:r>
              <a:rPr lang="en-US" sz="105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output/auto.xml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BÖLÜM 3 · AI KATMANI</a:t>
            </a:r>
            <a:endParaRPr lang="en-US" sz="1200" b="1" kern="0" spc="300" dirty="0">
              <a:solidFill>
                <a:srgbClr val="0D948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suggest-targets: LLM'e Doğru Soruyu Sormak</a:t>
            </a:r>
            <a:endParaRPr lang="en-US" sz="29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effectLst>
            <a:outerShdw blurRad="-2147483648" dist="-2147483648" dir="1" algn="bl" rotWithShape="0">
              <a:srgbClr val="0B1220">
                <a:alpha val="1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1572768"/>
            <a:ext cx="1847088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Hedef betik</a:t>
            </a:r>
            <a:endParaRPr lang="en-US" sz="12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76656" y="1901952"/>
            <a:ext cx="1847088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.py</a:t>
            </a:r>
            <a:endParaRPr lang="en-US" sz="9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633472" y="178308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A0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843784" y="1444752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effectLst>
            <a:outerShdw blurRad="-2147483648" dist="-2147483648" dir="7" algn="bl" rotWithShape="0">
              <a:srgbClr val="0B1220">
                <a:alpha val="1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71800" y="1572768"/>
            <a:ext cx="1847088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AST envanteri</a:t>
            </a:r>
            <a:endParaRPr lang="en-US" sz="12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971800" y="1901952"/>
            <a:ext cx="1847088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functions · loops · threads</a:t>
            </a:r>
            <a:endParaRPr lang="en-US" sz="9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28616" y="178308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A0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138928" y="1444752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effectLst>
            <a:outerShdw blurRad="-2147483648" dist="-2147483648" dir="4" algn="bl" rotWithShape="0">
              <a:srgbClr val="0B1220">
                <a:alpha val="1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66944" y="1572768"/>
            <a:ext cx="1847088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Prompt</a:t>
            </a:r>
            <a:endParaRPr lang="en-US" sz="12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266944" y="1901952"/>
            <a:ext cx="1847088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envanter + --hint + --error-context</a:t>
            </a:r>
            <a:endParaRPr lang="en-US" sz="9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223760" y="178308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A0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434072" y="1444752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E7FAF6"/>
          </a:solidFill>
          <a:effectLst>
            <a:outerShdw blurRad="-2147483648" dist="-2147483648" dir="2" algn="bl" rotWithShape="0">
              <a:srgbClr val="0B1220">
                <a:alpha val="1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62088" y="1572768"/>
            <a:ext cx="1847088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LLM</a:t>
            </a:r>
            <a:endParaRPr lang="en-US" sz="1200" b="1" dirty="0">
              <a:solidFill>
                <a:srgbClr val="0D948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562088" y="1901952"/>
            <a:ext cx="1847088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Ollama / OpenCode</a:t>
            </a:r>
            <a:endParaRPr lang="en-US" sz="9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518904" y="178308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A0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729216" y="1444752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effectLst>
            <a:outerShdw blurRad="-2147483648" dist="-2147483648" dir="1" algn="bl" rotWithShape="0">
              <a:srgbClr val="0B1220">
                <a:alpha val="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857232" y="1572768"/>
            <a:ext cx="1847088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TargetManifest</a:t>
            </a:r>
            <a:endParaRPr lang="en-US" sz="12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857232" y="1901952"/>
            <a:ext cx="1847088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JSON önerisi</a:t>
            </a:r>
            <a:endParaRPr lang="en-US" sz="9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66928" y="27889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sonra: </a:t>
            </a:r>
            <a:r>
              <a:rPr lang="en-US" sz="115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manuel hedeflerle union merge → stdout</a:t>
            </a:r>
            <a:r>
              <a:rPr lang="en-US" sz="11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  ·  varsayılanda betik </a:t>
            </a:r>
            <a:r>
              <a:rPr lang="en-US" sz="115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çalıştırılmaz</a:t>
            </a:r>
            <a:r>
              <a:rPr lang="en-US" sz="11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  ·  </a:t>
            </a:r>
            <a:r>
              <a:rPr lang="en-US" sz="1100" b="1" dirty="0">
                <a:solidFill>
                  <a:srgbClr val="0D948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--execute</a:t>
            </a:r>
            <a:r>
              <a:rPr lang="en-US" sz="11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 ile öneri + trace tek komutta</a:t>
            </a:r>
            <a:endParaRPr lang="en-US" sz="115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3310128"/>
            <a:ext cx="11091672" cy="2606040"/>
          </a:xfrm>
          <a:prstGeom prst="roundRect">
            <a:avLst>
              <a:gd name="adj" fmla="val 3158"/>
            </a:avLst>
          </a:prstGeom>
          <a:solidFill>
            <a:srgbClr val="0F1A2E"/>
          </a:solidFill>
          <a:effectLst>
            <a:outerShdw blurRad="-2147483648" dist="-2147483648" dir="9" algn="bl" rotWithShape="0">
              <a:srgbClr val="0B1220">
                <a:alpha val="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3447288"/>
            <a:ext cx="82296" cy="82296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26" name="Shape 24"/>
          <p:cNvSpPr/>
          <p:nvPr/>
        </p:nvSpPr>
        <p:spPr>
          <a:xfrm>
            <a:off x="850392" y="3447288"/>
            <a:ext cx="82296" cy="82296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27" name="Shape 25"/>
          <p:cNvSpPr/>
          <p:nvPr/>
        </p:nvSpPr>
        <p:spPr>
          <a:xfrm>
            <a:off x="987552" y="3447288"/>
            <a:ext cx="82296" cy="82296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28" name="Text 26"/>
          <p:cNvSpPr/>
          <p:nvPr/>
        </p:nvSpPr>
        <p:spPr>
          <a:xfrm>
            <a:off x="1234440" y="3383280"/>
            <a:ext cx="10268712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öneri modu — yalnızca manifest üretir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9808" y="3712464"/>
            <a:ext cx="10689336" cy="20939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2DD4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05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focustracer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suggest-targets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7DD3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--project-root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tests/fixtures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\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dirty="0">
                <a:solidFill>
                  <a:srgbClr val="7DD3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--target-script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tests/fixtures/cli_sample_app.py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\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dirty="0">
                <a:solidFill>
                  <a:srgbClr val="7DD3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--hint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"Trace the worker path and multiplication logic"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"functions": ["cli_sample_app.worker", "cli_sample_app.process", "cli_sample_app.multiply"],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"files": [], "lines": [], "thread_names": []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6928" y="6053328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100" dirty="0">
              <a:solidFill>
                <a:srgbClr val="0D948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BÖLÜM 3 · AI KATMANI</a:t>
            </a:r>
            <a:endParaRPr lang="en-US" sz="1200" b="1" kern="0" spc="300" dirty="0">
              <a:solidFill>
                <a:srgbClr val="0D948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Altı Katman</a:t>
            </a:r>
            <a:endParaRPr lang="en-US" sz="29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040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554480"/>
            <a:ext cx="438912" cy="438912"/>
          </a:xfrm>
          <a:prstGeom prst="ellipse">
            <a:avLst/>
          </a:prstGeom>
          <a:solidFill>
            <a:srgbClr val="0B1220"/>
          </a:solidFill>
        </p:spPr>
      </p:sp>
      <p:sp>
        <p:nvSpPr>
          <p:cNvPr id="6" name="Text 4"/>
          <p:cNvSpPr/>
          <p:nvPr/>
        </p:nvSpPr>
        <p:spPr>
          <a:xfrm>
            <a:off x="621792" y="1554480"/>
            <a:ext cx="62179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25880" y="1472184"/>
            <a:ext cx="61264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JSON modu  —  </a:t>
            </a: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İstek Ollama'nın format=json kipiyle gider; yalnızca 4 anahtarlı bir nesne istenir (temperature 0.0).</a:t>
            </a:r>
            <a:endParaRPr lang="en-US" sz="110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7040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377440"/>
            <a:ext cx="438912" cy="438912"/>
          </a:xfrm>
          <a:prstGeom prst="ellipse">
            <a:avLst/>
          </a:prstGeom>
          <a:solidFill>
            <a:srgbClr val="0B1220"/>
          </a:solidFill>
        </p:spPr>
      </p:sp>
      <p:sp>
        <p:nvSpPr>
          <p:cNvPr id="10" name="Text 8"/>
          <p:cNvSpPr/>
          <p:nvPr/>
        </p:nvSpPr>
        <p:spPr>
          <a:xfrm>
            <a:off x="621792" y="2377440"/>
            <a:ext cx="62179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5880" y="2295144"/>
            <a:ext cx="61264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Ayrıştırma zinciri  —  </a:t>
            </a: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json.loads → ast.literal_eval → ``` json kod bloğu → metindeki ilk {...} → regex ile anahtar-liste çıkarımı.</a:t>
            </a:r>
            <a:endParaRPr lang="en-US" sz="110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7040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3200400"/>
            <a:ext cx="438912" cy="438912"/>
          </a:xfrm>
          <a:prstGeom prst="ellipse">
            <a:avLst/>
          </a:prstGeom>
          <a:solidFill>
            <a:srgbClr val="0B1220"/>
          </a:solidFill>
        </p:spPr>
      </p:sp>
      <p:sp>
        <p:nvSpPr>
          <p:cNvPr id="14" name="Text 12"/>
          <p:cNvSpPr/>
          <p:nvPr/>
        </p:nvSpPr>
        <p:spPr>
          <a:xfrm>
            <a:off x="621792" y="3200400"/>
            <a:ext cx="62179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25880" y="3118104"/>
            <a:ext cx="61264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Anahtar normalizasyonu  —  </a:t>
            </a: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function, target_functions gibi takma adlar functions'a çevrilir.</a:t>
            </a:r>
            <a:endParaRPr lang="en-US" sz="110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7040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4023360"/>
            <a:ext cx="438912" cy="438912"/>
          </a:xfrm>
          <a:prstGeom prst="ellipse">
            <a:avLst/>
          </a:prstGeom>
          <a:solidFill>
            <a:srgbClr val="0B1220"/>
          </a:solidFill>
        </p:spPr>
      </p:sp>
      <p:sp>
        <p:nvSpPr>
          <p:cNvPr id="18" name="Text 16"/>
          <p:cNvSpPr/>
          <p:nvPr/>
        </p:nvSpPr>
        <p:spPr>
          <a:xfrm>
            <a:off x="621792" y="4023360"/>
            <a:ext cx="62179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25880" y="3941064"/>
            <a:ext cx="61264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Envantere hizalama  —  </a:t>
            </a: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Envanterde olmayan fonksiyonlar elenir; kısa adlar sonek eşleşmesiyle nitelikli adlara çözülür.</a:t>
            </a:r>
            <a:endParaRPr lang="en-US" sz="110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7040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4846320"/>
            <a:ext cx="438912" cy="438912"/>
          </a:xfrm>
          <a:prstGeom prst="ellipse">
            <a:avLst/>
          </a:prstGeom>
          <a:solidFill>
            <a:srgbClr val="0B1220"/>
          </a:solidFill>
        </p:spPr>
      </p:sp>
      <p:sp>
        <p:nvSpPr>
          <p:cNvPr id="22" name="Text 20"/>
          <p:cNvSpPr/>
          <p:nvPr/>
        </p:nvSpPr>
        <p:spPr>
          <a:xfrm>
            <a:off x="621792" y="4846320"/>
            <a:ext cx="62179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25880" y="4764024"/>
            <a:ext cx="61264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Retry prompt  —  </a:t>
            </a: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Liste hâlâ boşsa kompakt AVAILABLE_FUNCTIONS aday listesiyle bir kez daha sorulur.</a:t>
            </a:r>
            <a:endParaRPr lang="en-US" sz="110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7040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5669280"/>
            <a:ext cx="438912" cy="438912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26" name="Text 24"/>
          <p:cNvSpPr/>
          <p:nvPr/>
        </p:nvSpPr>
        <p:spPr>
          <a:xfrm>
            <a:off x="621792" y="5669280"/>
            <a:ext cx="62179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25880" y="5586984"/>
            <a:ext cx="61264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Sezgisel fallback  —  </a:t>
            </a: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Hint kelimeleriyle skorlanan fonksiyonlar (en çok 3) → thread hedefleri → betik-yerel → alfabetik ilk.</a:t>
            </a:r>
            <a:endParaRPr lang="en-US" sz="110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955280" y="1417320"/>
            <a:ext cx="3685032" cy="3108960"/>
          </a:xfrm>
          <a:prstGeom prst="roundRect">
            <a:avLst>
              <a:gd name="adj" fmla="val 2647"/>
            </a:avLst>
          </a:prstGeom>
          <a:solidFill>
            <a:srgbClr val="0B1220"/>
          </a:solidFill>
          <a:effectLst>
            <a:outerShdw blurRad="-2147483648" dist="-2147483648" dir="5" algn="bl" rotWithShape="0">
              <a:srgbClr val="0B1220">
                <a:alpha val="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183880" y="1828800"/>
            <a:ext cx="324612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2DD4B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"Hiçbir zaman boş</a:t>
            </a:r>
            <a:endParaRPr lang="en-US" sz="210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2DD4B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manifest dönmez."</a:t>
            </a:r>
            <a:endParaRPr lang="en-US" sz="210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183880" y="3154680"/>
            <a:ext cx="324612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C9DCF5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Sağlamlık zinciri, qwen2.5:3b gibi 3 milyar parametrelik yerel modellerle bile üretimde çalışacak şekilde tasarlandı.</a:t>
            </a:r>
            <a:endParaRPr lang="en-US" sz="1100" dirty="0">
              <a:solidFill>
                <a:srgbClr val="C9DCF5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955280" y="4754880"/>
            <a:ext cx="3685032" cy="1600200"/>
          </a:xfrm>
          <a:prstGeom prst="roundRect">
            <a:avLst>
              <a:gd name="adj" fmla="val 4571"/>
            </a:avLst>
          </a:prstGeom>
          <a:solidFill>
            <a:srgbClr val="F3F6FA"/>
          </a:solidFill>
        </p:spPr>
      </p:sp>
      <p:sp>
        <p:nvSpPr>
          <p:cNvPr id="32" name="Text 30"/>
          <p:cNvSpPr/>
          <p:nvPr/>
        </p:nvSpPr>
        <p:spPr>
          <a:xfrm>
            <a:off x="8156448" y="4901184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OpenCode da aynı yardımcıları kullanır</a:t>
            </a:r>
            <a:endParaRPr lang="en-US" sz="11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156448" y="5230368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Ayrıştırma / hizalama / fallback mantığı ajan istemcileri arasında paylaşılır — yeni ajan eklemek BaseAIAgent'ı türetmek kadar kolay.</a:t>
            </a:r>
            <a:endParaRPr lang="en-US" sz="100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002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spc="400" dirty="0">
                <a:solidFill>
                  <a:srgbClr val="2DD4B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BÖLÜM 4 / 5</a:t>
            </a:r>
            <a:endParaRPr lang="en-US" sz="1400" b="1" kern="0" spc="400" dirty="0">
              <a:solidFill>
                <a:srgbClr val="2DD4B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7240" y="2011680"/>
            <a:ext cx="64922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Post-Mortem &amp; GUI</a:t>
            </a:r>
            <a:endParaRPr lang="en-US" sz="4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62179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Kaydet, sonra istediğin kadar incele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630936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CA0B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load · TraceLoader · TraceDocument · TraceDisplayer · FastAPI · SSE</a:t>
            </a:r>
            <a:endParaRPr lang="en-US" sz="1200" dirty="0">
              <a:solidFill>
                <a:srgbClr val="8CA0B8"/>
              </a:solidFill>
              <a:latin typeface="Palatino Linotype" panose="02040502050505030304" charset="0"/>
              <a:ea typeface="Courier New" panose="02070309020205020404" pitchFamily="34" charset="-122"/>
              <a:cs typeface="Palatino Linotype" panose="0204050205050503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635240" y="1325880"/>
            <a:ext cx="512064" cy="512064"/>
          </a:xfrm>
          <a:prstGeom prst="ellipse">
            <a:avLst/>
          </a:prstGeom>
          <a:solidFill>
            <a:srgbClr val="13203A"/>
          </a:solidFill>
        </p:spPr>
      </p:sp>
      <p:sp>
        <p:nvSpPr>
          <p:cNvPr id="7" name="Text 5"/>
          <p:cNvSpPr/>
          <p:nvPr/>
        </p:nvSpPr>
        <p:spPr>
          <a:xfrm>
            <a:off x="7543800" y="1325880"/>
            <a:ext cx="69494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1</a:t>
            </a:r>
            <a:endParaRPr lang="en-US" sz="1500" b="1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348472" y="1325880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Çekirdek Motor</a:t>
            </a:r>
            <a:endParaRPr lang="en-US" sz="1600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35240" y="2194560"/>
            <a:ext cx="512064" cy="512064"/>
          </a:xfrm>
          <a:prstGeom prst="ellipse">
            <a:avLst/>
          </a:prstGeom>
          <a:solidFill>
            <a:srgbClr val="13203A"/>
          </a:solidFill>
        </p:spPr>
      </p:sp>
      <p:sp>
        <p:nvSpPr>
          <p:cNvPr id="10" name="Text 8"/>
          <p:cNvSpPr/>
          <p:nvPr/>
        </p:nvSpPr>
        <p:spPr>
          <a:xfrm>
            <a:off x="7543800" y="2194560"/>
            <a:ext cx="69494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2</a:t>
            </a:r>
            <a:endParaRPr lang="en-US" sz="1500" b="1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348472" y="2194560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CLI Hattı</a:t>
            </a:r>
            <a:endParaRPr lang="en-US" sz="1600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35240" y="3063240"/>
            <a:ext cx="512064" cy="512064"/>
          </a:xfrm>
          <a:prstGeom prst="ellipse">
            <a:avLst/>
          </a:prstGeom>
          <a:solidFill>
            <a:srgbClr val="13203A"/>
          </a:solidFill>
        </p:spPr>
      </p:sp>
      <p:sp>
        <p:nvSpPr>
          <p:cNvPr id="13" name="Text 11"/>
          <p:cNvSpPr/>
          <p:nvPr/>
        </p:nvSpPr>
        <p:spPr>
          <a:xfrm>
            <a:off x="7543800" y="3063240"/>
            <a:ext cx="69494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3</a:t>
            </a:r>
            <a:endParaRPr lang="en-US" sz="1500" b="1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348472" y="3063240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AI Katmanı</a:t>
            </a:r>
            <a:endParaRPr lang="en-US" sz="1600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98080" y="3840480"/>
            <a:ext cx="4069080" cy="713232"/>
          </a:xfrm>
          <a:prstGeom prst="roundRect">
            <a:avLst>
              <a:gd name="adj" fmla="val 10256"/>
            </a:avLst>
          </a:prstGeom>
          <a:solidFill>
            <a:srgbClr val="13203A"/>
          </a:solidFill>
        </p:spPr>
      </p:sp>
      <p:sp>
        <p:nvSpPr>
          <p:cNvPr id="16" name="Shape 14"/>
          <p:cNvSpPr/>
          <p:nvPr/>
        </p:nvSpPr>
        <p:spPr>
          <a:xfrm>
            <a:off x="7635240" y="3931920"/>
            <a:ext cx="512064" cy="512064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17" name="Text 15"/>
          <p:cNvSpPr/>
          <p:nvPr/>
        </p:nvSpPr>
        <p:spPr>
          <a:xfrm>
            <a:off x="7543800" y="3931920"/>
            <a:ext cx="69494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4</a:t>
            </a:r>
            <a:endParaRPr lang="en-US" sz="1500" b="1" dirty="0">
              <a:solidFill>
                <a:srgbClr val="0B1220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348472" y="3931920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Post-Mortem &amp; GUI</a:t>
            </a:r>
            <a:endParaRPr lang="en-US" sz="1600" b="1" dirty="0">
              <a:solidFill>
                <a:srgbClr val="FFFFF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635240" y="4800600"/>
            <a:ext cx="512064" cy="512064"/>
          </a:xfrm>
          <a:prstGeom prst="ellipse">
            <a:avLst/>
          </a:prstGeom>
          <a:solidFill>
            <a:srgbClr val="13203A"/>
          </a:solidFill>
        </p:spPr>
      </p:sp>
      <p:sp>
        <p:nvSpPr>
          <p:cNvPr id="20" name="Text 18"/>
          <p:cNvSpPr/>
          <p:nvPr/>
        </p:nvSpPr>
        <p:spPr>
          <a:xfrm>
            <a:off x="7543800" y="4800600"/>
            <a:ext cx="69494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5</a:t>
            </a:r>
            <a:endParaRPr lang="en-US" sz="1500" b="1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348472" y="4800600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Pratik Örnekler</a:t>
            </a:r>
            <a:endParaRPr lang="en-US" sz="1600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endParaRPr lang="en-US" sz="100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1828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Komut 5 — load</a:t>
            </a:r>
            <a:endParaRPr lang="en-US" sz="3000" b="1" dirty="0">
              <a:solidFill>
                <a:srgbClr val="101828"/>
              </a:solidFill>
              <a:latin typeface="Palatino Linotype" panose="02040502050505030304" charset="0"/>
              <a:ea typeface="Calibri" panose="020F0502020204030204" pitchFamily="34" charset="-122"/>
              <a:cs typeface="Palatino Linotype" panose="0204050205050503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Post-mortem: kaydedilmiş trace'i terminalde incele</a:t>
            </a:r>
            <a:endParaRPr lang="en-US" sz="1400" dirty="0">
              <a:solidFill>
                <a:srgbClr val="64748B"/>
              </a:solidFill>
              <a:latin typeface="Palatino Linotype" panose="02040502050505030304" charset="0"/>
              <a:ea typeface="Calibri" panose="020F0502020204030204" pitchFamily="34" charset="-122"/>
              <a:cs typeface="Palatino Linotype" panose="02040502050505030304" charset="0"/>
            </a:endParaRPr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502920" y="1417320"/>
          <a:ext cx="5577840" cy="1645920"/>
        </p:xfrm>
        <a:graphic>
          <a:graphicData uri="http://schemas.openxmlformats.org/drawingml/2006/table">
            <a:tbl>
              <a:tblPr/>
              <a:tblGrid>
                <a:gridCol w="1691640"/>
                <a:gridCol w="1600200"/>
                <a:gridCol w="2286000"/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Parametre</a:t>
                      </a:r>
                      <a:endParaRPr lang="en-US" sz="1050" b="1" dirty="0">
                        <a:solidFill>
                          <a:srgbClr val="FFFFFF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Varsayılan</a:t>
                      </a:r>
                      <a:endParaRPr lang="en-US" sz="1050" b="1" dirty="0">
                        <a:solidFill>
                          <a:srgbClr val="FFFFFF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Açıklama</a:t>
                      </a:r>
                      <a:endParaRPr lang="en-US" sz="1050" b="1" dirty="0">
                        <a:solidFill>
                          <a:srgbClr val="FFFFFF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trace_file</a:t>
                      </a:r>
                      <a:endParaRPr lang="en-US" sz="100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zorunlu (pozisyonel)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Yüklenecek trace XML dosyası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--summary</a:t>
                      </a:r>
                      <a:endParaRPr lang="en-US" sz="100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kapalı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Sadece istatistik tablosu; yürütme ağacını atla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--filter-function</a:t>
                      </a:r>
                      <a:endParaRPr lang="en-US" sz="100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—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Yalnızca bu fonksiyon adıyla eşleşen scope'lar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--filter-thread</a:t>
                      </a:r>
                      <a:endParaRPr lang="en-US" sz="100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—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Yalnızca bu thread ID'si veya adı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--no-validate</a:t>
                      </a:r>
                      <a:endParaRPr lang="en-US" sz="100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kapalı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Görüntülemeden önce XSD doğrulamasını atla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794760"/>
            <a:ext cx="557784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Önce XSD doğrulaması yapılır; geçmezse dosya gösterilmez (--no-validate ile zorla)</a:t>
            </a:r>
            <a:endParaRPr lang="en-US" sz="11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TraceLoader XML'i parse eder, TraceDisplayer renkli yürütme ağacı + istatistik tablosu çizer</a:t>
            </a:r>
            <a:endParaRPr lang="en-US" sz="11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Kullanım senaryosu: trace'i bir kez üret, defalarca farklı filtrelerle incele</a:t>
            </a:r>
            <a:endParaRPr lang="en-US" sz="115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0" y="1417320"/>
            <a:ext cx="5303520" cy="4846320"/>
          </a:xfrm>
          <a:prstGeom prst="roundRect">
            <a:avLst>
              <a:gd name="adj" fmla="val 1509"/>
            </a:avLst>
          </a:prstGeom>
          <a:solidFill>
            <a:srgbClr val="1B2536"/>
          </a:solidFill>
          <a:effectLst>
            <a:outerShdw blurRad="88900" dist="254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47104" y="1536192"/>
            <a:ext cx="82296" cy="82296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8" name="Shape 5"/>
          <p:cNvSpPr/>
          <p:nvPr/>
        </p:nvSpPr>
        <p:spPr>
          <a:xfrm>
            <a:off x="6702552" y="1536192"/>
            <a:ext cx="82296" cy="82296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9" name="Shape 6"/>
          <p:cNvSpPr/>
          <p:nvPr/>
        </p:nvSpPr>
        <p:spPr>
          <a:xfrm>
            <a:off x="6858000" y="1536192"/>
            <a:ext cx="82296" cy="82296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10" name="Text 7"/>
          <p:cNvSpPr/>
          <p:nvPr/>
        </p:nvSpPr>
        <p:spPr>
          <a:xfrm>
            <a:off x="7086600" y="1463040"/>
            <a:ext cx="44805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A3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load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601968" y="1783080"/>
            <a:ext cx="4919472" cy="43708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A3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tam görüntüleme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4ADE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focustracer load </a:t>
            </a:r>
            <a:r>
              <a:rPr lang="en-US" sz="105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output/20260709_103001_app.xml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A3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sadece istatistik özeti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4ADE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focustracer load </a:t>
            </a:r>
            <a:r>
              <a:rPr lang="en-US" sz="105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output/trace.xml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--summary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A3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tek fonksiyona odaklan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4ADE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focustracer load </a:t>
            </a:r>
            <a:r>
              <a:rPr lang="en-US" sz="105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output/trace.xml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\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--filter-function </a:t>
            </a:r>
            <a:r>
              <a:rPr lang="en-US" sz="105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process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A3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tek thread'e odaklan, doğrulamayı atla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4ADE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focustracer load </a:t>
            </a:r>
            <a:r>
              <a:rPr lang="en-US" sz="105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output/trace.xml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\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--filter-thread </a:t>
            </a:r>
            <a:r>
              <a:rPr lang="en-US" sz="105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CLI-Worker</a:t>
            </a: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--no-validate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BÖLÜM 4 · POST-MORTEM</a:t>
            </a:r>
            <a:endParaRPr lang="en-US" sz="1200" b="1" kern="0" spc="300" dirty="0">
              <a:solidFill>
                <a:srgbClr val="0D948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load: Kaydedilmiş Trace'i Yeniden Yaşamak</a:t>
            </a:r>
            <a:endParaRPr lang="en-US" sz="29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749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effectLst>
            <a:outerShdw blurRad="-2147483648" dist="-2147483648" algn="bl" rotWithShape="0">
              <a:srgbClr val="0B1220">
                <a:alpha val="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3619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948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TraceLoader</a:t>
            </a:r>
            <a:endParaRPr lang="en-US" sz="1250" b="1" dirty="0">
              <a:solidFill>
                <a:srgbClr val="0D9488"/>
              </a:solidFill>
              <a:latin typeface="Palatino Linotype" panose="02040502050505030304" charset="0"/>
              <a:ea typeface="Courier New" panose="02070309020205020404" pitchFamily="34" charset="-122"/>
              <a:cs typeface="Palatino Linotype" panose="020405020505050303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1847088"/>
            <a:ext cx="46177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XML'i Python veri yapılarına ayrıştırır; hem v2.x hiyerarşisini hem v1 düz formatını okur.</a:t>
            </a:r>
            <a:endParaRPr lang="en-US" sz="10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926080" y="2496312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CA0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50749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effectLst>
            <a:outerShdw blurRad="-2147483648" dist="-2147483648" algn="bl" rotWithShape="0">
              <a:srgbClr val="0B1220">
                <a:alpha val="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8346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948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TraceDocument</a:t>
            </a:r>
            <a:endParaRPr lang="en-US" sz="1250" b="1" dirty="0">
              <a:solidFill>
                <a:srgbClr val="0D9488"/>
              </a:solidFill>
              <a:latin typeface="Palatino Linotype" panose="02040502050505030304" charset="0"/>
              <a:ea typeface="Courier New" panose="02070309020205020404" pitchFamily="34" charset="-122"/>
              <a:cs typeface="Palatino Linotype" panose="020405020505050303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3145536"/>
            <a:ext cx="46177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metadata, düğüm ağacı (thread/scope/loop/event), istatistik kısayolları ve v2.2 hedef listesi.</a:t>
            </a:r>
            <a:endParaRPr lang="en-US" sz="10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926080" y="379476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CA0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014216"/>
            <a:ext cx="50749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effectLst>
            <a:outerShdw blurRad="-2147483648" dist="-2147483648" algn="bl" rotWithShape="0">
              <a:srgbClr val="0B1220">
                <a:alpha val="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4133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948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TraceDisplayer</a:t>
            </a:r>
            <a:endParaRPr lang="en-US" sz="1250" b="1" dirty="0">
              <a:solidFill>
                <a:srgbClr val="0D9488"/>
              </a:solidFill>
              <a:latin typeface="Palatino Linotype" panose="02040502050505030304" charset="0"/>
              <a:ea typeface="Courier New" panose="02070309020205020404" pitchFamily="34" charset="-122"/>
              <a:cs typeface="Palatino Linotype" panose="0204050205050503030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7240" y="4443984"/>
            <a:ext cx="46177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rich ile başlık paneli + istatistik tablosu + yürütme ağacı; rich yoksa düz metne düşer.</a:t>
            </a:r>
            <a:endParaRPr lang="en-US" sz="10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66928" y="5440680"/>
            <a:ext cx="507492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0D948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Görüntülemeden önce otomatik XSD doğrulaması yapılır; dosya yoksa FileNotFoundError, XML bozuksa ValueError — hatalar kullanıcı dostu mesajlara çevrilir.</a:t>
            </a:r>
            <a:endParaRPr lang="en-US" sz="1050" dirty="0">
              <a:solidFill>
                <a:srgbClr val="0D948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943600" y="1371600"/>
            <a:ext cx="5696712" cy="4983480"/>
          </a:xfrm>
          <a:prstGeom prst="roundRect">
            <a:avLst>
              <a:gd name="adj" fmla="val 1651"/>
            </a:avLst>
          </a:prstGeom>
          <a:solidFill>
            <a:srgbClr val="0F1A2E"/>
          </a:solidFill>
          <a:effectLst>
            <a:outerShdw blurRad="-2147483648" dist="-2147483648" algn="bl" rotWithShape="0">
              <a:srgbClr val="0B1220">
                <a:alpha val="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08192" y="1508760"/>
            <a:ext cx="82296" cy="82296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18" name="Shape 16"/>
          <p:cNvSpPr/>
          <p:nvPr/>
        </p:nvSpPr>
        <p:spPr>
          <a:xfrm>
            <a:off x="6245352" y="1508760"/>
            <a:ext cx="82296" cy="82296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19" name="Shape 17"/>
          <p:cNvSpPr/>
          <p:nvPr/>
        </p:nvSpPr>
        <p:spPr>
          <a:xfrm>
            <a:off x="6382512" y="1508760"/>
            <a:ext cx="82296" cy="82296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20" name="Text 18"/>
          <p:cNvSpPr/>
          <p:nvPr/>
        </p:nvSpPr>
        <p:spPr>
          <a:xfrm>
            <a:off x="6629400" y="1444752"/>
            <a:ext cx="4873752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post-mortem oturumu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44768" y="1773936"/>
            <a:ext cx="5294376" cy="44714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0"/>
              </a:lnSpc>
              <a:buNone/>
            </a:pPr>
            <a:r>
              <a:rPr lang="en-US" sz="1000" b="1" dirty="0">
                <a:solidFill>
                  <a:srgbClr val="2DD4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0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focustracer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load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output/20260412_..._app.xml</a:t>
            </a:r>
            <a:endParaRPr lang="en-US" sz="1000" dirty="0"/>
          </a:p>
          <a:p>
            <a:pPr marL="0" indent="0" algn="l">
              <a:lnSpc>
                <a:spcPts val="148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Trace · şema v2.2 · 26 olay · 0.0056 sn · 1 thread</a:t>
            </a:r>
            <a:endParaRPr lang="en-US" sz="1000" dirty="0"/>
          </a:p>
          <a:p>
            <a:pPr marL="0" indent="0" algn="l">
              <a:lnSpc>
                <a:spcPts val="148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└─ Thread 25616 (CLI-Worker)</a:t>
            </a:r>
            <a:endParaRPr lang="en-US" sz="1000" dirty="0"/>
          </a:p>
          <a:p>
            <a:pPr marL="0" indent="0" algn="l">
              <a:lnSpc>
                <a:spcPts val="148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└─ worker(data=[1, 2, 3])            0.7 ms</a:t>
            </a:r>
            <a:endParaRPr lang="en-US" sz="1000" dirty="0"/>
          </a:p>
          <a:p>
            <a:pPr marL="0" indent="0" algn="l">
              <a:lnSpc>
                <a:spcPts val="148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└─ process(values=[1, 2, 3])      0.5 ms</a:t>
            </a:r>
            <a:endParaRPr lang="en-US" sz="1000" dirty="0"/>
          </a:p>
          <a:p>
            <a:pPr marL="0" indent="0" algn="l">
              <a:lnSpc>
                <a:spcPts val="148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├─ loop for value in values:  ×3</a:t>
            </a:r>
            <a:endParaRPr lang="en-US" sz="1000" dirty="0"/>
          </a:p>
          <a:p>
            <a:pPr marL="0" indent="0" algn="l">
              <a:lnSpc>
                <a:spcPts val="148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│    value: 1 → 3  (3 değişim)</a:t>
            </a:r>
            <a:endParaRPr lang="en-US" sz="1000" dirty="0"/>
          </a:p>
          <a:p>
            <a:pPr marL="0" indent="0" algn="l">
              <a:lnSpc>
                <a:spcPts val="148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│    ├─ multiply(value=1) → 2</a:t>
            </a:r>
            <a:endParaRPr lang="en-US" sz="1000" dirty="0"/>
          </a:p>
          <a:p>
            <a:pPr marL="0" indent="0" algn="l">
              <a:lnSpc>
                <a:spcPts val="148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│    ├─ multiply(value=2) → 4</a:t>
            </a:r>
            <a:endParaRPr lang="en-US" sz="1000" dirty="0"/>
          </a:p>
          <a:p>
            <a:pPr marL="0" indent="0" algn="l">
              <a:lnSpc>
                <a:spcPts val="148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│    └─ multiply(value=3) → 6</a:t>
            </a:r>
            <a:endParaRPr lang="en-US" sz="1000" dirty="0"/>
          </a:p>
          <a:p>
            <a:pPr marL="0" indent="0" algn="l">
              <a:lnSpc>
                <a:spcPts val="148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└─ return [2, 4, 6]</a:t>
            </a:r>
            <a:endParaRPr lang="en-US" sz="1000" dirty="0"/>
          </a:p>
          <a:p>
            <a:pPr marL="0" indent="0" algn="l">
              <a:lnSpc>
                <a:spcPts val="148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000" dirty="0"/>
          </a:p>
          <a:p>
            <a:pPr marL="0" indent="0" algn="l">
              <a:lnSpc>
                <a:spcPts val="1480"/>
              </a:lnSpc>
              <a:buNone/>
            </a:pPr>
            <a:r>
              <a:rPr lang="en-US" sz="1000" b="1" dirty="0">
                <a:solidFill>
                  <a:srgbClr val="2DD4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0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focustracer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load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trace.xml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7DD3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--summary</a:t>
            </a:r>
            <a:endParaRPr lang="en-US" sz="1000" dirty="0"/>
          </a:p>
          <a:p>
            <a:pPr marL="0" indent="0" algn="l">
              <a:lnSpc>
                <a:spcPts val="1480"/>
              </a:lnSpc>
              <a:buNone/>
            </a:pPr>
            <a:r>
              <a:rPr lang="en-US" sz="1000" b="1" dirty="0">
                <a:solidFill>
                  <a:srgbClr val="2DD4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0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focustracer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load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trace.xml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7DD3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--filter-function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worker</a:t>
            </a:r>
            <a:endParaRPr lang="en-US" sz="1000" dirty="0"/>
          </a:p>
          <a:p>
            <a:pPr marL="0" indent="0" algn="l">
              <a:lnSpc>
                <a:spcPts val="1480"/>
              </a:lnSpc>
              <a:buNone/>
            </a:pPr>
            <a:r>
              <a:rPr lang="en-US" sz="1000" b="1" dirty="0">
                <a:solidFill>
                  <a:srgbClr val="2DD4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0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focustracer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load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trace.xml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7DD3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--filter-thread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CLI-Worker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1828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Komut 6 — gui</a:t>
            </a:r>
            <a:endParaRPr lang="en-US" sz="3000" b="1" dirty="0">
              <a:solidFill>
                <a:srgbClr val="101828"/>
              </a:solidFill>
              <a:latin typeface="Palatino Linotype" panose="02040502050505030304" charset="0"/>
              <a:ea typeface="Calibri" panose="020F0502020204030204" pitchFamily="34" charset="-122"/>
              <a:cs typeface="Palatino Linotype" panose="0204050205050503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Web arayüzü: FastAPI + React/Vite</a:t>
            </a:r>
            <a:endParaRPr lang="en-US" sz="1400" dirty="0">
              <a:solidFill>
                <a:srgbClr val="64748B"/>
              </a:solidFill>
              <a:latin typeface="Palatino Linotype" panose="02040502050505030304" charset="0"/>
              <a:ea typeface="Calibri" panose="020F0502020204030204" pitchFamily="34" charset="-122"/>
              <a:cs typeface="Palatino Linotype" panose="02040502050505030304" charset="0"/>
            </a:endParaRPr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502920" y="1417320"/>
          <a:ext cx="5577840" cy="109728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2743200"/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Parametre</a:t>
                      </a:r>
                      <a:endParaRPr lang="en-US" sz="1050" b="1" dirty="0">
                        <a:solidFill>
                          <a:srgbClr val="FFFFFF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Varsayılan</a:t>
                      </a:r>
                      <a:endParaRPr lang="en-US" sz="1050" b="1" dirty="0">
                        <a:solidFill>
                          <a:srgbClr val="FFFFFF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Açıklama</a:t>
                      </a:r>
                      <a:endParaRPr lang="en-US" sz="1050" b="1" dirty="0">
                        <a:solidFill>
                          <a:srgbClr val="FFFFFF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--host</a:t>
                      </a:r>
                      <a:endParaRPr lang="en-US" sz="100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127.0.0.1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Sunucunun bağlanacağı adres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--port</a:t>
                      </a:r>
                      <a:endParaRPr lang="en-US" sz="100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8765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Port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alatino Linotype" panose="02040502050505030304" charset="0"/>
                          <a:ea typeface="Courier New" panose="02070309020205020404" pitchFamily="34" charset="-122"/>
                          <a:cs typeface="Palatino Linotype" panose="02040502050505030304" charset="0"/>
                        </a:rPr>
                        <a:t>--no-browser</a:t>
                      </a:r>
                      <a:endParaRPr lang="en-US" sz="1000" b="1" dirty="0">
                        <a:solidFill>
                          <a:srgbClr val="0D9488"/>
                        </a:solidFill>
                        <a:latin typeface="Palatino Linotype" panose="02040502050505030304" charset="0"/>
                        <a:ea typeface="Courier New" panose="020703090202050204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kapalı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alatino Linotype" panose="02040502050505030304" charset="0"/>
                          <a:ea typeface="Calibri" panose="020F0502020204030204" pitchFamily="34" charset="-122"/>
                          <a:cs typeface="Palatino Linotype" panose="02040502050505030304" charset="0"/>
                        </a:rPr>
                        <a:t>Tarayıcıyı otomatik açma</a:t>
                      </a:r>
                      <a:endParaRPr lang="en-US" sz="1050" dirty="0">
                        <a:solidFill>
                          <a:srgbClr val="334155"/>
                        </a:solidFill>
                        <a:latin typeface="Palatino Linotype" panose="02040502050505030304" charset="0"/>
                        <a:ea typeface="Calibri" panose="020F0502020204030204" pitchFamily="34" charset="-122"/>
                        <a:cs typeface="Palatino Linotype" panose="0204050205050503030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063240"/>
            <a:ext cx="557784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01828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Özellikler</a:t>
            </a:r>
            <a:endParaRPr lang="en-US" sz="11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İşler bellek içi kuyrukta yönetilir; canlı log akışı SSE (Server-Sent Events) ile</a:t>
            </a:r>
            <a:endParaRPr lang="en-US" sz="11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Ayarlar ~/.focustracer/settings.json dosyasında kalıcı tutulur</a:t>
            </a:r>
            <a:endParaRPr lang="en-US" sz="11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Frontend önceden build edilip dist/ altından statik servis edilir (npm run build)</a:t>
            </a:r>
            <a:endParaRPr lang="en-US" sz="115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Palatino Linotype" panose="02040502050505030304" charset="0"/>
                <a:ea typeface="Calibri" panose="020F0502020204030204" pitchFamily="34" charset="-122"/>
                <a:cs typeface="Palatino Linotype" panose="02040502050505030304" charset="0"/>
              </a:rPr>
              <a:t>Docker desteği: docker build -t focustracer . &amp;&amp; docker run -p 8765:8765 focustracer</a:t>
            </a:r>
            <a:endParaRPr lang="en-US" sz="115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0" y="1417320"/>
            <a:ext cx="5303520" cy="4846320"/>
          </a:xfrm>
          <a:prstGeom prst="roundRect">
            <a:avLst>
              <a:gd name="adj" fmla="val 1509"/>
            </a:avLst>
          </a:prstGeom>
          <a:solidFill>
            <a:srgbClr val="1B2536"/>
          </a:solidFill>
          <a:effectLst>
            <a:outerShdw blurRad="88900" dist="254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47104" y="1536192"/>
            <a:ext cx="82296" cy="82296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8" name="Shape 5"/>
          <p:cNvSpPr/>
          <p:nvPr/>
        </p:nvSpPr>
        <p:spPr>
          <a:xfrm>
            <a:off x="6702552" y="1536192"/>
            <a:ext cx="82296" cy="82296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9" name="Shape 6"/>
          <p:cNvSpPr/>
          <p:nvPr/>
        </p:nvSpPr>
        <p:spPr>
          <a:xfrm>
            <a:off x="6858000" y="1536192"/>
            <a:ext cx="82296" cy="82296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10" name="Text 7"/>
          <p:cNvSpPr/>
          <p:nvPr/>
        </p:nvSpPr>
        <p:spPr>
          <a:xfrm>
            <a:off x="7086600" y="1463040"/>
            <a:ext cx="44805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A3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gui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601968" y="1783080"/>
            <a:ext cx="4919472" cy="43708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focustracer gui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5B4C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[FocusTracer GUI] Starting server at http://127.0.0.1:8765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5B4C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[FocusTracer GUI] Press Ctrl+C to stop.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CA3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ağdan erişilebilir, tarayıcısız (sunucu modu)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focustracer gui </a:t>
            </a:r>
            <a:r>
              <a:rPr lang="en-US" sz="11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--host </a:t>
            </a:r>
            <a:r>
              <a:rPr lang="en-US" sz="110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0.0.0.0</a:t>
            </a: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\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1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--port </a:t>
            </a:r>
            <a:r>
              <a:rPr lang="en-US" sz="1100" dirty="0">
                <a:solidFill>
                  <a:srgbClr val="67E8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9000</a:t>
            </a: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--no-browser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CA3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Docker ile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docker build -t focustracer .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1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docker run -p 8765:8765 focustracer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BÖLÜM 4 · WEB GUI</a:t>
            </a:r>
            <a:endParaRPr lang="en-US" sz="1200" b="1" kern="0" spc="300" dirty="0">
              <a:solidFill>
                <a:srgbClr val="0D948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FastAPI + React: Tarayıcıdan Uçtan Uca</a:t>
            </a:r>
            <a:endParaRPr lang="en-US" sz="29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effectLst>
            <a:outerShdw blurRad="-2147483648" dist="-2147483648" algn="bl" rotWithShape="0">
              <a:srgbClr val="0B1220">
                <a:alpha val="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2704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Tek süreç</a:t>
            </a:r>
            <a:endParaRPr lang="en-US" sz="125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4892040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uvicorn, önceden derlenmiş React SPA'yı (dist/) statik servis eder. focustracer gui → http://127.0.0.1:8765</a:t>
            </a:r>
            <a:endParaRPr lang="en-US" sz="10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660904"/>
            <a:ext cx="5349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effectLst>
            <a:outerShdw blurRad="-2147483648" dist="-2147483648" algn="bl" rotWithShape="0">
              <a:srgbClr val="0B1220">
                <a:alpha val="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77063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Canlı log akışı</a:t>
            </a:r>
            <a:endParaRPr lang="en-US" sz="125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3072384"/>
            <a:ext cx="4892040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Trace işleri bellek içi kuyrukta, arka plan thread'lerinde koşar; log satırları SSE ile tarayıcıya akar.</a:t>
            </a:r>
            <a:endParaRPr lang="en-US" sz="10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3904488"/>
            <a:ext cx="5349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effectLst>
            <a:outerShdw blurRad="-2147483648" dist="-2147483648" algn="bl" rotWithShape="0">
              <a:srgbClr val="0B1220">
                <a:alpha val="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01421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İş yaşam döngüsü</a:t>
            </a:r>
            <a:endParaRPr lang="en-US" sz="125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4315968"/>
            <a:ext cx="4892040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pending → running → done | error. Sonuç: trace_path, manifest_path (+ suggest'te manifest).</a:t>
            </a:r>
            <a:endParaRPr lang="en-US" sz="10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5148072"/>
            <a:ext cx="5349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effectLst>
            <a:outerShdw blurRad="-2147483648" dist="-2147483648" algn="bl" rotWithShape="0">
              <a:srgbClr val="0B1220">
                <a:alpha val="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525780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Kalıcı ayarlar</a:t>
            </a:r>
            <a:endParaRPr lang="en-US" sz="125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7240" y="5559552"/>
            <a:ext cx="4892040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~/.focustracer/settings.json — ajan, model, ollama_url, opencode_cmd, son 10 proje.</a:t>
            </a:r>
            <a:endParaRPr lang="en-US" sz="10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17920" y="1417320"/>
            <a:ext cx="5422392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effectLst>
            <a:outerShdw blurRad="-2147483648" dist="-2147483648" algn="bl" rotWithShape="0">
              <a:srgbClr val="0B1220">
                <a:alpha val="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1572768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REST API — öne çıkan uç noktalar</a:t>
            </a:r>
            <a:endParaRPr lang="en-US" sz="13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46520" y="1993392"/>
            <a:ext cx="4983480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D948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POST /api/trace/run</a:t>
            </a:r>
            <a:endParaRPr lang="en-US" sz="100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manuel hedeflerle iş başlat → {job_id}</a:t>
            </a:r>
            <a:endParaRPr lang="en-US" sz="100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46520" y="2523744"/>
            <a:ext cx="4983480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D948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POST /api/trace/suggest</a:t>
            </a:r>
            <a:endParaRPr lang="en-US" sz="100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AI önerisi + (varsayılan) çalıştırma</a:t>
            </a:r>
            <a:endParaRPr lang="en-US" sz="100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46520" y="3054096"/>
            <a:ext cx="4983480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D948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GET  /api/trace/stream/{id}</a:t>
            </a:r>
            <a:endParaRPr lang="en-US" sz="100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SSE canlı log; sonda {kind:'done'}</a:t>
            </a:r>
            <a:endParaRPr lang="en-US" sz="100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46520" y="3584448"/>
            <a:ext cx="4983480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D948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GET  /api/outputs</a:t>
            </a:r>
            <a:endParaRPr lang="en-US" sz="100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kayıtlı trace + targets.json listesi</a:t>
            </a:r>
            <a:endParaRPr lang="en-US" sz="100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46520" y="4114800"/>
            <a:ext cx="4983480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D948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GET  /api/inventory</a:t>
            </a:r>
            <a:endParaRPr lang="en-US" sz="100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kod envanteri (fonksiyon/döngü/thread)</a:t>
            </a:r>
            <a:endParaRPr lang="en-US" sz="100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46520" y="4645152"/>
            <a:ext cx="4983480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D948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GET  /api/agents/status</a:t>
            </a:r>
            <a:endParaRPr lang="en-US" sz="100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Ollama &amp; OpenCode sağlık durumu</a:t>
            </a:r>
            <a:endParaRPr lang="en-US" sz="100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46520" y="5175504"/>
            <a:ext cx="4983480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D948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GET  /api/system/info</a:t>
            </a:r>
            <a:endParaRPr lang="en-US" sz="100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CPU / RAM / GPU + Python bilgisi</a:t>
            </a:r>
            <a:endParaRPr lang="en-US" sz="100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46520" y="5705856"/>
            <a:ext cx="4983480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D948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GET  /api/ollama/metrics</a:t>
            </a:r>
            <a:endParaRPr lang="en-US" sz="100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token/s + kaba enerji tahmini</a:t>
            </a:r>
            <a:endParaRPr lang="en-US" sz="100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66928" y="6419088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Not: GUI çıktıları paket içi src/output/ dizinine yazar; CLI'nin output/ dizininden ayrıdır. Kuyruk bellek içidir — dosyalar diskte kalır.</a:t>
            </a:r>
            <a:endParaRPr lang="en-US" sz="1000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24</a:t>
            </a:r>
            <a:endParaRPr lang="en-US" sz="1000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002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spc="400" dirty="0">
                <a:solidFill>
                  <a:srgbClr val="2DD4B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BÖLÜM 5 / 5</a:t>
            </a:r>
            <a:endParaRPr lang="en-US" sz="1400" b="1" kern="0" spc="400" dirty="0">
              <a:solidFill>
                <a:srgbClr val="2DD4B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7240" y="2011680"/>
            <a:ext cx="64922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Pratik Örnekler</a:t>
            </a:r>
            <a:endParaRPr lang="en-US" sz="4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62179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Gerçek komutlar, gerçek çıktılar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630936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CA0B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uçtan uca run + load · AI destekli trace · closure bug avı · thread &amp; exception</a:t>
            </a:r>
            <a:endParaRPr lang="en-US" sz="1200" dirty="0">
              <a:solidFill>
                <a:srgbClr val="8CA0B8"/>
              </a:solidFill>
              <a:latin typeface="Palatino Linotype" panose="02040502050505030304" charset="0"/>
              <a:ea typeface="Courier New" panose="02070309020205020404" pitchFamily="34" charset="-122"/>
              <a:cs typeface="Palatino Linotype" panose="0204050205050503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635240" y="1325880"/>
            <a:ext cx="512064" cy="512064"/>
          </a:xfrm>
          <a:prstGeom prst="ellipse">
            <a:avLst/>
          </a:prstGeom>
          <a:solidFill>
            <a:srgbClr val="13203A"/>
          </a:solidFill>
        </p:spPr>
      </p:sp>
      <p:sp>
        <p:nvSpPr>
          <p:cNvPr id="7" name="Text 5"/>
          <p:cNvSpPr/>
          <p:nvPr/>
        </p:nvSpPr>
        <p:spPr>
          <a:xfrm>
            <a:off x="7543800" y="1325880"/>
            <a:ext cx="69494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1</a:t>
            </a:r>
            <a:endParaRPr lang="en-US" sz="1500" b="1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348472" y="1325880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Çekirdek Motor</a:t>
            </a:r>
            <a:endParaRPr lang="en-US" sz="1600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35240" y="2194560"/>
            <a:ext cx="512064" cy="512064"/>
          </a:xfrm>
          <a:prstGeom prst="ellipse">
            <a:avLst/>
          </a:prstGeom>
          <a:solidFill>
            <a:srgbClr val="13203A"/>
          </a:solidFill>
        </p:spPr>
      </p:sp>
      <p:sp>
        <p:nvSpPr>
          <p:cNvPr id="10" name="Text 8"/>
          <p:cNvSpPr/>
          <p:nvPr/>
        </p:nvSpPr>
        <p:spPr>
          <a:xfrm>
            <a:off x="7543800" y="2194560"/>
            <a:ext cx="69494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2</a:t>
            </a:r>
            <a:endParaRPr lang="en-US" sz="1500" b="1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348472" y="2194560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CLI Hattı</a:t>
            </a:r>
            <a:endParaRPr lang="en-US" sz="1600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35240" y="3063240"/>
            <a:ext cx="512064" cy="512064"/>
          </a:xfrm>
          <a:prstGeom prst="ellipse">
            <a:avLst/>
          </a:prstGeom>
          <a:solidFill>
            <a:srgbClr val="13203A"/>
          </a:solidFill>
        </p:spPr>
      </p:sp>
      <p:sp>
        <p:nvSpPr>
          <p:cNvPr id="13" name="Text 11"/>
          <p:cNvSpPr/>
          <p:nvPr/>
        </p:nvSpPr>
        <p:spPr>
          <a:xfrm>
            <a:off x="7543800" y="3063240"/>
            <a:ext cx="69494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3</a:t>
            </a:r>
            <a:endParaRPr lang="en-US" sz="1500" b="1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348472" y="3063240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AI Katmanı</a:t>
            </a:r>
            <a:endParaRPr lang="en-US" sz="1600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635240" y="3931920"/>
            <a:ext cx="512064" cy="512064"/>
          </a:xfrm>
          <a:prstGeom prst="ellipse">
            <a:avLst/>
          </a:prstGeom>
          <a:solidFill>
            <a:srgbClr val="13203A"/>
          </a:solidFill>
        </p:spPr>
      </p:sp>
      <p:sp>
        <p:nvSpPr>
          <p:cNvPr id="16" name="Text 14"/>
          <p:cNvSpPr/>
          <p:nvPr/>
        </p:nvSpPr>
        <p:spPr>
          <a:xfrm>
            <a:off x="7543800" y="3931920"/>
            <a:ext cx="69494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4</a:t>
            </a:r>
            <a:endParaRPr lang="en-US" sz="1500" b="1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348472" y="3931920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Post-Mortem &amp; GUI</a:t>
            </a:r>
            <a:endParaRPr lang="en-US" sz="1600" dirty="0">
              <a:solidFill>
                <a:srgbClr val="8CA0B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498080" y="4709160"/>
            <a:ext cx="4069080" cy="713232"/>
          </a:xfrm>
          <a:prstGeom prst="roundRect">
            <a:avLst>
              <a:gd name="adj" fmla="val 10256"/>
            </a:avLst>
          </a:prstGeom>
          <a:solidFill>
            <a:srgbClr val="13203A"/>
          </a:solidFill>
        </p:spPr>
      </p:sp>
      <p:sp>
        <p:nvSpPr>
          <p:cNvPr id="19" name="Shape 17"/>
          <p:cNvSpPr/>
          <p:nvPr/>
        </p:nvSpPr>
        <p:spPr>
          <a:xfrm>
            <a:off x="7635240" y="4800600"/>
            <a:ext cx="512064" cy="512064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20" name="Text 18"/>
          <p:cNvSpPr/>
          <p:nvPr/>
        </p:nvSpPr>
        <p:spPr>
          <a:xfrm>
            <a:off x="7543800" y="4800600"/>
            <a:ext cx="69494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5</a:t>
            </a:r>
            <a:endParaRPr lang="en-US" sz="1500" b="1" dirty="0">
              <a:solidFill>
                <a:srgbClr val="0B1220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348472" y="4800600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Pratik Örnekler</a:t>
            </a:r>
            <a:endParaRPr lang="en-US" sz="1600" b="1" dirty="0">
              <a:solidFill>
                <a:srgbClr val="FFFFF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endParaRPr lang="en-US" sz="100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81990" y="4846320"/>
            <a:ext cx="5993130" cy="1216025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Shape 4"/>
          <p:cNvSpPr/>
          <p:nvPr/>
        </p:nvSpPr>
        <p:spPr>
          <a:xfrm>
            <a:off x="969264" y="5064252"/>
            <a:ext cx="82296" cy="82296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25" name="Shape 5"/>
          <p:cNvSpPr/>
          <p:nvPr/>
        </p:nvSpPr>
        <p:spPr>
          <a:xfrm>
            <a:off x="1124712" y="5064252"/>
            <a:ext cx="82296" cy="82296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26" name="Shape 6"/>
          <p:cNvSpPr/>
          <p:nvPr/>
        </p:nvSpPr>
        <p:spPr>
          <a:xfrm>
            <a:off x="1280160" y="5064252"/>
            <a:ext cx="82296" cy="82296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27" name="Text 7"/>
          <p:cNvSpPr/>
          <p:nvPr/>
        </p:nvSpPr>
        <p:spPr>
          <a:xfrm>
            <a:off x="1508760" y="4991100"/>
            <a:ext cx="5852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A3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quick-start</a:t>
            </a:r>
            <a:endParaRPr lang="en-US" sz="950" dirty="0"/>
          </a:p>
        </p:txBody>
      </p:sp>
      <p:sp>
        <p:nvSpPr>
          <p:cNvPr id="28" name="Text 8"/>
          <p:cNvSpPr/>
          <p:nvPr/>
        </p:nvSpPr>
        <p:spPr>
          <a:xfrm>
            <a:off x="1024255" y="5311140"/>
            <a:ext cx="5480050" cy="5930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CA3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kurulum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4ADE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altLang="en-US" sz="1200" b="1" dirty="0">
                <a:solidFill>
                  <a:srgbClr val="4ADE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pip install git+https://github.com/Pilestin/FocusTracer </a:t>
            </a:r>
            <a:endParaRPr lang="en-US" altLang="en-US" sz="1200" b="1" dirty="0">
              <a:solidFill>
                <a:srgbClr val="4ADE80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ÖRNEK 1</a:t>
            </a:r>
            <a:endParaRPr lang="en-US" sz="1200" b="1" kern="0" spc="300" dirty="0">
              <a:solidFill>
                <a:srgbClr val="0D948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Uçtan Uca: run → çalıştır, kaydet, doğrula</a:t>
            </a:r>
            <a:endParaRPr lang="en-US" sz="29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577840" cy="4526280"/>
          </a:xfrm>
          <a:prstGeom prst="roundRect">
            <a:avLst>
              <a:gd name="adj" fmla="val 1818"/>
            </a:avLst>
          </a:prstGeom>
          <a:solidFill>
            <a:srgbClr val="0F1A2E"/>
          </a:solidFill>
          <a:effectLst>
            <a:outerShdw blurRad="-2147483648" dist="-2147483648" algn="bl" rotWithShape="0">
              <a:srgbClr val="0B1220">
                <a:alpha val="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08760"/>
            <a:ext cx="82296" cy="82296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6" name="Shape 4"/>
          <p:cNvSpPr/>
          <p:nvPr/>
        </p:nvSpPr>
        <p:spPr>
          <a:xfrm>
            <a:off x="850392" y="1508760"/>
            <a:ext cx="82296" cy="82296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7" name="Shape 5"/>
          <p:cNvSpPr/>
          <p:nvPr/>
        </p:nvSpPr>
        <p:spPr>
          <a:xfrm>
            <a:off x="987552" y="1508760"/>
            <a:ext cx="82296" cy="82296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8" name="Text 6"/>
          <p:cNvSpPr/>
          <p:nvPr/>
        </p:nvSpPr>
        <p:spPr>
          <a:xfrm>
            <a:off x="1234440" y="1444752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tests/fixtures/cli_sample_app.py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" y="1773936"/>
            <a:ext cx="5175504" cy="4014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import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threading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def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multiply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value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):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return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value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* </a:t>
            </a:r>
            <a:r>
              <a:rPr lang="en-US" sz="1050" dirty="0">
                <a:solidFill>
                  <a:srgbClr val="F0AB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def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process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values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):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output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= []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for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value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values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output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append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multiply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value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))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return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output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def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worker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data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):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process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data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thread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=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threading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Thread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target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worker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args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=([</a:t>
            </a:r>
            <a:r>
              <a:rPr lang="en-US" sz="1050" dirty="0">
                <a:solidFill>
                  <a:srgbClr val="F0AB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 </a:t>
            </a:r>
            <a:r>
              <a:rPr lang="en-US" sz="1050" dirty="0">
                <a:solidFill>
                  <a:srgbClr val="F0AB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 </a:t>
            </a:r>
            <a:r>
              <a:rPr lang="en-US" sz="1050" dirty="0">
                <a:solidFill>
                  <a:srgbClr val="F0AB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3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],),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name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"CLI-Worker"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thread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start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();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thread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join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55080" y="1371600"/>
            <a:ext cx="5285232" cy="4526280"/>
          </a:xfrm>
          <a:prstGeom prst="roundRect">
            <a:avLst>
              <a:gd name="adj" fmla="val 1818"/>
            </a:avLst>
          </a:prstGeom>
          <a:solidFill>
            <a:srgbClr val="0F1A2E"/>
          </a:solidFill>
          <a:effectLst>
            <a:outerShdw blurRad="-2147483648" dist="-2147483648" algn="bl" rotWithShape="0">
              <a:srgbClr val="0B1220">
                <a:alpha val="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9672" y="1508760"/>
            <a:ext cx="82296" cy="82296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12" name="Shape 10"/>
          <p:cNvSpPr/>
          <p:nvPr/>
        </p:nvSpPr>
        <p:spPr>
          <a:xfrm>
            <a:off x="6656832" y="1508760"/>
            <a:ext cx="82296" cy="82296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13" name="Shape 11"/>
          <p:cNvSpPr/>
          <p:nvPr/>
        </p:nvSpPr>
        <p:spPr>
          <a:xfrm>
            <a:off x="6793992" y="1508760"/>
            <a:ext cx="82296" cy="82296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14" name="Text 12"/>
          <p:cNvSpPr/>
          <p:nvPr/>
        </p:nvSpPr>
        <p:spPr>
          <a:xfrm>
            <a:off x="7040880" y="1444752"/>
            <a:ext cx="4462272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tek komut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56248" y="1773936"/>
            <a:ext cx="4882896" cy="4014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2DD4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0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focustracer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run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\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00" dirty="0">
                <a:solidFill>
                  <a:srgbClr val="7DD3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--target-script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cli_sample_app.py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\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00" dirty="0">
                <a:solidFill>
                  <a:srgbClr val="7DD3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--function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worker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\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00" dirty="0">
                <a:solidFill>
                  <a:srgbClr val="7DD3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--thread-name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CLI-Worker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════════ TRACE SUMMARY ════════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Total Events: 26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Duration: 0.0056 seconds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Event Types: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call: 5 · line: 16 · return: 5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7E93A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═══════════════════════════════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2DD4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[*]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XML validation: ok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2DD4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[*]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Trace written to output/....xml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2DD4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[*]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Target manifest written to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output/....targets.json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6035040"/>
            <a:ext cx="110642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5667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Tek komutla: </a:t>
            </a:r>
            <a:r>
              <a:rPr lang="en-US" sz="110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betik </a:t>
            </a:r>
            <a:r>
              <a:rPr lang="en-US" sz="1100" dirty="0">
                <a:solidFill>
                  <a:srgbClr val="5667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çalıştı, worker kapsamındaki her şey kaydedildi, manifest yazıldı, XML şemaya karşı doğrulandı. Trace'te worker → process → multiply hiyerarşisi &lt;scope&gt; düğümleriyle durur.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ÖRNEK 2</a:t>
            </a:r>
            <a:endParaRPr lang="en-US" sz="1200" b="1" kern="0" spc="300" dirty="0">
              <a:solidFill>
                <a:srgbClr val="0D948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AI Destekli: Hatayı Tarif Et, Hedefi LLM Seçsin</a:t>
            </a:r>
            <a:endParaRPr lang="en-US" sz="29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3291840"/>
          </a:xfrm>
          <a:prstGeom prst="roundRect">
            <a:avLst>
              <a:gd name="adj" fmla="val 2500"/>
            </a:avLst>
          </a:prstGeom>
          <a:solidFill>
            <a:srgbClr val="0F1A2E"/>
          </a:solidFill>
          <a:effectLst>
            <a:outerShdw blurRad="-2147483648" dist="-2147483648" algn="bl" rotWithShape="0">
              <a:srgbClr val="0B1220">
                <a:alpha val="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08760"/>
            <a:ext cx="82296" cy="82296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6" name="Shape 4"/>
          <p:cNvSpPr/>
          <p:nvPr/>
        </p:nvSpPr>
        <p:spPr>
          <a:xfrm>
            <a:off x="850392" y="1508760"/>
            <a:ext cx="82296" cy="82296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7" name="Shape 5"/>
          <p:cNvSpPr/>
          <p:nvPr/>
        </p:nvSpPr>
        <p:spPr>
          <a:xfrm>
            <a:off x="987552" y="1508760"/>
            <a:ext cx="82296" cy="82296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8" name="Text 6"/>
          <p:cNvSpPr/>
          <p:nvPr/>
        </p:nvSpPr>
        <p:spPr>
          <a:xfrm>
            <a:off x="1234440" y="1444752"/>
            <a:ext cx="10268712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öneri + trace tek komutta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" y="1773936"/>
            <a:ext cx="10689336" cy="27797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2DD4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05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focustracer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suggest-targets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7DD3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--project-root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tests/fixtures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\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dirty="0">
                <a:solidFill>
                  <a:srgbClr val="7DD3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--target-script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tests/fixtures/cli_sample_app.py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\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dirty="0">
                <a:solidFill>
                  <a:srgbClr val="7DD3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--hint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"Trace the worker path and multiplication logic"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\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dirty="0">
                <a:solidFill>
                  <a:srgbClr val="7DD3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--execute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7DD3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--trace-output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output/auto_from_suggest.xml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Önerilen manifest:  { "functions": ["cli_sample_app.worker", "cli_sample_app.process",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                        "cli_sample_app.multiply"], "files": [], ... }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2DD4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[*]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XML validation: ok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2DD4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[*]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Trace written to output/auto_from_suggest.xml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4937760"/>
            <a:ext cx="35478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effectLst>
            <a:outerShdw blurRad="-2147483648" dist="-2147483648" algn="bl" rotWithShape="0">
              <a:srgbClr val="0B1220">
                <a:alpha val="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" y="5074920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Doğal dil → hedef listesi</a:t>
            </a:r>
            <a:endParaRPr lang="en-US" sz="1200" b="1" dirty="0">
              <a:solidFill>
                <a:srgbClr val="0D948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9808" y="5394960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Hint ve --error-context, kod envanteriyle birlikte prompt'a girer; model envanter dışına çıkamaz.</a:t>
            </a:r>
            <a:endParaRPr lang="en-US" sz="100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325112" y="4937760"/>
            <a:ext cx="35478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effectLst>
            <a:outerShdw blurRad="-2147483648" dist="-2147483648" algn="bl" rotWithShape="0">
              <a:srgbClr val="0B1220">
                <a:alpha val="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26280" y="5074920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Union ile güvence</a:t>
            </a:r>
            <a:endParaRPr lang="en-US" sz="1200" b="1" dirty="0">
              <a:solidFill>
                <a:srgbClr val="0D948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26280" y="5394960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Modele güvenmiyorsanız manuel --function ekleyin — öneriler manuel hedeflerle kayıpsız birleşir.</a:t>
            </a:r>
            <a:endParaRPr lang="en-US" sz="100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101584" y="4937760"/>
            <a:ext cx="35478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effectLst>
            <a:outerShdw blurRad="-2147483648" dist="-2147483648" algn="bl" rotWithShape="0">
              <a:srgbClr val="0B1220">
                <a:alpha val="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02752" y="5074920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Tek komutluk alternatif</a:t>
            </a:r>
            <a:endParaRPr lang="en-US" sz="1200" b="1" dirty="0">
              <a:solidFill>
                <a:srgbClr val="0D948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302752" y="5394960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focustracer run --auto-targets --hint "..." aynı akışın run içine gömülü hâlidir.</a:t>
            </a:r>
            <a:endParaRPr lang="en-US" sz="100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ÖRNEK 3</a:t>
            </a:r>
            <a:endParaRPr lang="en-US" sz="1200" b="1" kern="0" spc="300" dirty="0">
              <a:solidFill>
                <a:srgbClr val="0D948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Bug Avı: Closure Late-Binding</a:t>
            </a:r>
            <a:endParaRPr lang="en-US" sz="29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2514600"/>
          </a:xfrm>
          <a:prstGeom prst="roundRect">
            <a:avLst>
              <a:gd name="adj" fmla="val 3273"/>
            </a:avLst>
          </a:prstGeom>
          <a:solidFill>
            <a:srgbClr val="0F1A2E"/>
          </a:solidFill>
          <a:effectLst>
            <a:outerShdw blurRad="-2147483648" dist="-2147483648" algn="bl" rotWithShape="0">
              <a:srgbClr val="0B1220">
                <a:alpha val="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08760"/>
            <a:ext cx="82296" cy="82296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6" name="Shape 4"/>
          <p:cNvSpPr/>
          <p:nvPr/>
        </p:nvSpPr>
        <p:spPr>
          <a:xfrm>
            <a:off x="850392" y="1508760"/>
            <a:ext cx="82296" cy="82296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7" name="Shape 5"/>
          <p:cNvSpPr/>
          <p:nvPr/>
        </p:nvSpPr>
        <p:spPr>
          <a:xfrm>
            <a:off x="987552" y="1508760"/>
            <a:ext cx="82296" cy="82296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8" name="Text 6"/>
          <p:cNvSpPr/>
          <p:nvPr/>
        </p:nvSpPr>
        <p:spPr>
          <a:xfrm>
            <a:off x="1234440" y="1444752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tests/bug_examples/bug_list_comprehension.py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" y="1773936"/>
            <a:ext cx="5084064" cy="20025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def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bug_list_comprehension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():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multipliers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= [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lambda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x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*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x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     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for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range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F0AB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5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)]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multipliers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</a:t>
            </a:r>
            <a:r>
              <a:rPr lang="en-US" sz="1050" dirty="0">
                <a:solidFill>
                  <a:srgbClr val="F0AB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](</a:t>
            </a:r>
            <a:r>
              <a:rPr lang="en-US" sz="1050" dirty="0">
                <a:solidFill>
                  <a:srgbClr val="F0AB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))  </a:t>
            </a:r>
            <a:r>
              <a:rPr lang="en-US" sz="1050" dirty="0">
                <a:solidFill>
                  <a:srgbClr val="7E93A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beklenen: 20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multipliers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</a:t>
            </a:r>
            <a:r>
              <a:rPr lang="en-US" sz="1050" dirty="0">
                <a:solidFill>
                  <a:srgbClr val="F0AB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4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](</a:t>
            </a:r>
            <a:r>
              <a:rPr lang="en-US" sz="1050" dirty="0">
                <a:solidFill>
                  <a:srgbClr val="F0AB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))  </a:t>
            </a:r>
            <a:r>
              <a:rPr lang="en-US" sz="1050" dirty="0">
                <a:solidFill>
                  <a:srgbClr val="7E93A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beklenen: 40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486400" cy="1463040"/>
          </a:xfrm>
          <a:prstGeom prst="roundRect">
            <a:avLst>
              <a:gd name="adj" fmla="val 5625"/>
            </a:avLst>
          </a:prstGeom>
          <a:solidFill>
            <a:srgbClr val="0F1A2E"/>
          </a:solidFill>
          <a:effectLst>
            <a:outerShdw blurRad="-2147483648" dist="-2147483648" algn="bl" rotWithShape="0">
              <a:srgbClr val="0B1220">
                <a:alpha val="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4206240"/>
            <a:ext cx="82296" cy="82296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12" name="Shape 10"/>
          <p:cNvSpPr/>
          <p:nvPr/>
        </p:nvSpPr>
        <p:spPr>
          <a:xfrm>
            <a:off x="850392" y="4206240"/>
            <a:ext cx="82296" cy="82296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13" name="Shape 11"/>
          <p:cNvSpPr/>
          <p:nvPr/>
        </p:nvSpPr>
        <p:spPr>
          <a:xfrm>
            <a:off x="987552" y="4206240"/>
            <a:ext cx="82296" cy="82296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14" name="Text 12"/>
          <p:cNvSpPr/>
          <p:nvPr/>
        </p:nvSpPr>
        <p:spPr>
          <a:xfrm>
            <a:off x="1234440" y="4142232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gerçek çıktı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" y="4471416"/>
            <a:ext cx="5084064" cy="9509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2DD4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1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python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bug_list_comprehension.py</a:t>
            </a:r>
            <a:endParaRPr lang="en-US" sz="11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40        # 20 bekliyorduk!</a:t>
            </a:r>
            <a:endParaRPr lang="en-US" sz="11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40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1371600"/>
            <a:ext cx="5376672" cy="2514600"/>
          </a:xfrm>
          <a:prstGeom prst="roundRect">
            <a:avLst>
              <a:gd name="adj" fmla="val 3273"/>
            </a:avLst>
          </a:prstGeom>
          <a:solidFill>
            <a:srgbClr val="0F1A2E"/>
          </a:solidFill>
          <a:effectLst>
            <a:outerShdw blurRad="-2147483648" dist="-2147483648" algn="bl" rotWithShape="0">
              <a:srgbClr val="0B1220">
                <a:alpha val="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28232" y="1508760"/>
            <a:ext cx="82296" cy="82296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18" name="Shape 16"/>
          <p:cNvSpPr/>
          <p:nvPr/>
        </p:nvSpPr>
        <p:spPr>
          <a:xfrm>
            <a:off x="6565392" y="1508760"/>
            <a:ext cx="82296" cy="82296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19" name="Shape 17"/>
          <p:cNvSpPr/>
          <p:nvPr/>
        </p:nvSpPr>
        <p:spPr>
          <a:xfrm>
            <a:off x="6702552" y="1508760"/>
            <a:ext cx="82296" cy="82296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20" name="Text 18"/>
          <p:cNvSpPr/>
          <p:nvPr/>
        </p:nvSpPr>
        <p:spPr>
          <a:xfrm>
            <a:off x="6949440" y="1444752"/>
            <a:ext cx="4553712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trace'in kanıtı — loop özeti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64808" y="1773936"/>
            <a:ext cx="4974336" cy="20025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&lt;loop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line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"2"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type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"for"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iterations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"5"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source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"for i in range(5)]"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&lt;summary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&lt;variable_changes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name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"i"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initial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"0"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          final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"4"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          change_count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"5"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&lt;/summary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&lt;/loop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4069080"/>
            <a:ext cx="5376672" cy="2286000"/>
          </a:xfrm>
          <a:prstGeom prst="roundRect">
            <a:avLst>
              <a:gd name="adj" fmla="val 3200"/>
            </a:avLst>
          </a:prstGeom>
          <a:solidFill>
            <a:srgbClr val="E7FAF6"/>
          </a:solidFill>
          <a:effectLst>
            <a:outerShdw blurRad="-2147483648" dist="-2147483648" algn="bl" rotWithShape="0">
              <a:srgbClr val="0B1220">
                <a:alpha val="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92240" y="420624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948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Trace'in söylediği</a:t>
            </a:r>
            <a:endParaRPr lang="en-US" sz="1300" b="1" dirty="0">
              <a:solidFill>
                <a:srgbClr val="0D948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92240" y="4526280"/>
            <a:ext cx="493776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Lambda'lar i'nin o anki değerini değil, değişkenin kendisini yakalıyor. Döngü bittiğinde i = 4 — beş lambda'nın beşi de aynı i'yi görüyor.</a:t>
            </a:r>
            <a:endParaRPr lang="en-US" sz="110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92240" y="562356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Düzeltme:  </a:t>
            </a:r>
            <a:r>
              <a:rPr lang="en-US" sz="1150" b="1" dirty="0">
                <a:solidFill>
                  <a:srgbClr val="0D9488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lambda x, i=i: i * x</a:t>
            </a: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   # erken bağlama</a:t>
            </a:r>
            <a:endParaRPr lang="en-US" sz="115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66928" y="598932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0D948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print ile saatler sürebilecek bir teşhis, döngü özetindeki tek satırdan okunuyor.</a:t>
            </a:r>
            <a:endParaRPr lang="en-US" sz="1100" dirty="0">
              <a:solidFill>
                <a:srgbClr val="0D948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ÖRNEK 4</a:t>
            </a:r>
            <a:endParaRPr lang="en-US" sz="1200" b="1" kern="0" spc="300" dirty="0">
              <a:solidFill>
                <a:srgbClr val="0D948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Çok Thread'li İzleme ve İstisna Anatomisi</a:t>
            </a:r>
            <a:endParaRPr lang="en-US" sz="29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53949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Thread başına ayrı durum tutulduğundan motor thread-safe'tir; enable_threading ile her thread'in olayları kendi &lt;thread&gt; düğümü altında toplanır. Post-mortem'de --filter-thread ile tek thread'e odaklanılır.</a:t>
            </a:r>
            <a:endParaRPr lang="en-US" sz="11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0F1A2E"/>
          </a:solidFill>
          <a:effectLst>
            <a:outerShdw blurRad="-2147483648" dist="-2147483648" algn="bl" rotWithShape="0">
              <a:srgbClr val="0B1220">
                <a:alpha val="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651760"/>
            <a:ext cx="82296" cy="82296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7" name="Shape 5"/>
          <p:cNvSpPr/>
          <p:nvPr/>
        </p:nvSpPr>
        <p:spPr>
          <a:xfrm>
            <a:off x="850392" y="2651760"/>
            <a:ext cx="82296" cy="82296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8" name="Shape 6"/>
          <p:cNvSpPr/>
          <p:nvPr/>
        </p:nvSpPr>
        <p:spPr>
          <a:xfrm>
            <a:off x="987552" y="2651760"/>
            <a:ext cx="82296" cy="82296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9" name="Text 7"/>
          <p:cNvSpPr/>
          <p:nvPr/>
        </p:nvSpPr>
        <p:spPr>
          <a:xfrm>
            <a:off x="1234440" y="258775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3 worker thread'li test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2916936"/>
            <a:ext cx="4992624" cy="15910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2DD4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0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focustracer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run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\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00" dirty="0">
                <a:solidFill>
                  <a:srgbClr val="7DD3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--target-script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threading_test.py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\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00" dirty="0">
                <a:solidFill>
                  <a:srgbClr val="7DD3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--function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worker_task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2DD4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0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focustracer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load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output/trace.xml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\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00" dirty="0">
                <a:solidFill>
                  <a:srgbClr val="7DD3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--filter-thread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Worker-2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484632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F3F6FA"/>
          </a:solidFill>
        </p:spPr>
      </p:sp>
      <p:sp>
        <p:nvSpPr>
          <p:cNvPr id="12" name="Text 10"/>
          <p:cNvSpPr/>
          <p:nvPr/>
        </p:nvSpPr>
        <p:spPr>
          <a:xfrm>
            <a:off x="777240" y="499262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Race condition avında</a:t>
            </a:r>
            <a:endParaRPr lang="en-US" sz="12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7240" y="5303520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Thread'lerin satır satır zaman damgalı delta kayıtları yan yana konulduğunda, paylaşılan duruma kimin ne zaman dokunduğu görünür hâle gelir.</a:t>
            </a:r>
            <a:endParaRPr lang="en-US" sz="10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72200" y="1371600"/>
            <a:ext cx="5468112" cy="3977640"/>
          </a:xfrm>
          <a:prstGeom prst="roundRect">
            <a:avLst>
              <a:gd name="adj" fmla="val 2069"/>
            </a:avLst>
          </a:prstGeom>
          <a:solidFill>
            <a:srgbClr val="0F1A2E"/>
          </a:solidFill>
          <a:effectLst>
            <a:outerShdw blurRad="-2147483648" dist="-2147483648" algn="bl" rotWithShape="0">
              <a:srgbClr val="0B1220">
                <a:alpha val="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36792" y="1508760"/>
            <a:ext cx="82296" cy="82296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16" name="Shape 14"/>
          <p:cNvSpPr/>
          <p:nvPr/>
        </p:nvSpPr>
        <p:spPr>
          <a:xfrm>
            <a:off x="6473952" y="1508760"/>
            <a:ext cx="82296" cy="82296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17" name="Shape 15"/>
          <p:cNvSpPr/>
          <p:nvPr/>
        </p:nvSpPr>
        <p:spPr>
          <a:xfrm>
            <a:off x="6611112" y="1508760"/>
            <a:ext cx="82296" cy="82296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18" name="Text 16"/>
          <p:cNvSpPr/>
          <p:nvPr/>
        </p:nvSpPr>
        <p:spPr>
          <a:xfrm>
            <a:off x="6858000" y="1444752"/>
            <a:ext cx="4645152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v2.2 — istisna, bağlamıyla birlikte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73368" y="1773936"/>
            <a:ext cx="5065776" cy="34655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&lt;scope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function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"divide"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file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"app.py"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depth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"1"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&lt;arguments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&lt;arg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name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"a"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type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"int"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&lt;/arg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&lt;arg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name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"b"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type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"int"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&lt;/arg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&lt;/arguments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&lt;exception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&lt;type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ZeroDivisionError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&lt;/type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&lt;value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division by zero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&lt;/value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&lt;traceback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Traceback (most recent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call last): File </a:t>
            </a:r>
            <a:r>
              <a:rPr lang="en-US" sz="105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"app.py"</a:t>
            </a: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 line 7,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in divide ...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&lt;/traceback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&lt;/exception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&lt;/scope</a:t>
            </a:r>
            <a:r>
              <a:rPr lang="en-US" sz="105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90488" y="5532120"/>
            <a:ext cx="54406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0D948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İstisna anındaki argümanlar ve yerel değişkenler, tam traceback ile aynı düğümde — hatanın fotoğrafı çekilmiş oluyor.</a:t>
            </a:r>
            <a:endParaRPr lang="en-US" sz="1100" dirty="0">
              <a:solidFill>
                <a:srgbClr val="0D9488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Bilinen Sınırlamalar ve Yol Haritası</a:t>
            </a:r>
            <a:endParaRPr lang="en-US" sz="29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effectLst>
            <a:outerShdw blurRad="-2147483648" dist="-2147483648" algn="bl" rotWithShape="0">
              <a:srgbClr val="0B1220">
                <a:alpha val="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002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Bugünkü sınırlar</a:t>
            </a:r>
            <a:endParaRPr lang="en-US" sz="15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" y="2130552"/>
            <a:ext cx="128016" cy="128016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7" name="Text 5"/>
          <p:cNvSpPr/>
          <p:nvPr/>
        </p:nvSpPr>
        <p:spPr>
          <a:xfrm>
            <a:off x="1143000" y="2057400"/>
            <a:ext cx="46177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Faz 1 kısıtı: etkinleştirme yalnızca fonksiyon hedefleriyle; dosya/satır tek başına etkinleştiremez, filtre olarak çalışır.</a:t>
            </a:r>
            <a:endParaRPr lang="en-US" sz="10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68680" y="2971800"/>
            <a:ext cx="128016" cy="128016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9" name="Text 7"/>
          <p:cNvSpPr/>
          <p:nvPr/>
        </p:nvSpPr>
        <p:spPr>
          <a:xfrm>
            <a:off x="1143000" y="2898648"/>
            <a:ext cx="46177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Kod envanteri yalnızca hedef betiği tarar — çok dosyalı projelerde diğer modüller AI önerisine girmez (manuel --function ile eklenir).</a:t>
            </a:r>
            <a:endParaRPr lang="en-US" sz="10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68680" y="3813048"/>
            <a:ext cx="128016" cy="128016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1" name="Text 9"/>
          <p:cNvSpPr/>
          <p:nvPr/>
        </p:nvSpPr>
        <p:spPr>
          <a:xfrm>
            <a:off x="1143000" y="3739896"/>
            <a:ext cx="46177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Değerler repr() ile 240 karakterde kırpılır; dev nesnelerin tam içeriği saklanmaz.</a:t>
            </a:r>
            <a:endParaRPr lang="en-US" sz="10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68680" y="4654296"/>
            <a:ext cx="128016" cy="128016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3" name="Text 11"/>
          <p:cNvSpPr/>
          <p:nvPr/>
        </p:nvSpPr>
        <p:spPr>
          <a:xfrm>
            <a:off x="1143000" y="4581144"/>
            <a:ext cx="46177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JSON/JSONL düz olay akışıdır; scope/loop hiyerarşisi yalnızca XML'de.</a:t>
            </a:r>
            <a:endParaRPr lang="en-US" sz="10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68680" y="5495544"/>
            <a:ext cx="128016" cy="128016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5" name="Text 13"/>
          <p:cNvSpPr/>
          <p:nvPr/>
        </p:nvSpPr>
        <p:spPr>
          <a:xfrm>
            <a:off x="1143000" y="5422392"/>
            <a:ext cx="46177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GUI iş kuyruğu bellek içidir: sunucu yeniden başlarsa iş geçmişi gider, üretilen dosyalar diskte kalır.</a:t>
            </a:r>
            <a:endParaRPr lang="en-US" sz="10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17920" y="1417320"/>
            <a:ext cx="5422392" cy="4892040"/>
          </a:xfrm>
          <a:prstGeom prst="roundRect">
            <a:avLst>
              <a:gd name="adj" fmla="val 1495"/>
            </a:avLst>
          </a:prstGeom>
          <a:solidFill>
            <a:srgbClr val="E7FAF6"/>
          </a:solidFill>
          <a:effectLst>
            <a:outerShdw blurRad="-2147483648" dist="-2147483648" algn="bl" rotWithShape="0">
              <a:srgbClr val="0B1220">
                <a:alpha val="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73952" y="16002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Sırada ne var?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73952" y="20848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12280" y="2103120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Faz 2: dosya/satır tabanlı etkinleştirme</a:t>
            </a:r>
            <a:endParaRPr lang="en-US" sz="12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812280" y="2404872"/>
            <a:ext cx="461772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Fonksiyon hedefi olmadan da kayıt başlatabilme.</a:t>
            </a:r>
            <a:endParaRPr lang="en-US" sz="10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73952" y="313639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12280" y="3154680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Çok dosyalı envanter</a:t>
            </a:r>
            <a:endParaRPr lang="en-US" sz="12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812280" y="3456432"/>
            <a:ext cx="461772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Proje genelinde AST taraması; LLM önerisinin ufku genişler.</a:t>
            </a:r>
            <a:endParaRPr lang="en-US" sz="10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73952" y="418795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12280" y="4206240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analyze_trace ile LLM yorumu</a:t>
            </a:r>
            <a:endParaRPr lang="en-US" sz="12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812280" y="4507992"/>
            <a:ext cx="461772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Arayüzde hazır: kayıtlı trace + kaynak dosya → olası kök neden açıklaması.</a:t>
            </a:r>
            <a:endParaRPr lang="en-US" sz="10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73952" y="523951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12280" y="5257800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536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Trace karşılaştırma (diff)</a:t>
            </a:r>
            <a:endParaRPr lang="en-US" sz="1200" b="1" dirty="0">
              <a:solidFill>
                <a:srgbClr val="1A2536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812280" y="5559552"/>
            <a:ext cx="461772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6677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Çalışan ve bozuk koşunun trace'lerini yan yana koyup sapmayı bulma.</a:t>
            </a:r>
            <a:endParaRPr lang="en-US" sz="1050" dirty="0">
              <a:solidFill>
                <a:srgbClr val="56677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10515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ÖZETLE</a:t>
            </a:r>
            <a:endParaRPr lang="en-US" sz="1200" b="1" kern="0" spc="300" dirty="0">
              <a:solidFill>
                <a:srgbClr val="2DD4B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7240" y="1371600"/>
            <a:ext cx="59436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Kaydet. İncele. Anla.</a:t>
            </a:r>
            <a:endParaRPr lang="en-US" sz="4000" b="1" dirty="0">
              <a:solidFill>
                <a:srgbClr val="FFFFF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41248" y="2514600"/>
            <a:ext cx="420624" cy="420624"/>
          </a:xfrm>
          <a:prstGeom prst="ellipse">
            <a:avLst/>
          </a:prstGeom>
          <a:solidFill>
            <a:srgbClr val="13203A"/>
          </a:solidFill>
        </p:spPr>
      </p:sp>
      <p:sp>
        <p:nvSpPr>
          <p:cNvPr id="5" name="Text 3"/>
          <p:cNvSpPr/>
          <p:nvPr/>
        </p:nvSpPr>
        <p:spPr>
          <a:xfrm>
            <a:off x="749808" y="2514600"/>
            <a:ext cx="60350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44752" y="2478024"/>
            <a:ext cx="48920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C9DCF5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sys.settrace + kapsam kapılama: kapsam dışında sıfır yük, kapsam içinde her şey kayıtta.</a:t>
            </a:r>
            <a:endParaRPr lang="en-US" sz="1200" dirty="0">
              <a:solidFill>
                <a:srgbClr val="C9DCF5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41248" y="3410712"/>
            <a:ext cx="420624" cy="420624"/>
          </a:xfrm>
          <a:prstGeom prst="ellipse">
            <a:avLst/>
          </a:prstGeom>
          <a:solidFill>
            <a:srgbClr val="13203A"/>
          </a:solidFill>
        </p:spPr>
      </p:sp>
      <p:sp>
        <p:nvSpPr>
          <p:cNvPr id="8" name="Text 6"/>
          <p:cNvSpPr/>
          <p:nvPr/>
        </p:nvSpPr>
        <p:spPr>
          <a:xfrm>
            <a:off x="749808" y="3410712"/>
            <a:ext cx="60350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44752" y="3374136"/>
            <a:ext cx="48920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C9DCF5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TargetManifest: manuel hedefler ile AI önerileri union'da buluşur — kontrol hep sizde.</a:t>
            </a:r>
            <a:endParaRPr lang="en-US" sz="1200" dirty="0">
              <a:solidFill>
                <a:srgbClr val="C9DCF5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41248" y="4306824"/>
            <a:ext cx="420624" cy="420624"/>
          </a:xfrm>
          <a:prstGeom prst="ellipse">
            <a:avLst/>
          </a:prstGeom>
          <a:solidFill>
            <a:srgbClr val="13203A"/>
          </a:solidFill>
        </p:spPr>
      </p:sp>
      <p:sp>
        <p:nvSpPr>
          <p:cNvPr id="11" name="Text 9"/>
          <p:cNvSpPr/>
          <p:nvPr/>
        </p:nvSpPr>
        <p:spPr>
          <a:xfrm>
            <a:off x="749808" y="4306824"/>
            <a:ext cx="60350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44752" y="4270248"/>
            <a:ext cx="48920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C9DCF5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Sürümlü XML + XSD: çıktı bir log değil, doğrulanabilir bir veri sözleşmesi.</a:t>
            </a:r>
            <a:endParaRPr lang="en-US" sz="1200" dirty="0">
              <a:solidFill>
                <a:srgbClr val="C9DCF5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41248" y="5202936"/>
            <a:ext cx="420624" cy="420624"/>
          </a:xfrm>
          <a:prstGeom prst="ellipse">
            <a:avLst/>
          </a:prstGeom>
          <a:solidFill>
            <a:srgbClr val="13203A"/>
          </a:solidFill>
        </p:spPr>
      </p:sp>
      <p:sp>
        <p:nvSpPr>
          <p:cNvPr id="14" name="Text 12"/>
          <p:cNvSpPr/>
          <p:nvPr/>
        </p:nvSpPr>
        <p:spPr>
          <a:xfrm>
            <a:off x="749808" y="5202936"/>
            <a:ext cx="60350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44752" y="5166360"/>
            <a:ext cx="48920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C9DCF5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LLM bir yardımcıdır: önerir ama asla tek başına karar vermez — fallback'ler hep devrede.</a:t>
            </a:r>
            <a:endParaRPr lang="en-US" sz="1200" dirty="0">
              <a:solidFill>
                <a:srgbClr val="C9DCF5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41248" y="60350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Teşekkürler — Sorular?</a:t>
            </a:r>
            <a:endParaRPr lang="en-US" sz="1600" b="1" dirty="0">
              <a:solidFill>
                <a:srgbClr val="FFFFFF"/>
              </a:solidFill>
              <a:latin typeface="Palatino Linotype" panose="02040502050505030304" charset="0"/>
              <a:ea typeface="Arial" panose="020B0604020202020204" pitchFamily="34" charset="-122"/>
              <a:cs typeface="Palatino Linotype" panose="0204050205050503030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37960" y="1371600"/>
            <a:ext cx="5029200" cy="3566160"/>
          </a:xfrm>
          <a:prstGeom prst="roundRect">
            <a:avLst>
              <a:gd name="adj" fmla="val 2308"/>
            </a:avLst>
          </a:prstGeom>
          <a:solidFill>
            <a:srgbClr val="0F1A2E"/>
          </a:solidFill>
          <a:effectLst>
            <a:outerShdw blurRad="-2147483648" dist="-2147483648" algn="bl" rotWithShape="0">
              <a:srgbClr val="0B1220">
                <a:alpha val="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02552" y="1508760"/>
            <a:ext cx="82296" cy="82296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19" name="Shape 17"/>
          <p:cNvSpPr/>
          <p:nvPr/>
        </p:nvSpPr>
        <p:spPr>
          <a:xfrm>
            <a:off x="6839712" y="1508760"/>
            <a:ext cx="82296" cy="82296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20" name="Shape 18"/>
          <p:cNvSpPr/>
          <p:nvPr/>
        </p:nvSpPr>
        <p:spPr>
          <a:xfrm>
            <a:off x="6976872" y="1508760"/>
            <a:ext cx="82296" cy="82296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21" name="Text 19"/>
          <p:cNvSpPr/>
          <p:nvPr/>
        </p:nvSpPr>
        <p:spPr>
          <a:xfrm>
            <a:off x="7223760" y="1444752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60 saniyede başla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39128" y="1773936"/>
            <a:ext cx="4626864" cy="3054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DD4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0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pip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install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\</a:t>
            </a:r>
            <a:endParaRPr lang="en-US" sz="10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git+https://github.com/BitnetTR/focustracer.git</a:t>
            </a:r>
            <a:endParaRPr lang="en-US" sz="10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DD4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0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focustracer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install</a:t>
            </a:r>
            <a:endParaRPr lang="en-US" sz="10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DD4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0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focustracer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run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7DD3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--target-script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app.py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\</a:t>
            </a:r>
            <a:endParaRPr lang="en-US" sz="10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000" dirty="0">
                <a:solidFill>
                  <a:srgbClr val="7DD3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--auto-targets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7DD3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--hint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FCD3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"describe the bug"</a:t>
            </a:r>
            <a:endParaRPr lang="en-US" sz="10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DD4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0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focustracer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load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DCE6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output/app_trace.xml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37960" y="5212080"/>
            <a:ext cx="5029200" cy="1143000"/>
          </a:xfrm>
          <a:prstGeom prst="roundRect">
            <a:avLst>
              <a:gd name="adj" fmla="val 6400"/>
            </a:avLst>
          </a:prstGeom>
          <a:solidFill>
            <a:srgbClr val="13203A"/>
          </a:solidFill>
        </p:spPr>
      </p:sp>
      <p:sp>
        <p:nvSpPr>
          <p:cNvPr id="24" name="Text 22"/>
          <p:cNvSpPr/>
          <p:nvPr/>
        </p:nvSpPr>
        <p:spPr>
          <a:xfrm>
            <a:off x="6784848" y="5376672"/>
            <a:ext cx="45720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2DD4BF"/>
                </a:solidFill>
                <a:latin typeface="Palatino Linotype" panose="02040502050505030304" charset="0"/>
                <a:ea typeface="Courier New" panose="02070309020205020404" pitchFamily="34" charset="-122"/>
                <a:cs typeface="Palatino Linotype" panose="02040502050505030304" charset="0"/>
              </a:rPr>
              <a:t>github.com/BitnetTR/focustracer</a:t>
            </a:r>
            <a:endParaRPr lang="en-US" sz="120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en-US" sz="1100" dirty="0">
                <a:solidFill>
                  <a:srgbClr val="8CA0B8"/>
                </a:solidFill>
                <a:latin typeface="Palatino Linotype" panose="02040502050505030304" charset="0"/>
                <a:ea typeface="Arial" panose="020B0604020202020204" pitchFamily="34" charset="-122"/>
                <a:cs typeface="Palatino Linotype" panose="02040502050505030304" charset="0"/>
              </a:rPr>
              <a:t>Yasin Ünal  ·  AI4Sweng  ·  MIT Lisansı</a:t>
            </a:r>
            <a:endParaRPr lang="en-US" sz="120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30616</Words>
  <Application>WPS Presentation</Application>
  <PresentationFormat>On-screen Show (16:9)</PresentationFormat>
  <Paragraphs>1628</Paragraphs>
  <Slides>36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50" baseType="lpstr">
      <vt:lpstr>Arial</vt:lpstr>
      <vt:lpstr>SimSun</vt:lpstr>
      <vt:lpstr>Wingdings</vt:lpstr>
      <vt:lpstr>Palatino Linotype</vt:lpstr>
      <vt:lpstr>Arial</vt:lpstr>
      <vt:lpstr>Courier New</vt:lpstr>
      <vt:lpstr>Courier New</vt:lpstr>
      <vt:lpstr>Courier New</vt:lpstr>
      <vt:lpstr>Arial</vt:lpstr>
      <vt:lpstr>Microsoft YaHei</vt:lpstr>
      <vt:lpstr>Arial Unicode MS</vt:lpstr>
      <vt:lpstr>Calibri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FocusTracer — LLM Destekli Dinamik Dilimleme ve XML Trace Hattı</dc:title>
  <dc:creator>Yasin Ünal</dc:creator>
  <dc:subject>PptxGenJS Presentation</dc:subject>
  <cp:lastModifiedBy>Yasin Ünal</cp:lastModifiedBy>
  <cp:revision>31</cp:revision>
  <dcterms:created xsi:type="dcterms:W3CDTF">2026-07-08T22:25:00Z</dcterms:created>
  <dcterms:modified xsi:type="dcterms:W3CDTF">2026-07-19T18:02:09Z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A38E86C0ECDF435BAAB24D95F775080A_12</vt:lpwstr>
  </property>
</Properties>
</file>
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2" r:id="rId9"/>
    <p:sldId id="265" r:id="rId10"/>
    <p:sldId id="266" r:id="rId11"/>
    <p:sldId id="263" r:id="rId12"/>
    <p:sldId id="264" r:id="rId13"/>
    <p:sldId id="267" r:id="rId14"/>
    <p:sldId id="268" r:id="rId15"/>
    <p:sldId id="270" r:id="rId16"/>
    <p:sldId id="303" r:id="rId17"/>
    <p:sldId id="304" r:id="rId18"/>
    <p:sldId id="272" r:id="rId19"/>
    <p:sldId id="273" r:id="rId20"/>
    <p:sldId id="274" r:id="rId21"/>
    <p:sldId id="297" r:id="rId22"/>
    <p:sldId id="298" r:id="rId23"/>
    <p:sldId id="299" r:id="rId24"/>
    <p:sldId id="300" r:id="rId25"/>
    <p:sldId id="275" r:id="rId26"/>
    <p:sldId id="276" r:id="rId27"/>
    <p:sldId id="277" r:id="rId28"/>
    <p:sldId id="278" r:id="rId29"/>
    <p:sldId id="305" r:id="rId30"/>
    <p:sldId id="279" r:id="rId31"/>
    <p:sldId id="306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8F8E7F"/>
    <a:srgbClr val="E6FBF5"/>
    <a:srgbClr val="E7F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833" y="55163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AI4SWENG · </a:t>
            </a:r>
            <a:r>
              <a:rPr lang="tr-TR" alt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YAZILIM</a:t>
            </a: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SUNUMU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972185"/>
            <a:ext cx="5017135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dist">
              <a:buNone/>
            </a:pPr>
            <a:r>
              <a:rPr lang="en-US" sz="60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</a:t>
            </a:r>
            <a:endParaRPr lang="en-US" sz="60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915160"/>
            <a:ext cx="5394960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l">
              <a:buNone/>
            </a:pPr>
            <a:r>
              <a:rPr lang="tr-TR" altLang="en-US" sz="2000" dirty="0">
                <a:ln/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Tabanlı Trace programı</a:t>
            </a:r>
            <a:endParaRPr lang="tr-TR" altLang="en-US" sz="2000" dirty="0">
              <a:ln/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194685"/>
            <a:ext cx="4972050" cy="1240155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just">
              <a:lnSpc>
                <a:spcPts val="1900"/>
              </a:lnSpc>
              <a:buNone/>
            </a:pPr>
            <a:r>
              <a:rPr lang="en-US" sz="1300" dirty="0">
                <a:ln/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programlarını</a:t>
            </a:r>
            <a:r>
              <a:rPr lang="tr-TR" altLang="en-US" sz="1300" dirty="0">
                <a:ln/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 runtime’da trace loglarını almak ve bunları önceden belirlenmiş XML şema yapısında kaydetmek için oluşturulmuş CLI tabanlı program. T</a:t>
            </a:r>
            <a:r>
              <a:rPr lang="en-US" sz="1300" dirty="0">
                <a:ln/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ek satır kod değişikliği </a:t>
            </a:r>
            <a:r>
              <a:rPr lang="tr-TR" altLang="en-US" sz="1300" dirty="0">
                <a:ln/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yapmadan komut satırından farklı opsiyonlar ve parametreler ile çalıştırılabilir. </a:t>
            </a:r>
            <a:endParaRPr lang="tr-TR" altLang="en-US" sz="1300" dirty="0">
              <a:ln/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3585" y="2395220"/>
            <a:ext cx="705917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43585" y="2408936"/>
            <a:ext cx="705917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v1.0.7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614094" y="2395220"/>
            <a:ext cx="1305763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9" name="Text 7"/>
          <p:cNvSpPr/>
          <p:nvPr/>
        </p:nvSpPr>
        <p:spPr>
          <a:xfrm>
            <a:off x="1614094" y="2408936"/>
            <a:ext cx="1305763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&gt;= 3.10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84449" y="2395220"/>
            <a:ext cx="930859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3084449" y="2408936"/>
            <a:ext cx="930859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v2.2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79900" y="2395220"/>
            <a:ext cx="480974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4179900" y="2408936"/>
            <a:ext cx="480974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MIT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2960" y="5196205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accent1">
                    <a:lumMod val="60000"/>
                    <a:lumOff val="40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github.com/BitnetTR/focustracer</a:t>
            </a:r>
            <a:endParaRPr lang="en-US" sz="1250" dirty="0">
              <a:solidFill>
                <a:schemeClr val="accent1">
                  <a:lumMod val="60000"/>
                  <a:lumOff val="40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37960" y="1051560"/>
            <a:ext cx="5029200" cy="4754880"/>
          </a:xfrm>
          <a:prstGeom prst="roundRect">
            <a:avLst>
              <a:gd name="adj" fmla="val 1731"/>
            </a:avLst>
          </a:prstGeom>
          <a:solidFill>
            <a:srgbClr val="333F50"/>
          </a:solidFill>
          <a:effectLst>
            <a:outerShdw blurRad="101600" dist="25400" dir="5400000" algn="bl" rotWithShape="0">
              <a:srgbClr val="0B122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02552" y="118872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7" name="Shape 15"/>
          <p:cNvSpPr/>
          <p:nvPr/>
        </p:nvSpPr>
        <p:spPr>
          <a:xfrm>
            <a:off x="6839712" y="118872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8" name="Shape 16"/>
          <p:cNvSpPr/>
          <p:nvPr/>
        </p:nvSpPr>
        <p:spPr>
          <a:xfrm>
            <a:off x="6976872" y="118872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9" name="Text 17"/>
          <p:cNvSpPr/>
          <p:nvPr/>
        </p:nvSpPr>
        <p:spPr>
          <a:xfrm>
            <a:off x="7223760" y="112471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 — terminal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39128" y="1453896"/>
            <a:ext cx="4626864" cy="42428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app.py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--function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Patched importable targets: []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════════════ TRACE SUMMARY ════════════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Total Events: 26 · Duration: 0.0056 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XML validation: 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load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output/app_trace.xml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└─ Thread CLI-Worker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└─ worker(data=[1, 2, 3])       0.7 ms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└─ process(values=[1, 2, 3])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├─ loop for value in values:  ×3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│    value: 1 → 3  (3 değişim)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└─ return [2, 4, 6]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ounded Rectangle 116"/>
          <p:cNvSpPr/>
          <p:nvPr/>
        </p:nvSpPr>
        <p:spPr>
          <a:xfrm>
            <a:off x="5760720" y="4374515"/>
            <a:ext cx="6280150" cy="2099310"/>
          </a:xfrm>
          <a:prstGeom prst="roundRect">
            <a:avLst>
              <a:gd name="adj" fmla="val 1712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MOTIVASYON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Geleneksel Yöntemler ile Karşılaştırma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1482725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290320000" dist="322580000" dir="-1" algn="bl" rotWithShape="0">
              <a:srgbClr val="0B1220">
                <a:alpha val="160000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84632" y="1866646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393192" y="1866646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print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80160" y="1683766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print() ile hata ayıklama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80160" y="2031365"/>
            <a:ext cx="3535045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Kodu kirletir; her yeni hipotez için betiği yeniden düzenleyip çalıştırmak gerekir, iş bitince izleri temizlemek de cabası.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28600" y="3055620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-1" algn="bl" rotWithShape="0">
              <a:srgbClr val="0B1220">
                <a:alpha val="-2147483647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" y="3439414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393192" y="3439414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IDE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80160" y="325653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Adım adım debugger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80160" y="360426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Etkileşimli ama geçicidir: uzun koşularda, thread'lerde ve 'bir kez oluşan' hatalarda doğru anı yakalamak zordur.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4627880"/>
            <a:ext cx="50266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-2147483647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" y="5012182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393192" y="5012182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log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80160" y="482930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Loglama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80160" y="517652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Neyi loglayacağınızı önceden bilmeniz gerekir — hata çoğu zaman log satırı olmayan yerdedir.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553710" y="1378585"/>
            <a:ext cx="0" cy="509524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3" name="Group 82"/>
          <p:cNvGrpSpPr/>
          <p:nvPr/>
        </p:nvGrpSpPr>
        <p:grpSpPr>
          <a:xfrm>
            <a:off x="5679440" y="1692910"/>
            <a:ext cx="694690" cy="511810"/>
            <a:chOff x="9450" y="2738"/>
            <a:chExt cx="1094" cy="806"/>
          </a:xfrm>
        </p:grpSpPr>
        <p:sp>
          <p:nvSpPr>
            <p:cNvPr id="79" name="Shape 3"/>
            <p:cNvSpPr/>
            <p:nvPr/>
          </p:nvSpPr>
          <p:spPr>
            <a:xfrm>
              <a:off x="9609" y="273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0" name="Text 4"/>
            <p:cNvSpPr/>
            <p:nvPr/>
          </p:nvSpPr>
          <p:spPr>
            <a:xfrm>
              <a:off x="9450" y="273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0x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1" name="Text 5"/>
          <p:cNvSpPr/>
          <p:nvPr/>
        </p:nvSpPr>
        <p:spPr>
          <a:xfrm>
            <a:off x="645668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Sıfır Dokunuş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2" name="Text 6"/>
          <p:cNvSpPr/>
          <p:nvPr/>
        </p:nvSpPr>
        <p:spPr>
          <a:xfrm>
            <a:off x="6466205" y="2004060"/>
            <a:ext cx="2095500" cy="102171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kod hiçbir şekilde düzenlenmez</a:t>
            </a: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just">
              <a:lnSpc>
                <a:spcPts val="1550"/>
              </a:lnSpc>
              <a:buNone/>
            </a:pP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alışma zamanında monkey-patching ile yapılır.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8898255" y="1692910"/>
            <a:ext cx="694690" cy="511810"/>
            <a:chOff x="10007" y="5097"/>
            <a:chExt cx="1094" cy="806"/>
          </a:xfrm>
        </p:grpSpPr>
        <p:sp>
          <p:nvSpPr>
            <p:cNvPr id="86" name="Shape 8"/>
            <p:cNvSpPr/>
            <p:nvPr/>
          </p:nvSpPr>
          <p:spPr>
            <a:xfrm>
              <a:off x="10151" y="5097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7" name="Text 9"/>
            <p:cNvSpPr/>
            <p:nvPr/>
          </p:nvSpPr>
          <p:spPr>
            <a:xfrm>
              <a:off x="10007" y="5097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( )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8" name="Text 10"/>
          <p:cNvSpPr/>
          <p:nvPr/>
        </p:nvSpPr>
        <p:spPr>
          <a:xfrm>
            <a:off x="966597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9664065" y="2004060"/>
            <a:ext cx="236029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hedef fonksiyonun yürütmesi sırasında aktiftir; kapsam dışında ek yük sıfırdır.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7" name="Group 96"/>
          <p:cNvGrpSpPr/>
          <p:nvPr/>
        </p:nvGrpSpPr>
        <p:grpSpPr>
          <a:xfrm>
            <a:off x="5760720" y="3150870"/>
            <a:ext cx="694690" cy="511810"/>
            <a:chOff x="9363" y="6758"/>
            <a:chExt cx="1094" cy="806"/>
          </a:xfrm>
        </p:grpSpPr>
        <p:sp>
          <p:nvSpPr>
            <p:cNvPr id="93" name="Shape 13"/>
            <p:cNvSpPr/>
            <p:nvPr/>
          </p:nvSpPr>
          <p:spPr>
            <a:xfrm>
              <a:off x="9507" y="675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94" name="Text 14"/>
            <p:cNvSpPr/>
            <p:nvPr/>
          </p:nvSpPr>
          <p:spPr>
            <a:xfrm>
              <a:off x="9363" y="675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XML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95" name="Text 15"/>
          <p:cNvSpPr/>
          <p:nvPr/>
        </p:nvSpPr>
        <p:spPr>
          <a:xfrm>
            <a:off x="6466205" y="3121025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Çıktı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6466205" y="3460115"/>
            <a:ext cx="209613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XSD şemalarıyla (v1…v2.2) doğrulanabilen hiyerarşik XML; JSON ve JSONL da destekli.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5" name="Group 114"/>
          <p:cNvGrpSpPr/>
          <p:nvPr/>
        </p:nvGrpSpPr>
        <p:grpSpPr>
          <a:xfrm>
            <a:off x="6796405" y="4500245"/>
            <a:ext cx="694690" cy="511810"/>
            <a:chOff x="8957" y="7574"/>
            <a:chExt cx="1094" cy="806"/>
          </a:xfrm>
        </p:grpSpPr>
        <p:sp>
          <p:nvSpPr>
            <p:cNvPr id="101" name="Shape 23"/>
            <p:cNvSpPr/>
            <p:nvPr/>
          </p:nvSpPr>
          <p:spPr>
            <a:xfrm>
              <a:off x="9101" y="7574"/>
              <a:ext cx="806" cy="806"/>
            </a:xfrm>
            <a:prstGeom prst="ellipse">
              <a:avLst/>
            </a:prstGeom>
            <a:solidFill>
              <a:srgbClr val="2DD4BF"/>
            </a:solidFill>
          </p:spPr>
        </p:sp>
        <p:sp>
          <p:nvSpPr>
            <p:cNvPr id="102" name="Text 24"/>
            <p:cNvSpPr/>
            <p:nvPr/>
          </p:nvSpPr>
          <p:spPr>
            <a:xfrm>
              <a:off x="8957" y="7574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220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AI</a:t>
              </a:r>
              <a:endParaRPr lang="en-US" sz="1100" b="1" dirty="0">
                <a:solidFill>
                  <a:srgbClr val="0B1220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3" name="Text 25"/>
          <p:cNvSpPr/>
          <p:nvPr/>
        </p:nvSpPr>
        <p:spPr>
          <a:xfrm>
            <a:off x="5865495" y="5081905"/>
            <a:ext cx="269621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ln/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Destekli Hedefleme</a:t>
            </a:r>
            <a:endParaRPr lang="en-US" sz="1500" b="1" dirty="0">
              <a:ln/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4" name="Text 26"/>
          <p:cNvSpPr/>
          <p:nvPr/>
        </p:nvSpPr>
        <p:spPr>
          <a:xfrm>
            <a:off x="5852160" y="5401945"/>
            <a:ext cx="270954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Hatayı doğal dille tarif edin; Ollama veya OpenCode kod envanterinden izlenecek fonksiyonları önersin.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166985" y="4500245"/>
            <a:ext cx="694690" cy="511810"/>
            <a:chOff x="14157" y="7288"/>
            <a:chExt cx="1094" cy="806"/>
          </a:xfrm>
        </p:grpSpPr>
        <p:sp>
          <p:nvSpPr>
            <p:cNvPr id="106" name="Shape 28"/>
            <p:cNvSpPr/>
            <p:nvPr/>
          </p:nvSpPr>
          <p:spPr>
            <a:xfrm>
              <a:off x="14301" y="728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107" name="Text 29"/>
            <p:cNvSpPr/>
            <p:nvPr/>
          </p:nvSpPr>
          <p:spPr>
            <a:xfrm>
              <a:off x="14157" y="728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PM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8" name="Text 30"/>
          <p:cNvSpPr/>
          <p:nvPr/>
        </p:nvSpPr>
        <p:spPr>
          <a:xfrm>
            <a:off x="8989060" y="5081905"/>
            <a:ext cx="295656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ln/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+ GUI</a:t>
            </a:r>
            <a:endParaRPr lang="en-US" sz="1500" b="1" dirty="0">
              <a:ln/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9" name="Text 31"/>
          <p:cNvSpPr/>
          <p:nvPr/>
        </p:nvSpPr>
        <p:spPr>
          <a:xfrm>
            <a:off x="8989695" y="5401945"/>
            <a:ext cx="29451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trace'i load ile zengin yürütme ağacı olarak inceleyin; FastAPI + React web arayüzüyle yönetin.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4" name="Group 113"/>
          <p:cNvGrpSpPr/>
          <p:nvPr/>
        </p:nvGrpSpPr>
        <p:grpSpPr>
          <a:xfrm>
            <a:off x="8898255" y="3150870"/>
            <a:ext cx="694690" cy="511810"/>
            <a:chOff x="13997" y="4740"/>
            <a:chExt cx="1094" cy="806"/>
          </a:xfrm>
        </p:grpSpPr>
        <p:sp>
          <p:nvSpPr>
            <p:cNvPr id="110" name="Shape 18"/>
            <p:cNvSpPr/>
            <p:nvPr/>
          </p:nvSpPr>
          <p:spPr>
            <a:xfrm>
              <a:off x="14141" y="4740"/>
              <a:ext cx="806" cy="806"/>
            </a:xfrm>
            <a:prstGeom prst="ellipse">
              <a:avLst/>
            </a:prstGeom>
            <a:solidFill>
              <a:srgbClr val="0B1220"/>
            </a:solidFill>
          </p:spPr>
          <p:txBody>
            <a:bodyPr/>
            <a:p>
              <a:endParaRPr lang="en-US">
                <a:latin typeface="Palatino Linotype" panose="02040502050505030304" charset="0"/>
                <a:cs typeface="Palatino Linotype" panose="02040502050505030304" charset="0"/>
              </a:endParaRPr>
            </a:p>
          </p:txBody>
        </p:sp>
        <p:sp>
          <p:nvSpPr>
            <p:cNvPr id="111" name="Text 19"/>
            <p:cNvSpPr/>
            <p:nvPr/>
          </p:nvSpPr>
          <p:spPr>
            <a:xfrm>
              <a:off x="13997" y="4740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xN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12" name="Text 20"/>
          <p:cNvSpPr/>
          <p:nvPr/>
        </p:nvSpPr>
        <p:spPr>
          <a:xfrm>
            <a:off x="9664192" y="3119374"/>
            <a:ext cx="304495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9664065" y="3467100"/>
            <a:ext cx="23609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Tekrarlayan döngü iterasyonları tek &lt;loop&gt; altında gruplanır; kırpılabilir, değişim özeti üretilir.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8" name="Text Box 117"/>
          <p:cNvSpPr txBox="1"/>
          <p:nvPr/>
        </p:nvSpPr>
        <p:spPr>
          <a:xfrm>
            <a:off x="8383270" y="4460875"/>
            <a:ext cx="10350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Palatino Linotype" panose="02040502050505030304" charset="0"/>
                <a:cs typeface="Palatino Linotype" panose="02040502050505030304" charset="0"/>
              </a:rPr>
              <a:t>feature</a:t>
            </a:r>
            <a:endParaRPr lang="tr-TR" altLang="en-US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9" name="Text Box 118"/>
          <p:cNvSpPr txBox="1"/>
          <p:nvPr/>
        </p:nvSpPr>
        <p:spPr>
          <a:xfrm>
            <a:off x="781050" y="1104900"/>
            <a:ext cx="47726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Klasik Hata ayıklamada kullanılanlar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0" name="Text Box 119"/>
          <p:cNvSpPr txBox="1"/>
          <p:nvPr/>
        </p:nvSpPr>
        <p:spPr>
          <a:xfrm>
            <a:off x="5553710" y="1114425"/>
            <a:ext cx="6487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Focustracer aracının yaptıkları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SISTEM MIMARISI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Beş Katman, Tek Paket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94930" cy="868680"/>
          </a:xfrm>
          <a:prstGeom prst="roundRect">
            <a:avLst>
              <a:gd name="adj" fmla="val 33625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175"/>
            <a:ext cx="735203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— 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35203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check-agent · install · suggest-targets · run · load · gui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358505" y="1435735"/>
            <a:ext cx="3670935" cy="868680"/>
          </a:xfrm>
          <a:prstGeom prst="roundRect">
            <a:avLst>
              <a:gd name="adj" fmla="val 18274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03590" y="1545590"/>
            <a:ext cx="356044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Web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 —  gui/server.py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85810" y="1847215"/>
            <a:ext cx="363918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FastAPI + React SPA · SSE canlı log · bellek içi iş kuyruğu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29100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20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↓</a:t>
            </a:r>
            <a:endParaRPr lang="en-US" sz="20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65055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70175"/>
            <a:ext cx="7694930" cy="2286000"/>
          </a:xfrm>
          <a:prstGeom prst="roundRect">
            <a:avLst>
              <a:gd name="adj" fmla="val 18611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788920"/>
            <a:ext cx="730567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core/  —  </a:t>
            </a:r>
            <a:r>
              <a:rPr lang="en-US" sz="1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İzleme </a:t>
            </a: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Motoru</a:t>
            </a:r>
            <a:endParaRPr lang="en-US" sz="135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recorder.py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05256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</a:t>
            </a:r>
            <a:r>
              <a:rPr lang="tr-TR" alt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</a:t>
            </a: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· trace_function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64408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2424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patcher.py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92424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DynamicPatcher (monkey-patching)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51576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9592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targeting.py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879592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 · CodeInventory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77240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5256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TraceLoader · TraceDocument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4408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92424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display.py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92424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TraceDisplayer (rich terminal)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51576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9592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79592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 yardımcıları (v1/v2/v2.1)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368030" y="2670175"/>
            <a:ext cx="3660775" cy="2286000"/>
          </a:xfrm>
          <a:prstGeom prst="roundRect">
            <a:avLst>
              <a:gd name="adj" fmla="val 11944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04225" y="2788920"/>
            <a:ext cx="35598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agent/  —  AI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Katmanı</a:t>
            </a:r>
            <a:endParaRPr lang="en-US" sz="13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96528" y="3200400"/>
            <a:ext cx="26974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base.py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BaseAIAgent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ollama_client.py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HTTP · qwen2.5:3b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opencode_client.py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CLI subprocess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301752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↓</a:t>
            </a: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8680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↓</a:t>
            </a: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48640" y="5303520"/>
            <a:ext cx="7695565" cy="868680"/>
          </a:xfrm>
          <a:prstGeom prst="roundRect">
            <a:avLst>
              <a:gd name="adj" fmla="val 40204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31520" y="5413375"/>
            <a:ext cx="71780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validate/ +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schema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/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5470" y="5715000"/>
            <a:ext cx="765873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XSD doğrulama · trace_schema_v1 / v2 / v2.1 / v2.2.xsd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404225" y="5303520"/>
            <a:ext cx="3620135" cy="868680"/>
          </a:xfrm>
          <a:prstGeom prst="roundRect">
            <a:avLst>
              <a:gd name="adj" fmla="val 33625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541385" y="5413375"/>
            <a:ext cx="339915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output/</a:t>
            </a:r>
            <a:endParaRPr lang="en-US" sz="14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404225" y="5715000"/>
            <a:ext cx="362521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&lt;betik&gt;_trace.xml  +  &lt;betik&gt;.targets.json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src-layout tek paket · pip install -e .  →  focustracer  |  python -m focustracer</a:t>
            </a:r>
            <a:endParaRPr lang="en-US" sz="105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440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</a:t>
            </a:r>
            <a:r>
              <a:rPr lang="tr-T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ile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trace'e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sys.settrace · TraceRecorder · delta · loop compaction · TraceContext · @trace_function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98080" y="123444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7" name="Shape 5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8" name="Text 6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 Alt Katman: sys.settrace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CPython, her frame için kayıtlı trace fonksiyonunu çağırır. FocusTracer bu kancaya _dispatch_trace ile bağlanır; threading.settrace aynı kancayı sonradan doğan thread'lere de takar.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532888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7" name="Text 5"/>
          <p:cNvSpPr/>
          <p:nvPr/>
        </p:nvSpPr>
        <p:spPr>
          <a:xfrm>
            <a:off x="713232" y="2542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call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011680" y="2450592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girişi — etkinleştirme kararı burada verilir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6382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319272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713232" y="3328416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line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11680" y="3236976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satır yürütülmek üzere — değişken deltası burada hesaplanır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4105656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5" name="Text 13"/>
          <p:cNvSpPr/>
          <p:nvPr/>
        </p:nvSpPr>
        <p:spPr>
          <a:xfrm>
            <a:off x="713232" y="4114800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11680" y="4023360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dönüşü — dönüş değeri yakalanır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4892040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9" name="Text 17"/>
          <p:cNvSpPr/>
          <p:nvPr/>
        </p:nvSpPr>
        <p:spPr>
          <a:xfrm>
            <a:off x="713232" y="4901184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CD34D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exception</a:t>
            </a:r>
            <a:endParaRPr lang="en-US" sz="1100" b="1" dirty="0">
              <a:solidFill>
                <a:srgbClr val="FCD34D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011680" y="4809744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istisna — tip, mesaj ve traceback kaydedilir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5715000"/>
            <a:ext cx="52578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Frame'e tam erişim: f_code, f_lineno, f_locals — değişkenleri okumak için gereken her şey.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26480" y="1371600"/>
            <a:ext cx="553212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910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4" name="Shape 22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5" name="Shape 23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6" name="Text 24"/>
          <p:cNvSpPr/>
          <p:nvPr/>
        </p:nvSpPr>
        <p:spPr>
          <a:xfrm>
            <a:off x="6812280" y="1444752"/>
            <a:ext cx="47091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core/recorder.py — kancanın takılması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27648" y="1773936"/>
            <a:ext cx="51297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start(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 =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True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bu thread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threading.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yenileri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event: "call" | "line" | "return" | "exception"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_is_stdlib(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f_code.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co_filename):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stdlib her zaman dışarıda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_should_activate(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tid,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_trace_active(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izlenmeyen kod: kayıt yok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Kullanan Özelleştirmeler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713105" y="1682750"/>
            <a:ext cx="640080" cy="457200"/>
            <a:chOff x="1123" y="2650"/>
            <a:chExt cx="1008" cy="720"/>
          </a:xfrm>
        </p:grpSpPr>
        <p:sp>
          <p:nvSpPr>
            <p:cNvPr id="5" name="Shape 3"/>
            <p:cNvSpPr/>
            <p:nvPr/>
          </p:nvSpPr>
          <p:spPr>
            <a:xfrm>
              <a:off x="1267" y="26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6" name="Text 4"/>
            <p:cNvSpPr/>
            <p:nvPr/>
          </p:nvSpPr>
          <p:spPr>
            <a:xfrm>
              <a:off x="1123" y="26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1</a:t>
              </a:r>
              <a:endParaRPr 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548640" y="5238750"/>
            <a:ext cx="3547110" cy="1235075"/>
            <a:chOff x="864" y="7171"/>
            <a:chExt cx="5586" cy="2664"/>
          </a:xfrm>
        </p:grpSpPr>
        <p:sp>
          <p:nvSpPr>
            <p:cNvPr id="18" name="Shape 16"/>
            <p:cNvSpPr/>
            <p:nvPr/>
          </p:nvSpPr>
          <p:spPr>
            <a:xfrm>
              <a:off x="864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10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Thread-safe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10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thread için ayrı _ThreadState (yığın, önceki locals anlık görüntüsü); erişim RLock ile korunur.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4324985" y="5238750"/>
            <a:ext cx="3547110" cy="1235075"/>
            <a:chOff x="6811" y="7171"/>
            <a:chExt cx="5586" cy="2664"/>
          </a:xfrm>
        </p:grpSpPr>
        <p:sp>
          <p:nvSpPr>
            <p:cNvPr id="21" name="Shape 19"/>
            <p:cNvSpPr/>
            <p:nvPr/>
          </p:nvSpPr>
          <p:spPr>
            <a:xfrm>
              <a:off x="6811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157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zaman dışarıda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57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Standart kütüphane dizinleri, &lt;frozen ...&gt; çerçeveleri ve recorder'ın kendi dosyası.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8101330" y="5238750"/>
            <a:ext cx="3547110" cy="1235075"/>
            <a:chOff x="12758" y="7171"/>
            <a:chExt cx="5586" cy="2664"/>
          </a:xfrm>
        </p:grpSpPr>
        <p:sp>
          <p:nvSpPr>
            <p:cNvPr id="24" name="Shape 22"/>
            <p:cNvSpPr/>
            <p:nvPr/>
          </p:nvSpPr>
          <p:spPr>
            <a:xfrm>
              <a:off x="12758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13104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max_depth = 100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13104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Bu derinliğin üzerindeki çağrılar kaydedilmez; derin özyinelemede çıktı patlamaz.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6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5" name="Group 44"/>
          <p:cNvGrpSpPr/>
          <p:nvPr/>
        </p:nvGrpSpPr>
        <p:grpSpPr>
          <a:xfrm>
            <a:off x="4398645" y="1682115"/>
            <a:ext cx="640080" cy="457200"/>
            <a:chOff x="5962" y="2850"/>
            <a:chExt cx="1008" cy="720"/>
          </a:xfrm>
        </p:grpSpPr>
        <p:sp>
          <p:nvSpPr>
            <p:cNvPr id="40" name="Shape 3"/>
            <p:cNvSpPr/>
            <p:nvPr/>
          </p:nvSpPr>
          <p:spPr>
            <a:xfrm>
              <a:off x="6106" y="28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1" name="Text 4"/>
            <p:cNvSpPr/>
            <p:nvPr/>
          </p:nvSpPr>
          <p:spPr>
            <a:xfrm>
              <a:off x="5962" y="28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2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8229600" y="1682115"/>
            <a:ext cx="640080" cy="457200"/>
            <a:chOff x="8718" y="4061"/>
            <a:chExt cx="1008" cy="720"/>
          </a:xfrm>
        </p:grpSpPr>
        <p:sp>
          <p:nvSpPr>
            <p:cNvPr id="42" name="Shape 3"/>
            <p:cNvSpPr/>
            <p:nvPr/>
          </p:nvSpPr>
          <p:spPr>
            <a:xfrm>
              <a:off x="8862" y="4061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3" name="Text 4"/>
            <p:cNvSpPr/>
            <p:nvPr/>
          </p:nvSpPr>
          <p:spPr>
            <a:xfrm>
              <a:off x="8718" y="4061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3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pic>
        <p:nvPicPr>
          <p:cNvPr id="72" name="Picture 71"/>
          <p:cNvPicPr>
            <a:picLocks noChangeAspect="1"/>
          </p:cNvPicPr>
          <p:nvPr/>
        </p:nvPicPr>
        <p:blipFill>
          <a:blip r:embed="rId1"/>
          <a:srcRect t="1721"/>
          <a:stretch>
            <a:fillRect/>
          </a:stretch>
        </p:blipFill>
        <p:spPr>
          <a:xfrm>
            <a:off x="804545" y="2287905"/>
            <a:ext cx="3169285" cy="2901315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/>
        </p:nvPicPr>
        <p:blipFill>
          <a:blip r:embed="rId2"/>
          <a:srcRect t="830"/>
          <a:stretch>
            <a:fillRect/>
          </a:stretch>
        </p:blipFill>
        <p:spPr>
          <a:xfrm>
            <a:off x="4490085" y="2287905"/>
            <a:ext cx="3163570" cy="2883535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>
          <a:blip r:embed="rId3"/>
          <a:srcRect t="2263"/>
          <a:stretch>
            <a:fillRect/>
          </a:stretch>
        </p:blipFill>
        <p:spPr>
          <a:xfrm>
            <a:off x="8229600" y="2281555"/>
            <a:ext cx="3506470" cy="2907665"/>
          </a:xfrm>
          <a:prstGeom prst="rect">
            <a:avLst/>
          </a:prstGeom>
        </p:spPr>
      </p:pic>
      <p:sp>
        <p:nvSpPr>
          <p:cNvPr id="76" name="Text Box 75"/>
          <p:cNvSpPr txBox="1"/>
          <p:nvPr/>
        </p:nvSpPr>
        <p:spPr>
          <a:xfrm>
            <a:off x="1353185" y="1711325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TraceContext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7" name="Text Box 76"/>
          <p:cNvSpPr txBox="1"/>
          <p:nvPr/>
        </p:nvSpPr>
        <p:spPr>
          <a:xfrm>
            <a:off x="5038725" y="1714500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TraceRecorder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8" name="Text Box 77"/>
          <p:cNvSpPr txBox="1"/>
          <p:nvPr/>
        </p:nvSpPr>
        <p:spPr>
          <a:xfrm>
            <a:off x="8978265" y="1746250"/>
            <a:ext cx="2670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Decorator kullanarak 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ve @trace_function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context manager — önerilen yol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+=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"output/programmatic.xml"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"detailed"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blok çıkışında otomatik: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stop() + save() + print_summary()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dekoratör — en kısa yol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83325" y="1774190"/>
            <a:ext cx="5276850" cy="40144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trace_function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@trace_function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"output/fib.xml"</a:t>
            </a:r>
            <a:r>
              <a:rPr lang="tr-TR" alt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schema_version=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0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&lt;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else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+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8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her üst düzey çağrı ayrı trace üretir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dekoratör, fonksiyonun ad varyantlarını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(ad, qualname, modül.ad) hedef listesine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otomatik ekler; çağrıyı 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içinde çalıştırır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3F6FA"/>
          </a:solidFill>
        </p:spPr>
      </p:sp>
      <p:sp>
        <p:nvSpPr>
          <p:cNvPr id="17" name="Text 15"/>
          <p:cNvSpPr/>
          <p:nvPr/>
        </p:nvSpPr>
        <p:spPr>
          <a:xfrm>
            <a:off x="658368" y="6053328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paket kökünden: </a:t>
            </a:r>
            <a:r>
              <a:rPr lang="en-US" sz="10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 · TraceContext · trace_function · DynamicPatcher · TargetManifest · build_code_inventory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TraceRecorder'ı Doğrudan Kullanmak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62356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tam kontrol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22122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"output/manual.json"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output_format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xml | json | jsonl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"normal"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enable_threading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"mymodule.process"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            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izlenecek kod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save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save(format="jsonl")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print_summary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7160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detail_level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minimal | normal | detailed — kayıt ayrıntısı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0" y="2029968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29968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max_depth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çağrı derinliği sınırı (varsayılan 100)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0" y="2688336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688336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max_iterations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döngü başına yazılacak iterasyon limiti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0" y="3346704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346704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output_format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xml | json | jsonl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400800" y="4005072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005072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enable_threading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olaylar &lt;thread&gt; düğümlerinde gruplanır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0" y="466344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66344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üretilecek şema etiketi (varsayılan 2.2)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0" y="5394960"/>
            <a:ext cx="5230368" cy="960120"/>
          </a:xfrm>
          <a:prstGeom prst="roundRect">
            <a:avLst>
              <a:gd name="adj" fmla="val 7619"/>
            </a:avLst>
          </a:prstGeom>
          <a:solidFill>
            <a:srgbClr val="FEF6E7"/>
          </a:solidFill>
        </p:spPr>
      </p:sp>
      <p:sp>
        <p:nvSpPr>
          <p:cNvPr id="23" name="Text 21"/>
          <p:cNvSpPr/>
          <p:nvPr/>
        </p:nvSpPr>
        <p:spPr>
          <a:xfrm>
            <a:off x="6601968" y="5504688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8A5A0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/ JSONL düz olay akışıdır: scope-loop hiyerarşisi ve döngü kompaktlaması yalnızca XML çıktısında uygulanır.</a:t>
            </a:r>
            <a:endParaRPr lang="en-US" sz="1050" dirty="0">
              <a:solidFill>
                <a:srgbClr val="8A5A0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 Kaydedilir? Delta Hesaplama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3492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'line' olayında yerel değişkenlerin anlık görüntüsü bir öncekiyle karşılaştırılır ve yalnızca fark yazılır — tam locals dökümü değil.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09444"/>
            <a:ext cx="164592" cy="164592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7" name="Text 5"/>
          <p:cNvSpPr/>
          <p:nvPr/>
        </p:nvSpPr>
        <p:spPr>
          <a:xfrm>
            <a:off x="1051560" y="224028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added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yeni değişken kapsama girdi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22676"/>
            <a:ext cx="164592" cy="164592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1051560" y="29535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changed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değer değişti — old ve new birlikte saklanır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835908"/>
            <a:ext cx="164592" cy="164592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3" name="Text 11"/>
          <p:cNvSpPr/>
          <p:nvPr/>
        </p:nvSpPr>
        <p:spPr>
          <a:xfrm>
            <a:off x="1051560" y="366674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removed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değişken kapsamdan çıktı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534924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 temsilleri repr() ile üretilir ve 240 karakterde kırpılır — dev nesneler çıktıyı şişirmez.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0515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621792" y="5074920"/>
            <a:ext cx="9235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Seviye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00200" y="5074920"/>
            <a:ext cx="141732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1673352" y="5074920"/>
            <a:ext cx="128930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Değişken izleme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5074920"/>
            <a:ext cx="114300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0" name="Text 18"/>
          <p:cNvSpPr/>
          <p:nvPr/>
        </p:nvSpPr>
        <p:spPr>
          <a:xfrm>
            <a:off x="3090672" y="5074920"/>
            <a:ext cx="10149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Argümanlar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60520" y="5074920"/>
            <a:ext cx="17373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4233672" y="5074920"/>
            <a:ext cx="16093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line olayında locals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5440680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600200" y="5440680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73352" y="5440680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kapalı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017520" y="5440680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5440680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kapalı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60520" y="5440680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33672" y="5440680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yazılmaz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788152"/>
            <a:ext cx="10515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5788152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normal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600200" y="5788152"/>
            <a:ext cx="141732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73352" y="5788152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17520" y="5788152"/>
            <a:ext cx="114300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0672" y="5788152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160520" y="5788152"/>
            <a:ext cx="17373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33672" y="5788152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yalnızca delta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6135624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" y="6135624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600200" y="6135624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73352" y="6135624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 + tam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017520" y="6135624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90672" y="6135624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160520" y="6135624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33672" y="6135624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+ tam locals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263640" y="1371600"/>
            <a:ext cx="5376672" cy="3931920"/>
          </a:xfrm>
          <a:prstGeom prst="roundRect">
            <a:avLst>
              <a:gd name="adj" fmla="val 2093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49" name="Shape 47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50" name="Shape 48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51" name="Text 49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bir satırın deltası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64808" y="1773936"/>
            <a:ext cx="4974336" cy="34198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"7"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timestamp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12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+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item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"total"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"changed"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"item"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"added"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263640" y="5486400"/>
            <a:ext cx="5376672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içermeyen line olayları load görünümünde gizlenir — gürültü otomatik azalır.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Gürültüyle Mücadele: Scope Ağacı ve Loop Compaction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Scope ağacı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'call' olayı, eşleşen 'return' ya da 'exception' olayına kadarki her şeyi çocuk olarak toplar → &lt;scope&gt;. v2.2 ile start_time, end_time ve duration eklendi: hangi çağrı ne kadar sürdü, trace'in içinde.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0954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529584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Aynı satırdaki for/while başlığı 3+ kez görülürse aradaki olaylar iterasyon bloklarına bölünür ve tek bir &lt;loop&gt; elementi altında toplanır: satır, kaynak kod, tip ve iterasyon sayısıyla.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4700016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3717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max_iterations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5157216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Verilirse iterasyonların başı ve sonu korunur, ortadakiler atlanır; atlanan sayı truncated_iterations özniteliğine yazılır. &lt;summary&gt; her değişkenin ilk/son değerini ve değişim sayısını özetler.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68112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5" name="Shape 13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6" name="Shape 14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7" name="Text 15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kompakt döngü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73368" y="1773936"/>
            <a:ext cx="50657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duration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"0.000512"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value in values:"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44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seç → yamala → çalıştır → doğrula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TargetManifest · CodeInventory · DynamicPatcher · run · XML v2.2 · XSD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498080" y="210312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CLI HATTI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Hedefleme: TargetManifest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1435"/>
            <a:ext cx="5212080" cy="2880360"/>
          </a:xfrm>
          <a:prstGeom prst="roundRect">
            <a:avLst>
              <a:gd name="adj" fmla="val 2857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389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app.targets.json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4809744" cy="2368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{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"functions"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"cli_sample_app.multiply"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"cli_sample_app.process"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"cli_sample_app.worker"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"files"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"tests/fixtures/cli_sample_app.py"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"lines"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"cli_sample_app.py:11"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"thread_names"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"CLI-Worker"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E7FAF6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62686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merge() = union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956048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--function hedefleri ile AI önerileri kayıpsız birleşir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listeler kırpılıp sıralanır (normalized). 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kuralı: en az bir fonksiyon hedefi zorunludur.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Text Box 33"/>
          <p:cNvSpPr txBox="1"/>
          <p:nvPr/>
        </p:nvSpPr>
        <p:spPr>
          <a:xfrm>
            <a:off x="6093460" y="1321435"/>
            <a:ext cx="5609590" cy="33794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TargetManifest = izlenecek hedef kümesi</a:t>
            </a:r>
            <a:endParaRPr lang="en-US" sz="14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marL="0" indent="0">
              <a:spcAft>
                <a:spcPts val="500"/>
              </a:spcAft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4 boyut: functions, files, lines, thread_names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Union merge: manuel bayraklar + AI önerisi birleştirilir, normalized() ile tekilleştirilip sıralanır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Faz 1 kuralı: en az bir function hedefi zorunlu — yalnızca file/line ile aktivasyon henüz desteklenmez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Her koşuda .targets.json olarak diske yazılır (tekrarlanabilirlik)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CodeInventory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build_code_inventory() proje kökünü AST ile tarar; LLM'e gönderilecek fonksiyon listesini üretir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--project-root dar bile olsa --target-script her zaman ayrıca parse edilir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BÖLÜM 2 · CLI HATTI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DynamicPatcher: Bellekte Monkey-Patching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06440" cy="3383280"/>
          </a:xfrm>
          <a:prstGeom prst="roundRect">
            <a:avLst>
              <a:gd name="adj" fmla="val 2432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983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core/patcher.py — mekanizmanın kalbi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404104" cy="2871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@wraps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self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activate_for_current_thread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 </a:t>
            </a:r>
            <a:r>
              <a:rPr lang="en-US" sz="11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bellekte değiştir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498348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çözümü: en uzun import edilebilir modül öneki bulunur, kalan kısım öznitelik zinciriyle gezilir — mypkg.core.Class.method gibi iç içe hedefler de çalışır.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629400" y="1371600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0" y="14904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Dosyaya sıfır dokunuş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58000" y="1801368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dosya asla düzenlenmez; unpatch_all() tüm orijinal fonksiyonları geri yükler.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29400" y="2633472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2752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 dışı yük: 0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0" y="3063240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sarmalayıcının with bloğunda aktiftir — hedef dışındaki kod hiç izlenmez.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629400" y="3895344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40142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__main__ istisnası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4325112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Betiğin kendi fonksiyonları import edilemez, patch edilemez; onları runtime manifest + settrace ad eşleşmesi yakalar.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29400" y="5157216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0" y="5276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patch_all() affedicidir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0" y="5586984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fırlatmaz: import edilemeyen hedefler sonuç sözlüğünde False — bu bir hata değildir.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Ana komut: script'i çalıştır, trace üret,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02920" y="1417320"/>
          <a:ext cx="557784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Python script'i (runpy ile __main__ olarak koşar)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script dizini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envanteri için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--auto-targets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LLM'den otomatik hedef önerisi iste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hedef seçimi için ipucu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Hata/log bağlamı (AI'ya iletilir)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ajanı ve modeli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97764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Akış: manuel manifest + (varsa) AI manifesti → union merge → patch → runpy → XML + .targets.json → XSD doğrulaması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En az bir function hedefi şart: ya --function ya --auto-targets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kullanılmıyorsa (--auto-targets yoksa) ajan hiç çağrılmaz — tamamen offline çalışır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 — iki mod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A) tamamen manuel (LLM'siz, offline)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Patched importable targets: ['app.process', 'app.worker']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XML validation: ok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Trace written to 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B) AI destekli hedef seçimi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--auto-targets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"toplam yanlış hesaplanıyor"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 çıktısını şekillendiren parametreler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517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 XML tam yolu; verilmezse timestamp'li ad üretilir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 adlandırmada kullanılacak klasör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detailed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minimal | normal | detailed — kayıt ayrıntısı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--max-depth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100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İzlenecek maksimum çağrı derinliği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--max-iterations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sınırsız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Loop compaction'da tutulacak iterasyon sayısı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XML şema sürümü etiketi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--skip-validate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Koşu sonrası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80560"/>
            <a:ext cx="557784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Otomatik ad formatı: YYYYmmdd_HHMMSS_&lt;script&gt;.xml + yanına .targets.json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Doğrulama başarısızsa komut exit 1 döner; hatalar stderr'e listelenir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çıktı kontrolü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hafif trace: az detay, sığ derinlik, kısa loop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--detail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--max-depth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--max-iterations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kontrol: belirli dosyaya, doğrulamasız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output/debug_run.xml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--schema-version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2.1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--skip-validate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BÖLÜM 2 · ÇIKTI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v2.2 XML Anatomisi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903720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60807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output/20260412_232641_cli_sample_app.xml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65013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schema_version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26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"25616"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call_line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duration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"0.000700"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"data"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&lt;/thread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371600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148132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&lt;thread&gt;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82128" y="178308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enable_threading ile olaylar thread kimliğine göre gruplanır.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80960" y="2633472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82128" y="2743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&lt;scope&gt;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0449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Bir fonksiyon çağrısının bloğu; v2.2'de süresiyle birlikte.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80960" y="3895344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2128" y="4005072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&lt;loop&gt; + &lt;summary&gt;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882128" y="4306824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Kompakt döngü ve değişken değişim özeti.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80960" y="5157216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52669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CDATA kuralı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882128" y="5568696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&lt;source&gt;, &lt;old&gt;, &lt;new&gt; HTML varlığı içeriyorsa CDATA'ya sarılır; ']]&gt;' güvenli bölünür.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ÇIKTI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Evrimi ve XSD Doğrulama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8096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 olay listesi; her olayda thread / file / function tekrarı.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27248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401568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21024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&lt;scope&gt;, &lt;loop&gt;, &lt;thread&gt; hiyerarşisi; tam locals yerine delta.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980176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54496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73952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73952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Yapının kararlılaştırılması; delta-only yaklaşım standartlaşır.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833104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07424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7FAF6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0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v2.2</a:t>
            </a:r>
            <a:endParaRPr lang="en-US" sz="19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326880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Süreler (duration), &lt;traceback&gt;, &lt;targets&gt;, &lt;source_files&gt; — hepsi opsiyonel, geriye uyumlu.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33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validate_xml_against_xsd(xml_path)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kök elementteki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okunur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schema/trace_schema_v&lt;sürüm&gt;.xsd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otomatik seçilir (tam sürüm yoksa ana sürüme düşer)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(is_valid, errors)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döner.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3" name="Text 21"/>
          <p:cNvSpPr/>
          <p:nvPr/>
        </p:nvSpPr>
        <p:spPr>
          <a:xfrm>
            <a:off x="749808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üretim sonrası otomatik doğrular; kapatmak için --skip-validate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45352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5" name="Text 23"/>
          <p:cNvSpPr/>
          <p:nvPr/>
        </p:nvSpPr>
        <p:spPr>
          <a:xfrm>
            <a:off x="6446520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görüntüleme öncesi otomatik doğrular; kapatmak için --no-validate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17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44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envanterinden hedef önerisine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BaseAIAgent · Ollama · OpenCode · suggest-targets · sağlamlık · install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98080" y="297180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install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ajanlarını kurma ve yönetme merkezi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Doğrudan belirli kurulum akışını açar: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--status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Kurulum durum panelini gösterip çıkar (interaktif menü yok)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Durum kontrolü ve Ollama pull için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03320"/>
            <a:ext cx="5577840" cy="2560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İnteraktif menü: 1) Ollama kur  2) OpenCode kur  3) Ollama model indir  4) Durumu yenile  5) Her iki ajan için health check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OpenCode otomatik kurulum: npm i -g opencode-ai (npm kontrolü + kurulum doğrulaması dahil)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İndirilebilir modeller: qwen2.5:3b (3.2 GB, hızlı) ve qwen2.5-coder:7b (4.6 GB, kod odaklı)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 --status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┌─ FocusTracer Install Center ─┐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Ollama    INSTALLED    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  Models: qwen2.5:3b, ...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OpenCode  NOT INSTALLED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└──────────────────────────────┘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doğrudan opencode kurulum akışı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farklı Ollama sunucusuyla durum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--ollama-url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http://192.168.1.20:11434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3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check-agent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Trace'e başlamadan önce ajan bağlantısını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502920" y="1417320"/>
          <a:ext cx="5577840" cy="13716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Kontrol edilecek ajan: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Kullanılabilirliği sorgulanacak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577840" cy="2651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Exit code sözleşmesi (script'lerde kullanışlı):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0 → ajan sağlıklı ve model kullanılabilir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 → ajana erişilemiyor (servis kapalı / bağlantı hatası)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 → ajan çalışıyor ama seçilen model yüklü değil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suggest-targets ve run --auto-targets de aynı sağlık kontrolünü baştan yapar (fail-fast)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check-agent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ollama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qwen2.5:3b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"ok"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"model_available"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"available_models"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"qwen2.5:3b", "llama3.2"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OpenCode + farklı model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opencode/minimax-m2.5-free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--opencode-cmd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"python -m opencode"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— suggest-targets (1/2)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Kod envanterini LLM'e gönder, hedef manifesti al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783080"/>
                <a:gridCol w="1600200"/>
                <a:gridCol w="21945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Parametre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Varsayılan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Açıklama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--project-root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zorunlu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Kod envanteri çıkarılacak proje kökü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--target-script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zorunlu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Çalıştırılacak hedef script (envanter bağlamı)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--hint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—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LLM'e serbest metin ipucu ("bug'ı tarif et")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--error-context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—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Traceback / log gibi hata bağlamı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--agent / --model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ollama / qwen2.5:3b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Kullanılacak ajan ve model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--ollama-url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http://localhost:11434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Ollama endpoint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ourier New" panose="02070309020205020404" pitchFamily="34" charset="0"/>
                          <a:ea typeface="Courier New" panose="02070309020205020404" pitchFamily="34" charset="-122"/>
                          <a:cs typeface="Courier New" panose="02070309020205020404" pitchFamily="34" charset="-120"/>
                        </a:rPr>
                        <a:t>--opencode-cmd</a:t>
                      </a:r>
                      <a:endParaRPr lang="en-US" sz="1000" dirty="0">
                        <a:latin typeface="Courier New" panose="02070309020205020404" pitchFamily="34" charset="0"/>
                        <a:ea typeface="Courier New" panose="02070309020205020404" pitchFamily="34" charset="0"/>
                        <a:cs typeface="Courier New" panose="02070309020205020404" pitchFamily="3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opencode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anose="020F050202020403020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OpenCode CLI komutu</a:t>
                      </a:r>
                      <a:endParaRPr lang="en-US" sz="1050" dirty="0">
                        <a:latin typeface="Calibri" panose="020F0502020204030204" charset="0"/>
                        <a:ea typeface="Calibri" panose="020F0502020204030204" charset="0"/>
                        <a:cs typeface="Calibri" panose="020F05020202040302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55778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Varsayılan davranış: script çalıştırılmaz, trace üretilmez — sadece önerilen manifest JSON'u stdout'a yazılır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Manuel --function/--file/--line/--thread-name bayrakları da verilebilir; öneriyle union merge edilir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 yolunu ve çarpma mantığını izle"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"cli_sample_app.multiply",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"cli_sample_app.process",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],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"files"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"thread_names"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Manifesti kaydetme ve tek komutta çalıştırma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02920" y="1417320"/>
          <a:ext cx="5806440" cy="2468880"/>
        </p:xfrm>
        <a:graphic>
          <a:graphicData uri="http://schemas.openxmlformats.org/drawingml/2006/table">
            <a:tbl>
              <a:tblPr/>
              <a:tblGrid>
                <a:gridCol w="2148840"/>
                <a:gridCol w="1097280"/>
                <a:gridCol w="25603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--execute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Öneri sonrası tracing'i hemen başlatır (merged manifest ile)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--save-manifest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output-dir'e timestamp'li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--manifest-output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belirtilen dosya yoluna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--save-manifest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trace XML yolu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otomatik trace adı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şema sürümü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 / --max-depth / --max-iterations / --skip-validate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Palatino Linotype" panose="02040502050505030304" charset="0"/>
                        <a:ea typeface="Calibri" panose="020F0502020204030204" charset="0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run ile aynı trace ayarları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2998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4"/>
          <p:cNvSpPr/>
          <p:nvPr/>
        </p:nvSpPr>
        <p:spPr>
          <a:xfrm>
            <a:off x="688543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5"/>
          <p:cNvSpPr/>
          <p:nvPr/>
        </p:nvSpPr>
        <p:spPr>
          <a:xfrm>
            <a:off x="704088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6"/>
          <p:cNvSpPr/>
          <p:nvPr/>
        </p:nvSpPr>
        <p:spPr>
          <a:xfrm>
            <a:off x="7269480" y="146304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üç kullanım deseni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4848" y="1783080"/>
            <a:ext cx="473659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1) öneriyi dosyaya kaydet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--save-manifest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Suggested manifest written to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output/20260709_102010_app.targets.json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2) belirli bir yola yaz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--manifest-output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3) öner + hemen çalıştır (tek komut)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output/auto.xml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suggest-targets: LLM'e Doğru Soruyu Sormak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betik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6656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.py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633472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43784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AST envanteri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71800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functions · loops · threads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28616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8928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Prompt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66944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 + --hint + --error-context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223760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34072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7FAF6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62088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562088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/ OpenCode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518904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29216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857232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57232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önerisi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66928" y="278892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sonra: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union merge → stdout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varsayılanda betik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çalıştırılmaz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</a:t>
            </a: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--execute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ile öneri + trace tek komutta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310128"/>
            <a:ext cx="11091672" cy="2606040"/>
          </a:xfrm>
          <a:prstGeom prst="roundRect">
            <a:avLst>
              <a:gd name="adj" fmla="val 3158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447288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6" name="Shape 24"/>
          <p:cNvSpPr/>
          <p:nvPr/>
        </p:nvSpPr>
        <p:spPr>
          <a:xfrm>
            <a:off x="850392" y="3447288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7" name="Shape 25"/>
          <p:cNvSpPr/>
          <p:nvPr/>
        </p:nvSpPr>
        <p:spPr>
          <a:xfrm>
            <a:off x="987552" y="3447288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8" name="Text 26"/>
          <p:cNvSpPr/>
          <p:nvPr/>
        </p:nvSpPr>
        <p:spPr>
          <a:xfrm>
            <a:off x="1234440" y="3383280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modu — yalnızca manifest üretir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" y="3712464"/>
            <a:ext cx="10689336" cy="2093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"functions": ["cli_sample_app.worker", "cli_sample_app.process", "cli_sample_app.multiply"],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"files": [], "lines": [], "thread_names":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0533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Altı Katman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5448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621792" y="15544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4721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modu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İstek Ollama'nın format=json kipiyle gider; yalnızca 4 anahtarlı bir nesne istenir (temperature 0.0).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7744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0" name="Text 8"/>
          <p:cNvSpPr/>
          <p:nvPr/>
        </p:nvSpPr>
        <p:spPr>
          <a:xfrm>
            <a:off x="621792" y="237744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229514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zinciri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json.loads → ast.literal_eval → ``` json kod bloğu → metindeki ilk {...} → regex ile anahtar-liste çıkarımı.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20040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4" name="Text 12"/>
          <p:cNvSpPr/>
          <p:nvPr/>
        </p:nvSpPr>
        <p:spPr>
          <a:xfrm>
            <a:off x="621792" y="320040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311810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Anahtar normalizasyonu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function, target_functions gibi takma adlar functions'a çevrilir.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402336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621792" y="402336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25880" y="394106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Envantere hizalama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Envanterde olmayan fonksiyonlar elenir; kısa adlar sonek eşleşmesiyle nitelikli adlara çözülür.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484632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621792" y="484632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476402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Retry prompt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 hâlâ boşsa kompakt AVAILABLE_FUNCTIONS aday listesiyle bir kez daha sorulur.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5669280"/>
            <a:ext cx="438912" cy="438912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6" name="Text 24"/>
          <p:cNvSpPr/>
          <p:nvPr/>
        </p:nvSpPr>
        <p:spPr>
          <a:xfrm>
            <a:off x="621792" y="56692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22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55869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Sezgisel fallback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kelimeleriyle skorlanan fonksiyonlar (en çok 3) → thread hedefleri → betik-yerel → alfabetik ilk.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55280" y="1417320"/>
            <a:ext cx="3685032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effectLst>
            <a:outerShdw blurRad="-2147483648" dist="-2147483648" dir="5" algn="bl" rotWithShape="0">
              <a:srgbClr val="0B1220">
                <a:alpha val="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83880" y="182880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"Hiçbir zaman boş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manifest dönmez."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183880" y="315468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Sağlamlık zinciri, qwen2.5:3b gibi 3 milyar parametrelik yerel modellerle bile üretimde çalışacak şekilde tasarlandı.</a:t>
            </a:r>
            <a:endParaRPr lang="en-US" sz="11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955280" y="4754880"/>
            <a:ext cx="3685032" cy="1600200"/>
          </a:xfrm>
          <a:prstGeom prst="roundRect">
            <a:avLst>
              <a:gd name="adj" fmla="val 4571"/>
            </a:avLst>
          </a:prstGeom>
          <a:solidFill>
            <a:srgbClr val="F3F6FA"/>
          </a:solidFill>
        </p:spPr>
      </p:sp>
      <p:sp>
        <p:nvSpPr>
          <p:cNvPr id="32" name="Text 30"/>
          <p:cNvSpPr/>
          <p:nvPr/>
        </p:nvSpPr>
        <p:spPr>
          <a:xfrm>
            <a:off x="8156448" y="490118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OpenCode da aynı yardımcıları kullanır</a:t>
            </a:r>
            <a:endParaRPr lang="en-US" sz="11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56448" y="5230368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/ hizalama / fallback mantığı ajan istemcileri arasında paylaşılır — yeni ajan eklemek BaseAIAgent'ı türetmek kadar kolay.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Ajan Yönetimi: check-agent ve install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06440" cy="3520440"/>
          </a:xfrm>
          <a:prstGeom prst="roundRect">
            <a:avLst>
              <a:gd name="adj" fmla="val 233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983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status 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404104" cy="30083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check-agent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ollama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qwen2.5:3b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"ok": true,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"base_url": "http://localhost:11434",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"model": "qwen2.5:3b",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"model_available": true,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"available_models": ["qwen2.5:3b",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"qwen2.5-coder:7b", ...]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50749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519379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exit 0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029968" y="5230368"/>
            <a:ext cx="146304" cy="146304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3" name="Text 11"/>
          <p:cNvSpPr/>
          <p:nvPr/>
        </p:nvSpPr>
        <p:spPr>
          <a:xfrm>
            <a:off x="694944" y="5504688"/>
            <a:ext cx="157276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sağlıklı + model mevcut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32888" y="50749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519379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exit 1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14216" y="5230368"/>
            <a:ext cx="146304" cy="146304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7" name="Text 15"/>
          <p:cNvSpPr/>
          <p:nvPr/>
        </p:nvSpPr>
        <p:spPr>
          <a:xfrm>
            <a:off x="2679192" y="5504688"/>
            <a:ext cx="157276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ajana ulaşılamıyor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17136" y="50749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519379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exit 2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98464" y="5230368"/>
            <a:ext cx="146304" cy="146304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1" name="Text 19"/>
          <p:cNvSpPr/>
          <p:nvPr/>
        </p:nvSpPr>
        <p:spPr>
          <a:xfrm>
            <a:off x="4663440" y="5504688"/>
            <a:ext cx="157276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model indirilmemiş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629400" y="1371600"/>
            <a:ext cx="5010912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0" y="153619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 install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interaktif kurulum merkezi</a:t>
            </a:r>
            <a:endParaRPr lang="en-US" sz="14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0" y="1956816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1 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kurulum rehberi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2 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OpenCode kurulumu (npm i -g opencode-ai) + test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3 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Model indirme (qwen2.5:3b · qwen2.5-coder:7b)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4 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Durumu yenile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5 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iki ajan için sağlık kontrolü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29400" y="4434840"/>
            <a:ext cx="5010912" cy="1691640"/>
          </a:xfrm>
          <a:prstGeom prst="roundRect">
            <a:avLst>
              <a:gd name="adj" fmla="val 4324"/>
            </a:avLst>
          </a:prstGeom>
          <a:solidFill>
            <a:srgbClr val="F3F6FA"/>
          </a:solidFill>
        </p:spPr>
      </p:sp>
      <p:sp>
        <p:nvSpPr>
          <p:cNvPr id="27" name="Text 25"/>
          <p:cNvSpPr/>
          <p:nvPr/>
        </p:nvSpPr>
        <p:spPr>
          <a:xfrm>
            <a:off x="6839712" y="4590288"/>
            <a:ext cx="4617720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Ollama    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HTTP API (localhost:11434) · model listesi var · varsayılan ajan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400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OpenCode  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subprocess · model listesi yok → komut çalışıyorsa hazır sayılır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44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Kaydet, sonra istediğin kadar incele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 · TraceLoader · TraceDocument · TraceDisplayer · FastAPI · SSE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498080" y="384048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5 — load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Post-mortem: kaydedilmiş trace'i terminalde incele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trace_file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 (pozisyonel)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Yüklenecek trace XML dosyası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--summary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Sadece istatistik tablosu; yürütme ağacını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--filter-function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fonksiyon adıyla eşleşen scope'lar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--filter-thread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thread ID'si veya adı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Görüntülemeden önce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Önce XSD doğrulaması yapılır; geçmezse dosya gösterilmez (--no-validate ile zorla)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TraceLoader XML'i parse eder, TraceDisplayer renkli yürütme ağacı + istatistik tablosu çizer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Kullanım senaryosu: trace'i bir kez üret, defalarca farklı filtrelerle incele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görüntüleme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sadece istatistik özeti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fonksiyona odaklan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thread'e odaklan, doğrulamayı atla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--no-validate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POST-MORTEM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load: Kaydedilmiş Trace'i Yeniden Yaşamak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3619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TraceLoader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XML'i Python veri yapılarına ayrıştırır; hem v2.x hiyerarşisini hem v1 düz formatını okur.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0" y="249631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8346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TraceDocument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145536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metadata, düğüm ağacı (thread/scope/loop/event), istatistik kısayolları ve v2.2 hedef listesi.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926080" y="37947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14216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133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TraceDisplayer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4443984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rich ile başlık paneli + istatistik tablosu + yürütme ağacı; rich yoksa düz metne düşer.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6928" y="5440680"/>
            <a:ext cx="50749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Görüntülemeden önce otomatik XSD doğrulaması yapılır; dosya yoksa FileNotFoundError, XML bozuksa ValueError — hatalar kullanıcı dostu mesajlara çevrilir.</a:t>
            </a:r>
            <a:endParaRPr lang="en-US" sz="105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43600" y="1371600"/>
            <a:ext cx="5696712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081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2453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3825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629400" y="1444752"/>
            <a:ext cx="48737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post-mortem oturumu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44768" y="1773936"/>
            <a:ext cx="52943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output/20260412_..._app.xml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 · şema v2.2 · 26 olay · 0.0056 sn · 1 thread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 Thread 25616 (CLI-Worker)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└─ worker(data=[1, 2, 3])            0.7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└─ process(values=[1, 2, 3])      0.5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├─ loop for value in values:  ×3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value: 1 → 3  (3 değişim)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multiply(value=1) → 2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multiply(value=2) → 4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└─ multiply(value=3) → 6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└─ return [2, 4, 6]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6 — gui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Web arayüzü: FastAPI + React/Vite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502920" y="1417320"/>
          <a:ext cx="5577840" cy="109728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--host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127.0.0.1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Sunucunun bağlanacağı adres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--port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8765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Port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--no-browser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Tarayıcıyı otomatik açma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063240"/>
            <a:ext cx="5577840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Özellikler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İşler bellek içi kuyrukta yönetilir; canlı log akışı SSE (Server-Sent Events) ile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Ayarlar ~/.focustracer/settings.json dosyasında kalıcı tutulur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Frontend önceden build edilip dist/ altından statik servis edilir (npm run build)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Docker desteği: docker build -t focustracer . &amp;&amp; docker run -p 8765:8765 focustracer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Starting server at http://127.0.0.1:8765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Press Ctrl+C to stop.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ağdan erişilebilir, tarayıcısız (sunucu modu)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--host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0.0.0.0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--port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9000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--no-browser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Docker ile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build -t focustracer 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run -p 8765:8765 focustracer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WEB GUI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FastAPI + React: Tarayıcıdan Uçtan Uca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2704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süreç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uvicorn, önceden derlenmiş React SPA'yı (dist/) statik servis eder. focustracer gui → http://127.0.0.1:8765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660904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7706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Canlı log akışı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72384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işleri bellek içi kuyrukta, arka plan thread'lerinde koşar; log satırları SSE ile tarayıcıya akar.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01421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İş yaşam döngüsü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315968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pending → running → done | error. Sonuç: trace_path, manifest_path (+ suggest'te manifest).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148072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52578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Kalıcı ayarlar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5559552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~/.focustracer/settings.json — ajan, model, ollama_url, opencode_cmd, son 10 proje.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572768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REST API — öne çıkan uç noktalar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46520" y="199339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/api/trace/run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iş başlat → {job_id}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46520" y="252374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/api/trace/suggest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önerisi + (varsayılan) çalıştırma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46520" y="305409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/api/trace/stream/{id}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SSE canlı log; sonda {kind:'done'}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46520" y="3584448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/api/outputs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 + targets.json listesi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46520" y="4114800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/api/inventory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(fonksiyon/döngü/thread)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46520" y="464515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/api/agents/status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&amp; OpenCode sağlık durumu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46520" y="517550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/api/system/info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CPU / RAM / GPU + Python bilgisi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46520" y="570585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/api/ollama/metrics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token/s + kaba enerji tahmini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6424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Not: GUI çıktıları paket içi src/output/ dizinine yazar; CLI'nin output/ dizininden ayrıdır. Kuyruk bellek içidir — dosyalar diskte kalır.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24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5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44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Gerçek komutlar, gerçek çıktılar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uçtan uca run + load · AI destekli trace · closure bug avı · thread &amp; exception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6" name="Text 14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98080" y="470916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81990" y="4846320"/>
            <a:ext cx="5993130" cy="1216025"/>
          </a:xfrm>
          <a:prstGeom prst="round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Shape 4"/>
          <p:cNvSpPr/>
          <p:nvPr/>
        </p:nvSpPr>
        <p:spPr>
          <a:xfrm>
            <a:off x="969264" y="506425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5" name="Shape 5"/>
          <p:cNvSpPr/>
          <p:nvPr/>
        </p:nvSpPr>
        <p:spPr>
          <a:xfrm>
            <a:off x="1124712" y="506425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6" name="Shape 6"/>
          <p:cNvSpPr/>
          <p:nvPr/>
        </p:nvSpPr>
        <p:spPr>
          <a:xfrm>
            <a:off x="1280160" y="506425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7" name="Text 7"/>
          <p:cNvSpPr/>
          <p:nvPr/>
        </p:nvSpPr>
        <p:spPr>
          <a:xfrm>
            <a:off x="1508760" y="49911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quick-start</a:t>
            </a:r>
            <a:endParaRPr lang="en-US" sz="950" dirty="0"/>
          </a:p>
        </p:txBody>
      </p:sp>
      <p:sp>
        <p:nvSpPr>
          <p:cNvPr id="28" name="Text 8"/>
          <p:cNvSpPr/>
          <p:nvPr/>
        </p:nvSpPr>
        <p:spPr>
          <a:xfrm>
            <a:off x="1024255" y="5311140"/>
            <a:ext cx="5480050" cy="5930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kurulum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alt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 install git+https://github.com/Pilestin/FocusTracer </a:t>
            </a:r>
            <a:endParaRPr lang="en-US" altLang="en-US" sz="1200" b="1" dirty="0">
              <a:solidFill>
                <a:srgbClr val="4ADE80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1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Uçtan Uca: run → çalıştır, kaydet, doğrula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526280"/>
          </a:xfrm>
          <a:prstGeom prst="roundRect">
            <a:avLst>
              <a:gd name="adj" fmla="val 181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17550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*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append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],),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();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join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1371600"/>
            <a:ext cx="5285232" cy="4526280"/>
          </a:xfrm>
          <a:prstGeom prst="roundRect">
            <a:avLst>
              <a:gd name="adj" fmla="val 181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6568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939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7040880" y="1444752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tek komut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56248" y="1773936"/>
            <a:ext cx="4882896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cli_sample_app.py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--thread-name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════════ TRACE SUMMARY ════════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Events: 26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Duration: 0.0056 seconds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Event Types: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call: 5 · line: 16 · return: 5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═══════════════════════════════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XML validation: ok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Trace written to output/....xml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Target manifest written to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output/....targets.json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Tek komutla: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betik </a:t>
            </a:r>
            <a:r>
              <a:rPr lang="en-US" sz="110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çalıştı, worker kapsamındaki her şey kaydedildi, manifest yazıldı, XML şemaya karşı doğrulandı. Trace'te worker → process → multiply hiyerarşisi &lt;scope&gt; düğümleriyle durur.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2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Destekli: Hatayı Tarif Et, Hedefi LLM Seçsin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3291840"/>
          </a:xfrm>
          <a:prstGeom prst="roundRect">
            <a:avLst>
              <a:gd name="adj" fmla="val 2500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+ trace tek komutta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10689336" cy="27797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output/auto_from_suggest.xml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Önerilen manifest:  { "functions": ["cli_sample_app.worker", "cli_sample_app.process",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            "cli_sample_app.multiply"], "files": [], ... }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XML validation: ok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Trace written to output/auto_from_suggest.xml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Doğal dil → hedef listesi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49808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ve --error-context, kod envanteriyle birlikte prompt'a girer; model envanter dışına çıkamaz.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325112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26280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Union ile güvence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26280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Modele güvenmiyorsanız manuel --function ekleyin — öneriler manuel hedeflerle kayıpsız birleşir.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101584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02752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komutluk alternatif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02752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 run --auto-targets --hint "..." aynı akışın run içine gömülü hâlidir.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3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 Avı: Closure Late-Binding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tests/bug_examples/bug_list_comprehension.py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2002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bug_list_comprehension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[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lambda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*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x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beklenen: 20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beklenen: 40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5486400" cy="1463040"/>
          </a:xfrm>
          <a:prstGeom prst="roundRect">
            <a:avLst>
              <a:gd name="adj" fmla="val 5625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420624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850392" y="420624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987552" y="420624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1234440" y="414223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gerçek çıktı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4471416"/>
            <a:ext cx="5084064" cy="950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python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bug_list_comprehension.py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40        # 20 bekliyorduk!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5376672" cy="2514600"/>
          </a:xfrm>
          <a:prstGeom prst="roundRect">
            <a:avLst>
              <a:gd name="adj" fmla="val 327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trace'in kanıtı — loop özeti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64808" y="1773936"/>
            <a:ext cx="4974336" cy="2002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"5"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i in range(5)]"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"4"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"5"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63640" y="4069080"/>
            <a:ext cx="5376672" cy="2286000"/>
          </a:xfrm>
          <a:prstGeom prst="roundRect">
            <a:avLst>
              <a:gd name="adj" fmla="val 3200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2062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Trace'in söylediği</a:t>
            </a:r>
            <a:endParaRPr lang="en-US" sz="13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92240" y="452628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Lambda'lar i'nin o anki değerini değil, değişkenin kendisini yakalıyor. Döngü bittiğinde i = 4 — beş lambda'nın beşi de aynı i'yi görüyor.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92240" y="562356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Düzeltme:  </a:t>
            </a: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lambda x, i=i: i * x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# erken bağlama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598932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 ile saatler sürebilecek bir teşhis, döngü özetindeki tek satırdan okunuyor.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4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Thread'li İzleme ve İstisna Anatomisi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539496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Thread başına ayrı durum tutulduğundan motor thread-safe'tir; enable_threading ile her thread'in olayları kendi &lt;thread&gt; düğümü altında toplanır. Post-mortem'de --filter-thread ile tek thread'e odaklanılır.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2651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5"/>
          <p:cNvSpPr/>
          <p:nvPr/>
        </p:nvSpPr>
        <p:spPr>
          <a:xfrm>
            <a:off x="850392" y="2651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6"/>
          <p:cNvSpPr/>
          <p:nvPr/>
        </p:nvSpPr>
        <p:spPr>
          <a:xfrm>
            <a:off x="987552" y="2651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7"/>
          <p:cNvSpPr/>
          <p:nvPr/>
        </p:nvSpPr>
        <p:spPr>
          <a:xfrm>
            <a:off x="1234440" y="258775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 worker thread'li test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916936"/>
            <a:ext cx="4992624" cy="15910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threading_test.py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worker_task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Worker-2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3F6FA"/>
          </a:solidFill>
        </p:spPr>
      </p:sp>
      <p:sp>
        <p:nvSpPr>
          <p:cNvPr id="12" name="Text 10"/>
          <p:cNvSpPr/>
          <p:nvPr/>
        </p:nvSpPr>
        <p:spPr>
          <a:xfrm>
            <a:off x="777240" y="499262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Race condition avında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240" y="530352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Thread'lerin satır satır zaman damgalı delta kayıtları yan yana konulduğunda, paylaşılan duruma kimin ne zaman dokunduğu görünür hâle gelir.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468112" cy="3977640"/>
          </a:xfrm>
          <a:prstGeom prst="roundRect">
            <a:avLst>
              <a:gd name="adj" fmla="val 2069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6" name="Shape 14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7" name="Shape 15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8" name="Text 16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v2.2 — istisna, bağlamıyla birlikte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73368" y="1773936"/>
            <a:ext cx="5065776" cy="34655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"divide"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"app.py"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"b"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&lt;exception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&lt;type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ZeroDivisionError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&lt;/type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division by zero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&lt;traceback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Traceback (most recent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call last): File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"app.py"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line 7,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in divide ...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&lt;/traceback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&lt;/exception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90488" y="5532120"/>
            <a:ext cx="54406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anındaki argümanlar ve yerel değişkenler, tam traceback ile aynı düğümde — hatanın fotoğrafı çekilmiş oluyor.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Bilinen Sınırlamalar ve Yol Haritası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Bugünkü sınırlar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8680" y="2130552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7" name="Text 5"/>
          <p:cNvSpPr/>
          <p:nvPr/>
        </p:nvSpPr>
        <p:spPr>
          <a:xfrm>
            <a:off x="1143000" y="2057400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kısıtı: etkinleştirme yalnızca fonksiyon hedefleriyle; dosya/satır tek başına etkinleştiremez, filtre olarak çalışır.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9" name="Text 7"/>
          <p:cNvSpPr/>
          <p:nvPr/>
        </p:nvSpPr>
        <p:spPr>
          <a:xfrm>
            <a:off x="1143000" y="2898648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yalnızca hedef betiği tarar — çok dosyalı projelerde diğer modüller AI önerisine girmez (manuel --function ile eklenir).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68680" y="3813048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1" name="Text 9"/>
          <p:cNvSpPr/>
          <p:nvPr/>
        </p:nvSpPr>
        <p:spPr>
          <a:xfrm>
            <a:off x="1143000" y="3739896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Değerler repr() ile 240 karakterde kırpılır; dev nesnelerin tam içeriği saklanmaz.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8680" y="4654296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3" name="Text 11"/>
          <p:cNvSpPr/>
          <p:nvPr/>
        </p:nvSpPr>
        <p:spPr>
          <a:xfrm>
            <a:off x="1143000" y="4581144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JSON/JSONL düz olay akışıdır; scope/loop hiyerarşisi yalnızca XML'de.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68680" y="5495544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1143000" y="5422392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iş kuyruğu bellek içidir: sunucu yeniden başlarsa iş geçmişi gider, üretilen dosyalar diskte kalır.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892040"/>
          </a:xfrm>
          <a:prstGeom prst="roundRect">
            <a:avLst>
              <a:gd name="adj" fmla="val 1495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7395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Sırada ne var?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73952" y="20848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12280" y="210312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2: dosya/satır tabanlı etkinleştirme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240487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hedefi olmadan da kayıt başlatabilme.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73952" y="31363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15468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dosyalı envanter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2280" y="345643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Proje genelinde AST taraması; LLM önerisinin ufku genişler.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73952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12280" y="420624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analyze_trace ile LLM yorumu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12280" y="450799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Arayüzde hazır: kayıtlı trace + kaynak dosya → olası kök neden açıklaması.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73952" y="5239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12280" y="525780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karşılaştırma (diff)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12280" y="555955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Çalışan ve bozuk koşunun trace'lerini yan yana koyup sapmayı bulma.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051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ÖZETLE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59436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Kaydet. İncele. Anla.</a:t>
            </a:r>
            <a:endParaRPr lang="en-US" sz="40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41248" y="2514600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5" name="Text 3"/>
          <p:cNvSpPr/>
          <p:nvPr/>
        </p:nvSpPr>
        <p:spPr>
          <a:xfrm>
            <a:off x="749808" y="2514600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44752" y="2478024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+ kapsam kapılama: kapsam dışında sıfır yük, kapsam içinde her şey kayıtta.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1248" y="3410712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8" name="Text 6"/>
          <p:cNvSpPr/>
          <p:nvPr/>
        </p:nvSpPr>
        <p:spPr>
          <a:xfrm>
            <a:off x="749808" y="3410712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44752" y="3374136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TargetManifest: manuel hedefler ile AI önerileri union'da buluşur — kontrol hep sizde.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248" y="4306824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49808" y="4306824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4270248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XML + XSD: çıktı bir log değil, doğrulanabilir bir veri sözleşmesi.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41248" y="5202936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49808" y="5202936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44752" y="5166360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bir yardımcıdır: önerir ama asla tek başına karar vermez — fallback'ler hep devrede.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1248" y="60350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Teşekkürler — Sorular?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37960" y="1371600"/>
            <a:ext cx="5029200" cy="3566160"/>
          </a:xfrm>
          <a:prstGeom prst="roundRect">
            <a:avLst>
              <a:gd name="adj" fmla="val 230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9" name="Shape 17"/>
          <p:cNvSpPr/>
          <p:nvPr/>
        </p:nvSpPr>
        <p:spPr>
          <a:xfrm>
            <a:off x="683971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0" name="Shape 18"/>
          <p:cNvSpPr/>
          <p:nvPr/>
        </p:nvSpPr>
        <p:spPr>
          <a:xfrm>
            <a:off x="697687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1" name="Text 19"/>
          <p:cNvSpPr/>
          <p:nvPr/>
        </p:nvSpPr>
        <p:spPr>
          <a:xfrm>
            <a:off x="7223760" y="144475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60 saniyede başla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1773936"/>
            <a:ext cx="4626864" cy="3054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git+https://github.com/BitnetTR/focustracer.git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--auto-targets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"describe the bug"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output/app_trace.xml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521208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13203A"/>
          </a:solidFill>
        </p:spPr>
      </p:sp>
      <p:sp>
        <p:nvSpPr>
          <p:cNvPr id="24" name="Text 22"/>
          <p:cNvSpPr/>
          <p:nvPr/>
        </p:nvSpPr>
        <p:spPr>
          <a:xfrm>
            <a:off x="6784848" y="5376672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github.com/BitnetTR/focustracer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AI4Sweng  ·  MIT Lisansı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31518</Words>
  <Application>WPS Presentation</Application>
  <PresentationFormat>On-screen Show (16:9)</PresentationFormat>
  <Paragraphs>1681</Paragraphs>
  <Slides>37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3" baseType="lpstr">
      <vt:lpstr>Arial</vt:lpstr>
      <vt:lpstr>SimSun</vt:lpstr>
      <vt:lpstr>Wingdings</vt:lpstr>
      <vt:lpstr>Arial</vt:lpstr>
      <vt:lpstr>Arial</vt:lpstr>
      <vt:lpstr>Courier New</vt:lpstr>
      <vt:lpstr>Courier New</vt:lpstr>
      <vt:lpstr>Courier New</vt:lpstr>
      <vt:lpstr>Calibri</vt:lpstr>
      <vt:lpstr>Microsoft YaHei</vt:lpstr>
      <vt:lpstr>Arial Unicode MS</vt:lpstr>
      <vt:lpstr>Palatino Linotype</vt:lpstr>
      <vt:lpstr>Consolas</vt:lpstr>
      <vt:lpstr>Calibri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FocusTracer — LLM Destekli Dinamik Dilimleme ve XML Trace Hattı</dc:title>
  <dc:creator>Yasin Ünal</dc:creator>
  <dc:subject>PptxGenJS Presentation</dc:subject>
  <cp:lastModifiedBy>Yasin Ünal</cp:lastModifiedBy>
  <cp:revision>28</cp:revision>
  <dcterms:created xsi:type="dcterms:W3CDTF">2026-07-08T22:25:00Z</dcterms:created>
  <dcterms:modified xsi:type="dcterms:W3CDTF">2026-07-09T22:34:13Z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A38E86C0ECDF435BAAB24D95F775080A_12</vt:lpwstr>
  </property>
</Properties>
</file>